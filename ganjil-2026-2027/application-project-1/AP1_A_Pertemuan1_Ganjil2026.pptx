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kalimat kunci mata kuliah. Ulangi di akhir pertemuan.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Perhatikan: 70% nilai datang dari kerja sepanjang semester, hanya 30% dari UTS+UAS.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kenapa tidak ada pos Quiz: mata kuliah ini tidak punya kuis selain UTS, jadi 10% pos Quiz di RPS dilebur ke Tugas individu. Dijelaskan di Kontrak Kuliah bagian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Diamkan sejenak. Ini uji mandiri yang dipakai sepanjang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Hook. Pancing 2–3 contoh dari mahasiswa: tombol yang salah tekan, form yang bikin frustrasi.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Peragakan squint test langsung di layar dengan satu situs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 diskusi 10 menit. Minta 2 kelompok melaporkan temuan.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Berkeliling per kelompok. Fokus pertanyaan: siapa penggunanya, apa aksi utamanya.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course/view.php?id=7278" TargetMode="External"/><Relationship Id="rId3" Type="http://schemas.openxmlformats.org/officeDocument/2006/relationships/hyperlink" Target="https://ebelajar.stiki.ac.id/mod/page/view.php?id=496744" TargetMode="External"/><Relationship Id="rId4" Type="http://schemas.openxmlformats.org/officeDocument/2006/relationships/hyperlink" Target="https://ebelajar.stiki.ac.id/mod/url/view.php?id=496745" TargetMode="External"/><Relationship Id="rId5" Type="http://schemas.openxmlformats.org/officeDocument/2006/relationships/hyperlink" Target="https://ebelajar.stiki.ac.id/mod/page/view.php?id=491622" TargetMode="External"/><Relationship Id="rId6" Type="http://schemas.openxmlformats.org/officeDocument/2006/relationships/hyperlink" Target="https://ebelajar.stiki.ac.id/mod/forum/view.php?id=491623" TargetMode="External"/><Relationship Id="rId7" Type="http://schemas.openxmlformats.org/officeDocument/2006/relationships/hyperlink" Target="https://ebelajar.stiki.ac.id/mod/assign/view.php?id=491624" TargetMode="External"/><Relationship Id="rId8" Type="http://schemas.openxmlformats.org/officeDocument/2006/relationships/hyperlink" Target="https://ebelajar.stiki.ac.id/mod/choice/view.php?id=491619" TargetMode="External"/><Relationship Id="rId9" Type="http://schemas.openxmlformats.org/officeDocument/2006/relationships/hyperlink" Target="https://ebelajar.stiki.ac.id/mod/forum/view.php?id=491616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1 · APPLICATION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Dari Ide ke Antarmuka</a:t>
            </a:r>
            <a:br/>
            <a:r>
              <a:t>yang Bisa Dipakai Orang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Prinsip desain UI: hierarki visual, konsistensi, keterbacaan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IF24KB33  ·  Kelas A (Reguler) · Kamis 13.50–15.30 · Ruang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Kontrak Kuliah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Aturan main disepakati di depan, bukan diperdebatkan di akhir semester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Identitas mata kuliah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1065276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7989570"/>
              </a:tblGrid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Mata Kuliah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Application Project I (IF24KB33) · 2 SKS · Semester 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Program Studi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Informatika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Jadwal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Kamis 13.50–15.30, Ruang A.2.1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Periode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7 September 2026 – 28 Februari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Dosen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Mukhlis Amien, M.Kom.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CPL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CPL09 (UI &amp; aplikasi interaktif) · CPL10 (kinerja mandiri)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CPMK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CPMK092 · CPMK121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Yang dinilai bukan</a:t>
            </a:r>
            <a:br/>
            <a:r>
              <a:t>seberapa ramai tampilannya.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Melainkan seberapa masuk akal keputusan desain Anda — dan seberapa jujur Anda mengujinya.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Lima fase satu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Setiap fase berakhir dengan sesuatu yang bisa ditunjukkan, bukan sekadar dipahami.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1775460"/>
                <a:gridCol w="6214110"/>
              </a:tblGrid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Pertemuan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Fokus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 — Merancang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1–3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Prinsip UI, ergonomi, estetika, wireframe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2 — Membangun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4–5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terkini, SPA &amp; PWA, komponen antarmuka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3 — Menguji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6–7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Iterasi desain, A/B testing, usability testing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4 — Mengelola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9–13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MVP, perencanaan proyek, alat bantu, keputusan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5 — Mengevaluasi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14–16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mandiri, progress project, proyek akhir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Peta 16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5A6372"/>
                </a:solidFill>
              </a:defRPr>
            </a:pPr>
            <a:r>
              <a:t>Tugas 1–8 bukan latihan terpisah — tiap tugas adalah satu potong nyata dari proyek Anda.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52120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"/>
                <a:gridCol w="3127248"/>
                <a:gridCol w="1563624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Topik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Tugas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Prinsip desain UI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Ergonomi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Estetika UI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1: React/Vue/Angular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2: SPA &amp; PWA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Iterasi &amp; umpan balik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Iterasi 2: A/B &amp; usability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83080"/>
          <a:ext cx="52120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"/>
                <a:gridCol w="3127248"/>
                <a:gridCol w="1563624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Topik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Tugas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Minimum Viable Product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Manajemen proyek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Manajemen proyek 2: Trello/Jira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Identifikasi masalah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Pengambilan keputusan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 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Progress Project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UAS — Proyek Akhir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Komponen dan bobot penilaian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Pendekatan Outcome-Based Education (OBE), sesuai RPS mata kuliah.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8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166"/>
                <a:gridCol w="6127693"/>
                <a:gridCol w="1696899"/>
              </a:tblGrid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Bentuk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Partisipatif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Keaktifan forum + exit-ticket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Observasi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Kerja studio: Tugas 1–4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Unjuk Kerja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Tugas 5 + Progress Project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Tugas individu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Tugas 6–8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Ujian Tengah Semester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Proyek Akhir: prototipe + laporan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Bobot per aktivitas — ini yang dipakai saat menilai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5A6372"/>
                </a:solidFill>
              </a:defRPr>
            </a:pPr>
            <a:r>
              <a:t>Jumlahnya persis 100%. Tidak ada aktivitas tanpa bobot, dan tidak ada bobot tanpa aktivitas.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52120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840"/>
                <a:gridCol w="11582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Aktivitas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Partisipasi (forum tiap pertemuan)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1 — Wireframe halaman utama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2 — Brainstorming proyek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3 — Proposal / komponen antarmuka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4 — Siklus iterasi desain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5 — Prototipe fungsional MVP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83080"/>
          <a:ext cx="52120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840"/>
                <a:gridCol w="11582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Aktivitas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6 — Simulasi pengelolaan proyek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7 — Studi kasus keputusan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8 — Laporan evaluasi mandiri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Progress Project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UAS — Proyek Akhir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Aturan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Kehadiran minimal 75%</a:t>
            </a:r>
            <a:r>
              <a:rPr sz="1900">
                <a:solidFill>
                  <a:srgbClr val="1A1F2B"/>
                </a:solidFill>
              </a:rPr>
              <a:t> dari pertemuan terlaksana untuk berhak ikut UAS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Toleransi terlambat </a:t>
            </a:r>
            <a:r>
              <a:rPr sz="1900" b="1">
                <a:solidFill>
                  <a:srgbClr val="102545"/>
                </a:solidFill>
              </a:rPr>
              <a:t>15 menit</a:t>
            </a:r>
            <a:r>
              <a:rPr sz="1900">
                <a:solidFill>
                  <a:srgbClr val="1A1F2B"/>
                </a:solidFill>
              </a:rPr>
              <a:t>; </a:t>
            </a:r>
            <a:r>
              <a:rPr sz="1900" b="1">
                <a:solidFill>
                  <a:srgbClr val="102545"/>
                </a:solidFill>
              </a:rPr>
              <a:t>3× terlambat = 1× tidak hadir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Laptop wajib</a:t>
            </a:r>
            <a:r>
              <a:rPr sz="1900">
                <a:solidFill>
                  <a:srgbClr val="1A1F2B"/>
                </a:solidFill>
              </a:rPr>
              <a:t> mulai Pertemuan 2 — 55 menit tiap pertemuan dipakai bekerja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Siapkan akun </a:t>
            </a:r>
            <a:r>
              <a:rPr sz="1900" b="1">
                <a:solidFill>
                  <a:srgbClr val="102545"/>
                </a:solidFill>
              </a:rPr>
              <a:t>Figma</a:t>
            </a:r>
            <a:r>
              <a:rPr sz="1900">
                <a:solidFill>
                  <a:srgbClr val="1A1F2B"/>
                </a:solidFill>
              </a:rPr>
              <a:t> (atau Adobe XD) dan lingkungan front-end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Semua tugas lewat </a:t>
            </a:r>
            <a:r>
              <a:rPr sz="1900" b="1">
                <a:solidFill>
                  <a:srgbClr val="102545"/>
                </a:solidFill>
              </a:rPr>
              <a:t>eBelajar</a:t>
            </a:r>
            <a:r>
              <a:rPr sz="1900">
                <a:solidFill>
                  <a:srgbClr val="1A1F2B"/>
                </a:solidFill>
              </a:rPr>
              <a:t> — bukan WhatsApp, bukan email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Nama berkas: </a:t>
            </a:r>
            <a:r>
              <a:rPr sz="1900" b="1">
                <a:solidFill>
                  <a:srgbClr val="102545"/>
                </a:solidFill>
              </a:rPr>
              <a:t>AP1_P&lt;pertemuan&gt;_NIM_Nama_&lt;Topik&gt;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Tenggat: Minggu 23.55</a:t>
            </a:r>
            <a:r>
              <a:rPr sz="1900">
                <a:solidFill>
                  <a:srgbClr val="1A1F2B"/>
                </a:solidFill>
              </a:rPr>
              <a:t> pada minggu berikutnya setelah tugas diberikan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Terlambat: </a:t>
            </a:r>
            <a:r>
              <a:rPr sz="1900" b="1">
                <a:solidFill>
                  <a:srgbClr val="102545"/>
                </a:solidFill>
              </a:rPr>
              <a:t>−10% per hari</a:t>
            </a:r>
            <a:r>
              <a:rPr sz="1900">
                <a:solidFill>
                  <a:srgbClr val="1A1F2B"/>
                </a:solidFill>
              </a:rPr>
              <a:t>, maksimal 3 hari. Lewat itu dinilai 0 — </a:t>
            </a:r>
            <a:r>
              <a:rPr sz="1900" b="1">
                <a:solidFill>
                  <a:srgbClr val="102545"/>
                </a:solidFill>
              </a:rPr>
              <a:t>tapi tetap wajib dikumpulkan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Kerja kelompok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Proyek dikerjakan </a:t>
            </a:r>
            <a:r>
              <a:rPr sz="2000" b="1">
                <a:solidFill>
                  <a:srgbClr val="102545"/>
                </a:solidFill>
              </a:rPr>
              <a:t>berkelompok</a:t>
            </a:r>
            <a:r>
              <a:rPr sz="2000">
                <a:solidFill>
                  <a:srgbClr val="1A1F2B"/>
                </a:solidFill>
              </a:rPr>
              <a:t>; kelompok dibentuk </a:t>
            </a:r>
            <a:r>
              <a:rPr sz="2000" b="1">
                <a:solidFill>
                  <a:srgbClr val="102545"/>
                </a:solidFill>
              </a:rPr>
              <a:t>hari ini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Kelompok </a:t>
            </a:r>
            <a:r>
              <a:rPr sz="2000" b="1">
                <a:solidFill>
                  <a:srgbClr val="102545"/>
                </a:solidFill>
              </a:rPr>
              <a:t>tidak berubah</a:t>
            </a:r>
            <a:r>
              <a:rPr sz="2000">
                <a:solidFill>
                  <a:srgbClr val="1A1F2B"/>
                </a:solidFill>
              </a:rPr>
              <a:t> sepanjang semester, kecuali disetujui dosen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Setiap anggota wajib punya </a:t>
            </a:r>
            <a:r>
              <a:rPr sz="2000" b="1">
                <a:solidFill>
                  <a:srgbClr val="102545"/>
                </a:solidFill>
              </a:rPr>
              <a:t>bagian yang bisa ditunjuk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Nilai kelompok bisa diturunkan </a:t>
            </a:r>
            <a:r>
              <a:rPr sz="1700" b="1">
                <a:solidFill>
                  <a:srgbClr val="102545"/>
                </a:solidFill>
              </a:rPr>
              <a:t>per orang</a:t>
            </a:r>
            <a:r>
              <a:rPr sz="1700">
                <a:solidFill>
                  <a:srgbClr val="5A6372"/>
                </a:solidFill>
              </a:rPr>
              <a:t> kalau kontribusinya tidak terlihat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Yang dinilai bukan siapa paling sibuk, melainkan </a:t>
            </a:r>
            <a:r>
              <a:rPr sz="2000" b="1">
                <a:solidFill>
                  <a:srgbClr val="102545"/>
                </a:solidFill>
              </a:rPr>
              <a:t>apakah pekerjaan Anda ada jejaknya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Integritas 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Diskusi dianjurkan, penyalinan dilarang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Dua berkas identik atau nyaris identik: </a:t>
            </a:r>
            <a:r>
              <a:rPr sz="1900" b="1">
                <a:solidFill>
                  <a:srgbClr val="102545"/>
                </a:solidFill>
              </a:rPr>
              <a:t>keduanya dinilai 0</a:t>
            </a:r>
            <a:r>
              <a:rPr sz="1900">
                <a:solidFill>
                  <a:srgbClr val="1A1F2B"/>
                </a:solidFill>
              </a:rPr>
              <a:t> — tanpa mencari siapa menyalin siapa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Setiap klaim di laporan harus bisa Anda pertanggungjawabkan </a:t>
            </a:r>
            <a:r>
              <a:rPr sz="1900" b="1">
                <a:solidFill>
                  <a:srgbClr val="102545"/>
                </a:solidFill>
              </a:rPr>
              <a:t>saat ditanya lisan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Klaim yang tidak bisa dijelaskan pemiliknya dinilai 0, meskipun hasilnya bagus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Aset pihak ketiga (ikon, template, foto, komponen UI) </a:t>
            </a:r>
            <a:r>
              <a:rPr sz="1900" b="1">
                <a:solidFill>
                  <a:srgbClr val="102545"/>
                </a:solidFill>
              </a:rPr>
              <a:t>boleh dipakai</a:t>
            </a:r>
            <a:r>
              <a:rPr sz="1900">
                <a:solidFill>
                  <a:srgbClr val="1A1F2B"/>
                </a:solidFill>
              </a:rPr>
              <a:t> — asal lisensinya mengizinkan dan </a:t>
            </a:r>
            <a:r>
              <a:rPr sz="1900" b="1">
                <a:solidFill>
                  <a:srgbClr val="102545"/>
                </a:solidFill>
              </a:rPr>
              <a:t>sumbernya disebut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KEBIJAKAN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adalah alat untuk Anda mengerti,</a:t>
            </a:r>
            <a:br/>
            <a:r>
              <a:t>bukan pengganti Anda mengerti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Cara memakai AI yang membuat Anda paham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Kelas ini tidak melarang AI. Yang diatur cara memakainya.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AI </a:t>
            </a:r>
            <a:r>
              <a:rPr sz="2000" b="1">
                <a:solidFill>
                  <a:srgbClr val="102545"/>
                </a:solidFill>
              </a:rPr>
              <a:t>menjelaskan</a:t>
            </a:r>
            <a:r>
              <a:rPr sz="2000">
                <a:solidFill>
                  <a:srgbClr val="1A1F2B"/>
                </a:solidFill>
              </a:rPr>
              <a:t> sampai Anda bisa mengulanginya </a:t>
            </a:r>
            <a:r>
              <a:rPr sz="2000" b="1">
                <a:solidFill>
                  <a:srgbClr val="102545"/>
                </a:solidFill>
              </a:rPr>
              <a:t>tanpa membuka AI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AI </a:t>
            </a:r>
            <a:r>
              <a:rPr sz="2000" b="1">
                <a:solidFill>
                  <a:srgbClr val="102545"/>
                </a:solidFill>
              </a:rPr>
              <a:t>menanyai balik</a:t>
            </a:r>
            <a:r>
              <a:rPr sz="2000">
                <a:solidFill>
                  <a:srgbClr val="1A1F2B"/>
                </a:solidFill>
              </a:rPr>
              <a:t> rancangan UI Anda — biarkan ia mencari lubangnya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</a:t>
            </a:r>
            <a:r>
              <a:rPr sz="2000" b="1">
                <a:solidFill>
                  <a:srgbClr val="102545"/>
                </a:solidFill>
              </a:rPr>
              <a:t>dua pendekatan berbeda</a:t>
            </a:r>
            <a:r>
              <a:rPr sz="2000">
                <a:solidFill>
                  <a:srgbClr val="1A1F2B"/>
                </a:solidFill>
              </a:rPr>
              <a:t>, lalu </a:t>
            </a:r>
            <a:r>
              <a:rPr sz="2000" b="1">
                <a:solidFill>
                  <a:srgbClr val="102545"/>
                </a:solidFill>
              </a:rPr>
              <a:t>Anda</a:t>
            </a:r>
            <a:r>
              <a:rPr sz="2000">
                <a:solidFill>
                  <a:srgbClr val="1A1F2B"/>
                </a:solidFill>
              </a:rPr>
              <a:t> yang memutuskan mana dipakai dan mengapa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Pakai untuk </a:t>
            </a:r>
            <a:r>
              <a:rPr sz="2000" b="1">
                <a:solidFill>
                  <a:srgbClr val="102545"/>
                </a:solidFill>
              </a:rPr>
              <a:t>mencari bug</a:t>
            </a:r>
            <a:r>
              <a:rPr sz="2000">
                <a:solidFill>
                  <a:srgbClr val="1A1F2B"/>
                </a:solidFill>
              </a:rPr>
              <a:t>, lalu perbaiki sendiri supaya tahu letak salahnya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Tutup AI-nya</a:t>
            </a:r>
            <a:r>
              <a:rPr sz="2000">
                <a:solidFill>
                  <a:srgbClr val="1A1F2B"/>
                </a:solidFill>
              </a:rPr>
              <a:t>, lalu jelaskan ulang pekerjaan Anda dari nol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Batasnya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1065276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006"/>
                <a:gridCol w="8699754"/>
              </a:tblGrid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BOLEH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Boilerplate kode front-end · debugging error · menjelaskan konsep · merapikan bahasa laporan · membangkitkan varian ide desain untuk Anda seleksi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TIDAK BOLEH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Menyerahkan desain/analisis/kesimpulan yang belum Anda verifikasi · kode yang belum pernah Anda jalankan · mengaku menguji ke pengguna padahal umpan baliknya dikarang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WAJIB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Disclosure di akhir laporan: alat apa, untuk bagian mana. Satu paragraf cukup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Kalau AI-nya dimatikan sekarang,</a:t>
            </a:r>
            <a:br/>
            <a:r>
              <a:t>apakah Anda masih bisa menjelaskan</a:t>
            </a:r>
            <a:br/>
            <a:r>
              <a:t>pekerjaan Anda?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Kalau ya — Anda memakainya dengan benar. Kalau tidak — Anda sedang menyewa pemahaman orang lain.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Prinsip Desain Antarmuka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Hierarki visual · Konsistensi · Keterbacaan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Setiap kali Anda salah pencet,</a:t>
            </a:r>
            <a:br/>
            <a:r>
              <a:t>itu bukan kebodohan 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Itu kegagalan desain. Dan hari ini Anda pindah posisi: dari yang salah pencet, jadi yang bertanggung jawab.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UI dan UX — beda, dan sering tertukar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UI (User Interface)</a:t>
            </a:r>
            <a:r>
              <a:rPr sz="2000">
                <a:solidFill>
                  <a:srgbClr val="1A1F2B"/>
                </a:solidFill>
              </a:rPr>
              <a:t> — apa yang dilihat dan disentuh: tata letak, warna, tipografi, tombol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UX (User Experience)</a:t>
            </a:r>
            <a:r>
              <a:rPr sz="2000">
                <a:solidFill>
                  <a:srgbClr val="1A1F2B"/>
                </a:solidFill>
              </a:rPr>
              <a:t> — apa yang </a:t>
            </a:r>
            <a:r>
              <a:rPr sz="2000" b="1">
                <a:solidFill>
                  <a:srgbClr val="102545"/>
                </a:solidFill>
              </a:rPr>
              <a:t>dirasakan</a:t>
            </a:r>
            <a:r>
              <a:rPr sz="2000">
                <a:solidFill>
                  <a:srgbClr val="1A1F2B"/>
                </a:solidFill>
              </a:rPr>
              <a:t> sepanjang memakai: cepat/lambat, yakin/bingung, selesai/menyerah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UI yang cantik </a:t>
            </a:r>
            <a:r>
              <a:rPr sz="2000" b="1">
                <a:solidFill>
                  <a:srgbClr val="102545"/>
                </a:solidFill>
              </a:rPr>
              <a:t>tidak menjamin</a:t>
            </a:r>
            <a:r>
              <a:rPr sz="2000">
                <a:solidFill>
                  <a:srgbClr val="1A1F2B"/>
                </a:solidFill>
              </a:rPr>
              <a:t> UX yang baik. Tapi UI yang buruk </a:t>
            </a:r>
            <a:r>
              <a:rPr sz="2000" b="1">
                <a:solidFill>
                  <a:srgbClr val="102545"/>
                </a:solidFill>
              </a:rPr>
              <a:t>hampir selalu</a:t>
            </a:r>
            <a:r>
              <a:rPr sz="2000">
                <a:solidFill>
                  <a:srgbClr val="1A1F2B"/>
                </a:solidFill>
              </a:rPr>
              <a:t> merusak UX.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Di mata kuliah ini Anda mengerjakan keduanya — tapi mulai dari UI, karena itu yang bisa langsung diuji ke orang.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1 — Hierarki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Mata pengguna </a:t>
            </a:r>
            <a:r>
              <a:rPr sz="1900" b="1">
                <a:solidFill>
                  <a:srgbClr val="102545"/>
                </a:solidFill>
              </a:rPr>
              <a:t>tidak memindai semua</a:t>
            </a:r>
            <a:r>
              <a:rPr sz="1900">
                <a:solidFill>
                  <a:srgbClr val="1A1F2B"/>
                </a:solidFill>
              </a:rPr>
              <a:t> elemen. Ia mencari yang paling menonjol lebih dulu.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Alat untuk mengatur urutan itu: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Ukuran</a:t>
            </a:r>
            <a:r>
              <a:rPr sz="1600">
                <a:solidFill>
                  <a:srgbClr val="5A6372"/>
                </a:solidFill>
              </a:rPr>
              <a:t> — makin besar, makin dulu dilihat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Kontras</a:t>
            </a:r>
            <a:r>
              <a:rPr sz="1600">
                <a:solidFill>
                  <a:srgbClr val="5A6372"/>
                </a:solidFill>
              </a:rPr>
              <a:t> — warna yang berbeda tajam menarik mata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Posisi</a:t>
            </a:r>
            <a:r>
              <a:rPr sz="1600">
                <a:solidFill>
                  <a:srgbClr val="5A6372"/>
                </a:solidFill>
              </a:rPr>
              <a:t> — kiri-atas dibaca lebih dulu (untuk aksara Latin)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Ruang kosong</a:t>
            </a:r>
            <a:r>
              <a:rPr sz="1600">
                <a:solidFill>
                  <a:srgbClr val="5A6372"/>
                </a:solidFill>
              </a:rPr>
              <a:t> — elemen yang diberi jarak terasa lebih penting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Uji cepatnya:</a:t>
            </a:r>
            <a:r>
              <a:rPr sz="1900">
                <a:solidFill>
                  <a:srgbClr val="1A1F2B"/>
                </a:solidFill>
              </a:rPr>
              <a:t> picingkan mata sampai layar buram. Yang masih terbaca = yang Anda tonjolkan.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Kalau yang tersisa bukan aksi utamanya, hierarki Anda salah.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2 — Konsistensi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Hal yang sama harus </a:t>
            </a:r>
            <a:r>
              <a:rPr sz="1900" b="1">
                <a:solidFill>
                  <a:srgbClr val="102545"/>
                </a:solidFill>
              </a:rPr>
              <a:t>terlihat sama</a:t>
            </a:r>
            <a:r>
              <a:rPr sz="1900">
                <a:solidFill>
                  <a:srgbClr val="1A1F2B"/>
                </a:solidFill>
              </a:rPr>
              <a:t> dan </a:t>
            </a:r>
            <a:r>
              <a:rPr sz="1900" b="1">
                <a:solidFill>
                  <a:srgbClr val="102545"/>
                </a:solidFill>
              </a:rPr>
              <a:t>berperilaku sama</a:t>
            </a:r>
            <a:r>
              <a:rPr sz="1900">
                <a:solidFill>
                  <a:srgbClr val="1A1F2B"/>
                </a:solidFill>
              </a:rPr>
              <a:t> di seluruh aplikasi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gaya tombol utama, bukan lima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pola penamaan: </a:t>
            </a:r>
            <a:r>
              <a:rPr sz="1600" i="1">
                <a:solidFill>
                  <a:srgbClr val="5A6372"/>
                </a:solidFill>
              </a:rPr>
              <a:t>Simpan</a:t>
            </a:r>
            <a:r>
              <a:rPr sz="1600">
                <a:solidFill>
                  <a:srgbClr val="5A6372"/>
                </a:solidFill>
              </a:rPr>
              <a:t> di semua halaman, bukan </a:t>
            </a:r>
            <a:r>
              <a:rPr sz="1600" i="1">
                <a:solidFill>
                  <a:srgbClr val="5A6372"/>
                </a:solidFill>
              </a:rPr>
              <a:t>Simpan</a:t>
            </a:r>
            <a:r>
              <a:rPr sz="1600">
                <a:solidFill>
                  <a:srgbClr val="5A6372"/>
                </a:solidFill>
              </a:rPr>
              <a:t> / </a:t>
            </a:r>
            <a:r>
              <a:rPr sz="1600" i="1">
                <a:solidFill>
                  <a:srgbClr val="5A6372"/>
                </a:solidFill>
              </a:rPr>
              <a:t>Kirim</a:t>
            </a:r>
            <a:r>
              <a:rPr sz="1600">
                <a:solidFill>
                  <a:srgbClr val="5A6372"/>
                </a:solidFill>
              </a:rPr>
              <a:t> / </a:t>
            </a:r>
            <a:r>
              <a:rPr sz="1600" i="1">
                <a:solidFill>
                  <a:srgbClr val="5A6372"/>
                </a:solidFill>
              </a:rPr>
              <a:t>OK</a:t>
            </a:r>
            <a:r>
              <a:rPr sz="1600">
                <a:solidFill>
                  <a:srgbClr val="5A6372"/>
                </a:solidFill>
              </a:rPr>
              <a:t> bergantian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posisi tetap untuk aksi yang sama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Kenapa penting:</a:t>
            </a:r>
            <a:r>
              <a:rPr sz="1900">
                <a:solidFill>
                  <a:srgbClr val="1A1F2B"/>
                </a:solidFill>
              </a:rPr>
              <a:t> konsistensi membuat pengguna bisa </a:t>
            </a:r>
            <a:r>
              <a:rPr sz="1900" b="1">
                <a:solidFill>
                  <a:srgbClr val="102545"/>
                </a:solidFill>
              </a:rPr>
              <a:t>menebak</a:t>
            </a:r>
            <a:r>
              <a:rPr sz="1900">
                <a:solidFill>
                  <a:srgbClr val="1A1F2B"/>
                </a:solidFill>
              </a:rPr>
              <a:t>. Menebak dengan benar = tidak perlu berpikir.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Konsistensi </a:t>
            </a:r>
            <a:r>
              <a:rPr sz="1900" b="1">
                <a:solidFill>
                  <a:srgbClr val="102545"/>
                </a:solidFill>
              </a:rPr>
              <a:t>eksternal</a:t>
            </a:r>
            <a:r>
              <a:rPr sz="1900">
                <a:solidFill>
                  <a:srgbClr val="1A1F2B"/>
                </a:solidFill>
              </a:rPr>
              <a:t> juga berlaku: ikon keranjang, tanda silang untuk tutup — jangan dilawan tanpa alasan kuat.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3 — Keterbacaan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Kontras teks</a:t>
            </a:r>
            <a:r>
              <a:rPr sz="1900">
                <a:solidFill>
                  <a:srgbClr val="1A1F2B"/>
                </a:solidFill>
              </a:rPr>
              <a:t> cukup terhadap latar (acuan WCAG: rasio </a:t>
            </a:r>
            <a:r>
              <a:rPr sz="1900" b="1">
                <a:solidFill>
                  <a:srgbClr val="102545"/>
                </a:solidFill>
              </a:rPr>
              <a:t>4.5:1</a:t>
            </a:r>
            <a:r>
              <a:rPr sz="1900">
                <a:solidFill>
                  <a:srgbClr val="1A1F2B"/>
                </a:solidFill>
              </a:rPr>
              <a:t> untuk teks biasa)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Ukuran</a:t>
            </a:r>
            <a:r>
              <a:rPr sz="1900">
                <a:solidFill>
                  <a:srgbClr val="1A1F2B"/>
                </a:solidFill>
              </a:rPr>
              <a:t> minimal nyaman di layar kecil — jangan 11 px untuk teks isi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Panjang baris</a:t>
            </a:r>
            <a:r>
              <a:rPr sz="1900">
                <a:solidFill>
                  <a:srgbClr val="1A1F2B"/>
                </a:solidFill>
              </a:rPr>
              <a:t> 45–75 karakter; terlalu lebar membuat mata kehilangan baris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Jarak antarbaris</a:t>
            </a:r>
            <a:r>
              <a:rPr sz="1900">
                <a:solidFill>
                  <a:srgbClr val="1A1F2B"/>
                </a:solidFill>
              </a:rPr>
              <a:t> longgar (±1,5×) supaya paragraf tidak terlihat padat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Hindari teks di atas foto ramai</a:t>
            </a:r>
            <a:r>
              <a:rPr sz="1900">
                <a:solidFill>
                  <a:srgbClr val="1A1F2B"/>
                </a:solidFill>
              </a:rPr>
              <a:t> tanpa lapisan gelap/terang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Uji paling murah: buka rancangan Anda </a:t>
            </a:r>
            <a:r>
              <a:rPr sz="1900" b="1">
                <a:solidFill>
                  <a:srgbClr val="102545"/>
                </a:solidFill>
              </a:rPr>
              <a:t>di ponsel, di bawah sinar matahari</a:t>
            </a:r>
            <a:r>
              <a:rPr sz="1900">
                <a:solidFill>
                  <a:srgbClr val="1A1F2B"/>
                </a:solidFill>
              </a:rPr>
              <a:t>. Kalau tak terbaca, itu jawabannya.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Bongkar satu antarmuka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Ambil satu aplikasi yang Anda pakai tiap hari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Jawab empat pertanyaan: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Apa aksi utama</a:t>
            </a:r>
            <a:r>
              <a:rPr sz="1600">
                <a:solidFill>
                  <a:srgbClr val="5A6372"/>
                </a:solidFill>
              </a:rPr>
              <a:t> di layar ini? Apakah ia yang paling menonjol?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Berapa gaya tombol</a:t>
            </a:r>
            <a:r>
              <a:rPr sz="1600">
                <a:solidFill>
                  <a:srgbClr val="5A6372"/>
                </a:solidFill>
              </a:rPr>
              <a:t> berbeda yang Anda hitung?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Bisakah teksnya dibaca</a:t>
            </a:r>
            <a:r>
              <a:rPr sz="1600">
                <a:solidFill>
                  <a:srgbClr val="5A6372"/>
                </a:solidFill>
              </a:rPr>
              <a:t> sambil berjalan?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Apa yang bikin ragu</a:t>
            </a:r>
            <a:r>
              <a:rPr sz="1600">
                <a:solidFill>
                  <a:srgbClr val="5A6372"/>
                </a:solidFill>
              </a:rPr>
              <a:t> — dan apa yang membuat ragu itu muncul?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Ini kerangka yang akan Anda pakai lagi di Pertemuan 6–7 saat menguji desain sendiri ke pengguna nyata.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Wireframe — dan kenapa harus jelek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Wireframe</a:t>
            </a:r>
            <a:r>
              <a:rPr sz="1900">
                <a:solidFill>
                  <a:srgbClr val="1A1F2B"/>
                </a:solidFill>
              </a:rPr>
              <a:t> = kerangka halaman: kotak, garis, label. </a:t>
            </a:r>
            <a:r>
              <a:rPr sz="1900" b="1">
                <a:solidFill>
                  <a:srgbClr val="102545"/>
                </a:solidFill>
              </a:rPr>
              <a:t>Tanpa warna, tanpa gaya, tanpa gambar asli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Tujuannya menguji </a:t>
            </a:r>
            <a:r>
              <a:rPr sz="1900" b="1">
                <a:solidFill>
                  <a:srgbClr val="102545"/>
                </a:solidFill>
              </a:rPr>
              <a:t>struktur dan prioritas</a:t>
            </a:r>
            <a:r>
              <a:rPr sz="1900">
                <a:solidFill>
                  <a:srgbClr val="1A1F2B"/>
                </a:solidFill>
              </a:rPr>
              <a:t> — bukan keindahan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Kenapa sengaja dibuat jelek?</a:t>
            </a:r>
            <a:r>
              <a:rPr sz="1900">
                <a:solidFill>
                  <a:srgbClr val="1A1F2B"/>
                </a:solidFill>
              </a:rPr>
              <a:t> Karena rancangan yang sudah rapi membuat orang enggan mengkritiknya, dan Anda enggan membuangnya.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Wireframe yang jelek </a:t>
            </a:r>
            <a:r>
              <a:rPr sz="1900" b="1">
                <a:solidFill>
                  <a:srgbClr val="102545"/>
                </a:solidFill>
              </a:rPr>
              <a:t>murah dibuang</a:t>
            </a:r>
            <a:r>
              <a:rPr sz="1900">
                <a:solidFill>
                  <a:srgbClr val="1A1F2B"/>
                </a:solidFill>
              </a:rPr>
              <a:t> — dan di fase ini, dibuang itu justru kemajuan.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Boleh di kertas, boleh di Figma. Yang dinilai isinya, bukan alatnya.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Anatomi wireframe yang layak dinilai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Header</a:t>
            </a:r>
            <a:r>
              <a:rPr sz="1900">
                <a:solidFill>
                  <a:srgbClr val="1A1F2B"/>
                </a:solidFill>
              </a:rPr>
              <a:t> — identitas + navigasi utama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Aksi utama</a:t>
            </a:r>
            <a:r>
              <a:rPr sz="1900">
                <a:solidFill>
                  <a:srgbClr val="1A1F2B"/>
                </a:solidFill>
              </a:rPr>
              <a:t> — satu, dan paling menonjol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Konten inti</a:t>
            </a:r>
            <a:r>
              <a:rPr sz="1900">
                <a:solidFill>
                  <a:srgbClr val="1A1F2B"/>
                </a:solidFill>
              </a:rPr>
              <a:t> — apa yang benar-benar dicari pengguna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Aksi sekunder</a:t>
            </a:r>
            <a:r>
              <a:rPr sz="1900">
                <a:solidFill>
                  <a:srgbClr val="1A1F2B"/>
                </a:solidFill>
              </a:rPr>
              <a:t> — ada, tapi tidak berebut perhatian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Keadaan kosong / error</a:t>
            </a:r>
            <a:r>
              <a:rPr sz="1900">
                <a:solidFill>
                  <a:srgbClr val="1A1F2B"/>
                </a:solidFill>
              </a:rPr>
              <a:t> — sering dilupakan, padahal paling sering dilihat pengguna baru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Beri </a:t>
            </a:r>
            <a:r>
              <a:rPr sz="1900" b="1">
                <a:solidFill>
                  <a:srgbClr val="102545"/>
                </a:solidFill>
              </a:rPr>
              <a:t>anotasi</a:t>
            </a:r>
            <a:r>
              <a:rPr sz="1900">
                <a:solidFill>
                  <a:srgbClr val="1A1F2B"/>
                </a:solidFill>
              </a:rPr>
              <a:t>: panah + satu kalimat yang menjelaskan </a:t>
            </a:r>
            <a:r>
              <a:rPr sz="1900" i="1">
                <a:solidFill>
                  <a:srgbClr val="1A1F2B"/>
                </a:solidFill>
              </a:rPr>
              <a:t>kenapa</a:t>
            </a:r>
            <a:r>
              <a:rPr sz="1900">
                <a:solidFill>
                  <a:srgbClr val="1A1F2B"/>
                </a:solidFill>
              </a:rPr>
              <a:t> elemen ini diletakkan di sini.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Anotasi itulah yang membedakan wireframe dari coretan.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Lima kesalahan yang paling sering muncul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Menaruh </a:t>
            </a:r>
            <a:r>
              <a:rPr sz="1900" b="1">
                <a:solidFill>
                  <a:srgbClr val="102545"/>
                </a:solidFill>
              </a:rPr>
              <a:t>semua</a:t>
            </a:r>
            <a:r>
              <a:rPr sz="1900">
                <a:solidFill>
                  <a:srgbClr val="1A1F2B"/>
                </a:solidFill>
              </a:rPr>
              <a:t> yang penting jadi menonjol — akhirnya tidak ada yang menonjol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Memakai </a:t>
            </a:r>
            <a:r>
              <a:rPr sz="1900" b="1">
                <a:solidFill>
                  <a:srgbClr val="102545"/>
                </a:solidFill>
              </a:rPr>
              <a:t>lorem ipsum</a:t>
            </a:r>
            <a:r>
              <a:rPr sz="1900">
                <a:solidFill>
                  <a:srgbClr val="1A1F2B"/>
                </a:solidFill>
              </a:rPr>
              <a:t> untuk teks yang sebenarnya menentukan tata letak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Merancang hanya keadaan </a:t>
            </a:r>
            <a:r>
              <a:rPr sz="1900" b="1">
                <a:solidFill>
                  <a:srgbClr val="102545"/>
                </a:solidFill>
              </a:rPr>
              <a:t>ideal</a:t>
            </a:r>
            <a:r>
              <a:rPr sz="1900">
                <a:solidFill>
                  <a:srgbClr val="1A1F2B"/>
                </a:solidFill>
              </a:rPr>
              <a:t> — lupa keadaan kosong, gagal, dan memuat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Menyalin tata letak aplikasi terkenal </a:t>
            </a:r>
            <a:r>
              <a:rPr sz="1900" b="1">
                <a:solidFill>
                  <a:srgbClr val="102545"/>
                </a:solidFill>
              </a:rPr>
              <a:t>tanpa tahu alasannya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Merancang di layar besar saja, lalu kaget saat dibuka di ponsel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Kelimanya akan diperiksa saat penilaian Tugas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Studio 55 Menit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Kelompok dibentuk, wireframe pertama dimulai hari ini juga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Pembentukan kelompok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Kelompok </a:t>
            </a:r>
            <a:r>
              <a:rPr sz="1900" b="1">
                <a:solidFill>
                  <a:srgbClr val="102545"/>
                </a:solidFill>
              </a:rPr>
              <a:t>3–4 orang</a:t>
            </a:r>
            <a:r>
              <a:rPr sz="1900">
                <a:solidFill>
                  <a:srgbClr val="1A1F2B"/>
                </a:solidFill>
              </a:rPr>
              <a:t>, dibentuk hari ini dan </a:t>
            </a:r>
            <a:r>
              <a:rPr sz="1900" b="1">
                <a:solidFill>
                  <a:srgbClr val="102545"/>
                </a:solidFill>
              </a:rPr>
              <a:t>tetap sampai akhir semester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Sepakati di dalam kelompok: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Ketua</a:t>
            </a:r>
            <a:r>
              <a:rPr sz="1600">
                <a:solidFill>
                  <a:srgbClr val="5A6372"/>
                </a:solidFill>
              </a:rPr>
              <a:t> — bukan yang paling pintar, tapi yang paling rajin menagih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Kanal komunikasi</a:t>
            </a:r>
            <a:r>
              <a:rPr sz="1600">
                <a:solidFill>
                  <a:srgbClr val="5A6372"/>
                </a:solidFill>
              </a:rPr>
              <a:t> dan </a:t>
            </a:r>
            <a:r>
              <a:rPr sz="1600" b="1">
                <a:solidFill>
                  <a:srgbClr val="102545"/>
                </a:solidFill>
              </a:rPr>
              <a:t>jadwal pertemuan mingguan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Ide awal produk</a:t>
            </a:r>
            <a:r>
              <a:rPr sz="1600">
                <a:solidFill>
                  <a:srgbClr val="5A6372"/>
                </a:solidFill>
              </a:rPr>
              <a:t> — boleh berubah, tapi harus ada hari ini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Data kelompok diunggah sebagai </a:t>
            </a:r>
            <a:r>
              <a:rPr sz="1900" b="1">
                <a:solidFill>
                  <a:srgbClr val="102545"/>
                </a:solidFill>
              </a:rPr>
              <a:t>Tugas 1b</a:t>
            </a:r>
            <a:r>
              <a:rPr sz="1900">
                <a:solidFill>
                  <a:srgbClr val="1A1F2B"/>
                </a:solidFill>
              </a:rPr>
              <a:t> — lihat aktivitas TUGAS 1 di eBelajar.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Studio hari ini — 55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10'</a:t>
            </a:r>
            <a:r>
              <a:rPr sz="2000">
                <a:solidFill>
                  <a:srgbClr val="1A1F2B"/>
                </a:solidFill>
              </a:rPr>
              <a:t> — tentukan satu masalah nyata yang ingin kelompok Anda selesaikan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10'</a:t>
            </a:r>
            <a:r>
              <a:rPr sz="2000">
                <a:solidFill>
                  <a:srgbClr val="1A1F2B"/>
                </a:solidFill>
              </a:rPr>
              <a:t> — tulis </a:t>
            </a:r>
            <a:r>
              <a:rPr sz="2000" b="1">
                <a:solidFill>
                  <a:srgbClr val="102545"/>
                </a:solidFill>
              </a:rPr>
              <a:t>satu kalimat</a:t>
            </a:r>
            <a:r>
              <a:rPr sz="2000">
                <a:solidFill>
                  <a:srgbClr val="1A1F2B"/>
                </a:solidFill>
              </a:rPr>
              <a:t> siapa penggunanya dan apa yang ingin ia capai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25'</a:t>
            </a:r>
            <a:r>
              <a:rPr sz="2000">
                <a:solidFill>
                  <a:srgbClr val="1A1F2B"/>
                </a:solidFill>
              </a:rPr>
              <a:t> — sketsa wireframe </a:t>
            </a:r>
            <a:r>
              <a:rPr sz="2000" b="1">
                <a:solidFill>
                  <a:srgbClr val="102545"/>
                </a:solidFill>
              </a:rPr>
              <a:t>halaman utama</a:t>
            </a:r>
            <a:r>
              <a:rPr sz="2000">
                <a:solidFill>
                  <a:srgbClr val="1A1F2B"/>
                </a:solidFill>
              </a:rPr>
              <a:t> di kertas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10'</a:t>
            </a:r>
            <a:r>
              <a:rPr sz="2000">
                <a:solidFill>
                  <a:srgbClr val="1A1F2B"/>
                </a:solidFill>
              </a:rPr>
              <a:t> — tukar dengan kelompok sebelah, minta mereka menebak apa aksi utamanya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Kalau mereka </a:t>
            </a:r>
            <a:r>
              <a:rPr sz="2000" b="1">
                <a:solidFill>
                  <a:srgbClr val="102545"/>
                </a:solidFill>
              </a:rPr>
              <a:t>salah menebak</a:t>
            </a:r>
            <a:r>
              <a:rPr sz="2000">
                <a:solidFill>
                  <a:srgbClr val="1A1F2B"/>
                </a:solidFill>
              </a:rPr>
              <a:t>, itu temuan paling berharga hari ini — bukan kegagalan.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Tugas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Wireframe halaman utama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Tugas 1 — apa yang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1 berkas wireframe</a:t>
            </a:r>
            <a:r>
              <a:rPr sz="1900">
                <a:solidFill>
                  <a:srgbClr val="1A1F2B"/>
                </a:solidFill>
              </a:rPr>
              <a:t> halaman utama (PDF atau PNG)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1 paragraf</a:t>
            </a:r>
            <a:r>
              <a:rPr sz="1900">
                <a:solidFill>
                  <a:srgbClr val="1A1F2B"/>
                </a:solidFill>
              </a:rPr>
              <a:t> yang menjelaskan penerapan </a:t>
            </a:r>
            <a:r>
              <a:rPr sz="1900" b="1">
                <a:solidFill>
                  <a:srgbClr val="102545"/>
                </a:solidFill>
              </a:rPr>
              <a:t>hierarki visual, konsistensi, dan keterbacaan</a:t>
            </a:r>
            <a:r>
              <a:rPr sz="1900">
                <a:solidFill>
                  <a:srgbClr val="1A1F2B"/>
                </a:solidFill>
              </a:rPr>
              <a:t> pada rancangan Anda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Bukan mendeskripsikan gambarnya — melainkan </a:t>
            </a:r>
            <a:r>
              <a:rPr sz="1600" b="1">
                <a:solidFill>
                  <a:srgbClr val="102545"/>
                </a:solidFill>
              </a:rPr>
              <a:t>alasan</a:t>
            </a:r>
            <a:r>
              <a:rPr sz="1600">
                <a:solidFill>
                  <a:srgbClr val="5A6372"/>
                </a:solidFill>
              </a:rPr>
              <a:t> setiap keputusan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Tugas 1b — Data kelompok</a:t>
            </a:r>
            <a:r>
              <a:rPr sz="1900">
                <a:solidFill>
                  <a:srgbClr val="1A1F2B"/>
                </a:solidFill>
              </a:rPr>
              <a:t>: nama kelompok, ketua, anggota, kanal komunikasi, komitmen pertemuan mingguan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Nama berkas: </a:t>
            </a:r>
            <a:r>
              <a:rPr sz="1900" b="1">
                <a:solidFill>
                  <a:srgbClr val="102545"/>
                </a:solidFill>
              </a:rPr>
              <a:t>AP1_P1_NIM_Nama_Wireframe.pdf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Dikumpulkan lewat </a:t>
            </a:r>
            <a:r>
              <a:rPr sz="1900" b="1">
                <a:solidFill>
                  <a:srgbClr val="102545"/>
                </a:solidFill>
              </a:rPr>
              <a:t>eBelajar</a:t>
            </a:r>
            <a:r>
              <a:rPr sz="1900">
                <a:solidFill>
                  <a:srgbClr val="1A1F2B"/>
                </a:solidFill>
              </a:rPr>
              <a:t>, aktivitas </a:t>
            </a:r>
            <a:r>
              <a:rPr sz="1900" b="1">
                <a:solidFill>
                  <a:srgbClr val="102545"/>
                </a:solidFill>
              </a:rPr>
              <a:t>TUGAS 1</a:t>
            </a:r>
            <a:r>
              <a:rPr sz="1900">
                <a:solidFill>
                  <a:srgbClr val="1A1F2B"/>
                </a:solidFill>
              </a:rPr>
              <a:t> — bukan WhatsApp, bukan email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Yang diperiksa saat menilai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Bobot Tugas 1: 5% (sesuai RPS). Kecil — tapi ini fondasi seluruh proyek Anda.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7989570"/>
              </a:tblGrid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Pertanyaan penilai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Hierarki visual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aksi utama benar-benar paling menonjol?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Konsistensi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elemen sejenis diperlakukan sama?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Keterbacaan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teks nyaman dibaca di layar kecil?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Anotasi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ada alasan di balik keputusan, bukan sekadar label?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Kejujuran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keadaan kosong/error ikut dipikirkan?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Tenggat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Minggu, 20 September 2026, pukul 23.55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Terlambat: </a:t>
            </a:r>
            <a:r>
              <a:rPr sz="2000" b="1">
                <a:solidFill>
                  <a:srgbClr val="102545"/>
                </a:solidFill>
              </a:rPr>
              <a:t>−10% per hari</a:t>
            </a:r>
            <a:r>
              <a:rPr sz="2000">
                <a:solidFill>
                  <a:srgbClr val="1A1F2B"/>
                </a:solidFill>
              </a:rPr>
              <a:t>, maksimal 3 hari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Lewat 3 hari dinilai 0, </a:t>
            </a:r>
            <a:r>
              <a:rPr sz="2000" b="1">
                <a:solidFill>
                  <a:srgbClr val="102545"/>
                </a:solidFill>
              </a:rPr>
              <a:t>tapi tetap wajib dikumpulkan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Aturan umum: tugas Pertemuan N dikumpulkan </a:t>
            </a:r>
            <a:r>
              <a:rPr sz="2000" b="1">
                <a:solidFill>
                  <a:srgbClr val="102545"/>
                </a:solidFill>
              </a:rPr>
              <a:t>Minggu 23.55 minggu berikutnya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sebelum Anda pergi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Tulis di forum diskusi Pertemuan 1: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</a:t>
            </a:r>
            <a:r>
              <a:rPr sz="1700" b="1">
                <a:solidFill>
                  <a:srgbClr val="102545"/>
                </a:solidFill>
              </a:rPr>
              <a:t>Satu</a:t>
            </a:r>
            <a:r>
              <a:rPr sz="1700">
                <a:solidFill>
                  <a:srgbClr val="5A6372"/>
                </a:solidFill>
              </a:rPr>
              <a:t> antarmuka yang menurut Anda buruk, dan </a:t>
            </a:r>
            <a:r>
              <a:rPr sz="1700" b="1">
                <a:solidFill>
                  <a:srgbClr val="102545"/>
                </a:solidFill>
              </a:rPr>
              <a:t>prinsip mana</a:t>
            </a:r>
            <a:r>
              <a:rPr sz="1700">
                <a:solidFill>
                  <a:srgbClr val="5A6372"/>
                </a:solidFill>
              </a:rPr>
              <a:t> yang dilanggarnya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</a:t>
            </a:r>
            <a:r>
              <a:rPr sz="1700" b="1">
                <a:solidFill>
                  <a:srgbClr val="102545"/>
                </a:solidFill>
              </a:rPr>
              <a:t>Satu</a:t>
            </a:r>
            <a:r>
              <a:rPr sz="1700">
                <a:solidFill>
                  <a:srgbClr val="5A6372"/>
                </a:solidFill>
              </a:rPr>
              <a:t> hal dari hari ini yang ingin Anda coba di proyek sendiri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Balas </a:t>
            </a:r>
            <a:r>
              <a:rPr sz="2000" b="1">
                <a:solidFill>
                  <a:srgbClr val="102545"/>
                </a:solidFill>
              </a:rPr>
              <a:t>minimal satu</a:t>
            </a:r>
            <a:r>
              <a:rPr sz="2000">
                <a:solidFill>
                  <a:srgbClr val="1A1F2B"/>
                </a:solidFill>
              </a:rPr>
              <a:t> tulisan teman — sebutkan satu hal yang belum ia pertimbangkan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Isi juga </a:t>
            </a:r>
            <a:r>
              <a:rPr sz="2000" b="1">
                <a:solidFill>
                  <a:srgbClr val="102545"/>
                </a:solidFill>
              </a:rPr>
              <a:t>Survey Awal Mahasiswa</a:t>
            </a:r>
            <a:r>
              <a:rPr sz="2000">
                <a:solidFill>
                  <a:srgbClr val="1A1F2B"/>
                </a:solidFill>
              </a:rPr>
              <a:t> — supaya saya tahu titik berangkat Anda.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Siapkan sebelum Pertemuan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Akun </a:t>
            </a:r>
            <a:r>
              <a:rPr sz="2000" b="1">
                <a:solidFill>
                  <a:srgbClr val="102545"/>
                </a:solidFill>
              </a:rPr>
              <a:t>Figma</a:t>
            </a:r>
            <a:r>
              <a:rPr sz="2000">
                <a:solidFill>
                  <a:srgbClr val="1A1F2B"/>
                </a:solidFill>
              </a:rPr>
              <a:t> (gratis) — dipakai mulai Pertemuan 2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Baca </a:t>
            </a:r>
            <a:r>
              <a:rPr sz="2000" b="1">
                <a:solidFill>
                  <a:srgbClr val="102545"/>
                </a:solidFill>
              </a:rPr>
              <a:t>Dan Olsen — The Lean Product Playbook</a:t>
            </a:r>
            <a:r>
              <a:rPr sz="2000">
                <a:solidFill>
                  <a:srgbClr val="1A1F2B"/>
                </a:solidFill>
              </a:rPr>
              <a:t> (rujukan utama Tugas 1)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Kendala teknis → tanyakan di </a:t>
            </a:r>
            <a:r>
              <a:rPr sz="2000" b="1">
                <a:solidFill>
                  <a:srgbClr val="102545"/>
                </a:solidFill>
              </a:rPr>
              <a:t>forum Diskusi Umum</a:t>
            </a:r>
            <a:r>
              <a:rPr sz="2000">
                <a:solidFill>
                  <a:srgbClr val="1A1F2B"/>
                </a:solidFill>
              </a:rPr>
              <a:t>, bukan japri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Pertemuan 2: </a:t>
            </a:r>
            <a:r>
              <a:rPr sz="2000" b="1">
                <a:solidFill>
                  <a:srgbClr val="102545"/>
                </a:solidFill>
              </a:rPr>
              <a:t>ergonomi dan aksesibilitas</a:t>
            </a:r>
            <a:r>
              <a:rPr sz="2000">
                <a:solidFill>
                  <a:srgbClr val="1A1F2B"/>
                </a:solidFill>
              </a:rPr>
              <a:t> — kenapa desain yang nyaman untuk sebagian orang bisa menutup pintu bagi yang lain.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 — klik langsung dari slide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Salindia ini tersimpan di Google Drive; semua tautan aktif saat dibuka di PowerPoint atau Google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Kursus Application Project I A di eBelajar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Kontrak Kuliah (versi lengkap)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Bahan Pertemuan 1 di Google Drive (slide &amp; pendukung)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Materi Pertemuan 1: Prinsip Desain UI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Forum Diskusi Pertemuan 1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TUGAS 1 — unggah di sini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8"/>
              </a:rPr>
              <a:t>Survey Awal Mahasiswa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9"/>
              </a:rPr>
              <a:t>Forum Diskusi Umum — tempat bertanya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Desain yang baik tidak terlihat.</a:t>
            </a:r>
            <a:br/>
            <a:r>
              <a:t>Yang terlihat cuma: orang berhasil.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Sampai jumpa di Pertemuan 2 — Kamis depan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