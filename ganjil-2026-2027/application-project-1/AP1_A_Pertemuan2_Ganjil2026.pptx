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Nada: bukan menegur, tapi memperlihatkan angka. Tugas 1 masih ada waktu sampai Minggu. Forum Perkenalan dan Diskusi P1 masih terbuka dan tetap dinilai (komponen Partisipatif 10%). Rincian catatan di slide berikut.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Contoh perkenalan di atas hanya ilustrasi format, bukan kutipan mahasiswa.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Aritmetika: 4 kursi kosong di kelompok lama (JOSJIS 1, QWERTY 1, Rizkia-Kirana 2). 9 orang belum berkelompok -&gt; kalau 4 kursi terisi, 5 sisanya membentuk kelompok baru (mis. 3 + 2); atau 9 orang menjadi 3 kelompok baru. Kunci di 10 menit pertama 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5 menit. Tanya kelas: kapan terakhir salah pencet di ponsel? Tombol apa, di aplikasi apa, dan kenapa? Kumpulkan 2–3 jawaban, lalu sambungkan: itu masalah ergonomi, bukan kecerobohan pengguna.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Peragakan: pegang ponsel satu tangan, coba jangkau pojok kiri atas. Itu alasan banyak aplikasi memindahkan navigasi utama ke bawah.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Untuk wireframe kertas: cek urutan fokus dengan menomori elemen interaktif sesuai urutan yang Anda harapkan, lalu minta teman menelusuri.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Kunci: 1-b, 2-b, 3-c. Soal 3 adalah jembatan ke studio: saat merevisi wireframe, mulai dari navigasi dan aksi utama.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Berkeliling per kelompok. Di Praktik A-B pertanyaan kuncinya: apa aksi utama di wireframe ini, dan bisakah dijangkau ibu jari? Di Praktik C: siapa penggunanya, dan apa asumsi yang paling mungkin salah?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kolom Dampak: temuan tanpa dampak hanyalah opini. Rubrik menilai kelengkapan dan ketajaman temuan (20 poin).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Isi kolom Topik 1–3 di sheet KELOMPOK AP 1 dengan judul sementara ide-ide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Rubrik identik dengan Modul Mandiri P2.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Tiga soal = Refleksi Cepat Modul Mandiri P2. Kalau waktu sempit, soal 1 di kelas, soal 2–3 dilanjutkan di rumah sebelum Minggu.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belajar.stiki.ac.id/mod/forum/view.php?id=502324" TargetMode="External"/><Relationship Id="rId3" Type="http://schemas.openxmlformats.org/officeDocument/2006/relationships/hyperlink" Target="https://ebelajar.stiki.ac.id/mod/page/view.php?id=491628" TargetMode="External"/><Relationship Id="rId4" Type="http://schemas.openxmlformats.org/officeDocument/2006/relationships/hyperlink" Target="https://ebelajar.stiki.ac.id/mod/assign/view.php?id=491632" TargetMode="External"/><Relationship Id="rId5" Type="http://schemas.openxmlformats.org/officeDocument/2006/relationships/hyperlink" Target="https://ebelajar.stiki.ac.id/mod/assign/view.php?id=491624" TargetMode="External"/><Relationship Id="rId6" Type="http://schemas.openxmlformats.org/officeDocument/2006/relationships/hyperlink" Target="https://docs.google.com/spreadsheets/d/12mbDubq6xxfcrlFEQir4aG4h-ICjM0g2B9EU1IuzJUU/edit" TargetMode="External"/><Relationship Id="rId7" Type="http://schemas.openxmlformats.org/officeDocument/2006/relationships/hyperlink" Target="https://drive.google.com/drive/folders/1yvgECF7RK8l6Hr4TG0oIG-RFdIkocAou" TargetMode="External"/><Relationship Id="rId8" Type="http://schemas.openxmlformats.org/officeDocument/2006/relationships/hyperlink" Target="https://drive.google.com/file/d/1N1ZWqMpPIyUTYAOYnecxqnIhz8VCz2Un/view" TargetMode="External"/><Relationship Id="rId9" Type="http://schemas.openxmlformats.org/officeDocument/2006/relationships/hyperlink" Target="https://drive.google.com/file/d/1UHe79xxVM1WRlpUSByVUziT7NcGm09oW/view" TargetMode="External"/><Relationship Id="rId10" Type="http://schemas.openxmlformats.org/officeDocument/2006/relationships/hyperlink" Target="https://drive.google.com/file/d/1rXAx7UDSIC38bylwRptd4GE4od9Dimtq/view" TargetMode="External"/><Relationship Id="rId11" Type="http://schemas.openxmlformats.org/officeDocument/2006/relationships/hyperlink" Target="https://ebelajar.stiki.ac.id/mod/forum/view.php?id=49161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PERTEMUAN 2 · APPLICATION PROJECT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</a:defRPr>
            </a:pPr>
            <a:r>
              <a:t>Nyaman Dipakai,</a:t>
            </a:r>
            <a:br/>
            <a:r>
              <a:t>Terbuka untuk Semua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8D4E6"/>
                </a:solidFill>
              </a:defRPr>
            </a:pPr>
            <a:r>
              <a:t>Ergonomi &amp; aksesibilitas UI — lalu mencari ide proyek kelompok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FA3BF"/>
                </a:solidFill>
              </a:defRPr>
            </a:pPr>
            <a:r>
              <a:t>Mukhlis Amien, M.Kom.  ·  IF24KB33  ·  Kelas A (Reguler) · Kamis 13.50–15.30 · Ruang A.2.1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Umpan balik Pertemuan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Koreksi dan komentar atas pekerjaan minggu lalu — kondisi nyata di eBelajar.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5828"/>
                <a:gridCol w="7456932"/>
              </a:tblGrid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Aktivitas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Kondisi per Kamis 17 Sep, 10.50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(a) Tugas 1 — Wireframe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0 dari 21 mengumpulkan · tenggat Minggu 20 Sep 23.55 — belum ada yang bisa dikoreksi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(b) Forum Diskusi 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Belum ada posting mahasiswa — forum tetap terbuka dan dinilai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(c) Forum Perkenalan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Tyo dan Devan sudah mengisi → dibalas dan dinilai di eBelajar (Tyo 80 · Devan 80)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(d) Kelompok proyek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4 kelompok sah (1 belum bernama) · 9 orang belum berkelompok → dikunci hari ini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Catatan umpan balik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800">
                <a:solidFill>
                  <a:srgbClr val="1A1F2B"/>
                </a:solidFill>
              </a:rPr>
              <a:t>•  </a:t>
            </a:r>
            <a:r>
              <a:rPr sz="1800" b="1">
                <a:solidFill>
                  <a:srgbClr val="102545"/>
                </a:solidFill>
              </a:rPr>
              <a:t>Tugas 1</a:t>
            </a:r>
            <a:r>
              <a:rPr sz="1800">
                <a:solidFill>
                  <a:srgbClr val="1A1F2B"/>
                </a:solidFill>
              </a:rPr>
              <a:t> — sebelum mengunggah, cek dua hal yang paling sering terlupa: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5A6372"/>
                </a:solidFill>
              </a:rPr>
              <a:t>–  </a:t>
            </a:r>
            <a:r>
              <a:rPr sz="1500" b="1">
                <a:solidFill>
                  <a:srgbClr val="102545"/>
                </a:solidFill>
              </a:rPr>
              <a:t>Anotasi</a:t>
            </a:r>
            <a:r>
              <a:rPr sz="1500">
                <a:solidFill>
                  <a:srgbClr val="5A6372"/>
                </a:solidFill>
              </a:rPr>
              <a:t>: panah + satu kalimat </a:t>
            </a:r>
            <a:r>
              <a:rPr sz="1500" i="1">
                <a:solidFill>
                  <a:srgbClr val="5A6372"/>
                </a:solidFill>
              </a:rPr>
              <a:t>kenapa</a:t>
            </a:r>
            <a:r>
              <a:rPr sz="1500">
                <a:solidFill>
                  <a:srgbClr val="5A6372"/>
                </a:solidFill>
              </a:rPr>
              <a:t> elemen itu diletakkan di sana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5A6372"/>
                </a:solidFill>
              </a:rPr>
              <a:t>–  </a:t>
            </a:r>
            <a:r>
              <a:rPr sz="1500" b="1">
                <a:solidFill>
                  <a:srgbClr val="102545"/>
                </a:solidFill>
              </a:rPr>
              <a:t>Paragraf alasan</a:t>
            </a:r>
            <a:r>
              <a:rPr sz="1500">
                <a:solidFill>
                  <a:srgbClr val="5A6372"/>
                </a:solidFill>
              </a:rPr>
              <a:t>: hierarki visual, konsistensi, keterbacaan — tulis alasannya, bukan deskripsi gambarnya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5A6372"/>
                </a:solidFill>
              </a:rPr>
              <a:t>–  Bobot Tugas 1 = </a:t>
            </a:r>
            <a:r>
              <a:rPr sz="1500" b="1">
                <a:solidFill>
                  <a:srgbClr val="102545"/>
                </a:solidFill>
              </a:rPr>
              <a:t>3%</a:t>
            </a:r>
            <a:r>
              <a:rPr sz="1500">
                <a:solidFill>
                  <a:srgbClr val="5A6372"/>
                </a:solidFill>
              </a:rPr>
              <a:t> sesuai Kontrak Kuliah (slide P1 sempat menulis 5% — itu angka RPS per blok minggu)</a:t>
            </a:r>
          </a:p>
          <a:p>
            <a:pPr>
              <a:spcBef>
                <a:spcPts val="1100"/>
              </a:spcBef>
            </a:pPr>
            <a:r>
              <a:rPr sz="1800">
                <a:solidFill>
                  <a:srgbClr val="1A1F2B"/>
                </a:solidFill>
              </a:rPr>
              <a:t>•  </a:t>
            </a:r>
            <a:r>
              <a:rPr sz="1800" b="1">
                <a:solidFill>
                  <a:srgbClr val="102545"/>
                </a:solidFill>
              </a:rPr>
              <a:t>Perkenalan</a:t>
            </a:r>
            <a:r>
              <a:rPr sz="1800">
                <a:solidFill>
                  <a:srgbClr val="1A1F2B"/>
                </a:solidFill>
              </a:rPr>
              <a:t> — yang masuk baru memuat </a:t>
            </a:r>
            <a:r>
              <a:rPr sz="1800" b="1">
                <a:solidFill>
                  <a:srgbClr val="102545"/>
                </a:solidFill>
              </a:rPr>
              <a:t>identitas administratif</a:t>
            </a:r>
            <a:r>
              <a:rPr sz="1800">
                <a:solidFill>
                  <a:srgbClr val="1A1F2B"/>
                </a:solidFill>
              </a:rPr>
              <a:t> (nama, asal, status, prodi, NRP)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5A6372"/>
                </a:solidFill>
              </a:rPr>
              <a:t>–  Perkenalan yang berguna untuk membentuk kelompok menambahkan: </a:t>
            </a:r>
            <a:r>
              <a:rPr sz="1500" b="1">
                <a:solidFill>
                  <a:srgbClr val="102545"/>
                </a:solidFill>
              </a:rPr>
              <a:t>minat</a:t>
            </a:r>
            <a:r>
              <a:rPr sz="1500">
                <a:solidFill>
                  <a:srgbClr val="5A6372"/>
                </a:solidFill>
              </a:rPr>
              <a:t> (desain, front-end, back-end), </a:t>
            </a:r>
            <a:r>
              <a:rPr sz="1500" b="1">
                <a:solidFill>
                  <a:srgbClr val="102545"/>
                </a:solidFill>
              </a:rPr>
              <a:t>pengalaman</a:t>
            </a:r>
            <a:r>
              <a:rPr sz="1500">
                <a:solidFill>
                  <a:srgbClr val="5A6372"/>
                </a:solidFill>
              </a:rPr>
              <a:t> (proyek atau alat yang pernah dipakai), dan </a:t>
            </a:r>
            <a:r>
              <a:rPr sz="1500" b="1">
                <a:solidFill>
                  <a:srgbClr val="102545"/>
                </a:solidFill>
              </a:rPr>
              <a:t>harapan</a:t>
            </a:r>
            <a:r>
              <a:rPr sz="1500">
                <a:solidFill>
                  <a:srgbClr val="5A6372"/>
                </a:solidFill>
              </a:rPr>
              <a:t> dari proyek semester ini</a:t>
            </a:r>
          </a:p>
          <a:p>
            <a:pPr lvl="1">
              <a:spcBef>
                <a:spcPts val="300"/>
              </a:spcBef>
            </a:pPr>
            <a:r>
              <a:rPr sz="1500">
                <a:solidFill>
                  <a:srgbClr val="5A6372"/>
                </a:solidFill>
              </a:rPr>
              <a:t>–  </a:t>
            </a:r>
            <a:r>
              <a:rPr sz="1500" i="1">
                <a:solidFill>
                  <a:srgbClr val="5A6372"/>
                </a:solidFill>
              </a:rPr>
              <a:t>Contoh: "Lebih nyaman di front-end, pernah membuat landing page dengan HTML/CSS, ingin proyek yang mengurangi antrean di kantin kampus."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800">
                <a:solidFill>
                  <a:srgbClr val="1A1F2B"/>
                </a:solidFill>
              </a:rPr>
              <a:t>•  Perkenalan yang sudah masuk boleh </a:t>
            </a:r>
            <a:r>
              <a:rPr sz="1800" b="1">
                <a:solidFill>
                  <a:srgbClr val="102545"/>
                </a:solidFill>
              </a:rPr>
              <a:t>disunting untuk dilengkapi</a:t>
            </a:r>
            <a:r>
              <a:rPr sz="1800">
                <a:solidFill>
                  <a:srgbClr val="1A1F2B"/>
                </a:solidFill>
              </a:rPr>
              <a:t> — dan yang belum, silakan mengisi dengan format ini.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Kelompok: status per 17 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Aturan: minimal 2, maksimal 4 orang per kelompok, tetap sampai akhir semester.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779"/>
                <a:gridCol w="5859018"/>
                <a:gridCol w="2751963"/>
              </a:tblGrid>
              <a:tr h="38927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Kelompok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Anggota tercatat di sheet KELOMPOK AP 1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RAWON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Andrean (ketua), Jovan, Jeremiah, Devan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Sah · 4 — penuh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JOSJIS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Bobby (ketua), Tyo, Geraldy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Sah · 3 — sisa 1 kursi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QWERTY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Daffa (ketua — NRP belum ditulis), Marchel, Jibril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Sah · 3 — sisa 1 kursi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(belum bernama)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Rizkia, Kirana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Sah · 2 — butuh nama; sisa 2 kursi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Sendiri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Notopianus Muyapa · Tekiu Newegalen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Belum berkelompok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02545"/>
                          </a:solidFill>
                        </a:defRPr>
                      </a:pPr>
                      <a:r>
                        <a:t>Belum tercatat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Firmanda Sulistyono, Mochammad Feyza Maulana, Shidqi Andriyanto Darman, Yudha Abi Krisnanda, Felix Khancitra Subekti, Setya Iqbal Putra Candra, Ferdi Alexander Kiwak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F2B"/>
                          </a:solidFill>
                        </a:defRPr>
                      </a:pPr>
                      <a:r>
                        <a:t>Belum berkelompok (7 orang)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257800"/>
            <a:ext cx="10652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500" b="1">
                <a:solidFill>
                  <a:srgbClr val="102545"/>
                </a:solidFill>
              </a:rPr>
              <a:t>Aritmetika:</a:t>
            </a:r>
            <a:r>
              <a:rPr sz="1500">
                <a:solidFill>
                  <a:srgbClr val="1A1F2B"/>
                </a:solidFill>
              </a:rPr>
              <a:t> 4 kursi kosong di kelompok lama → minimal </a:t>
            </a:r>
            <a:r>
              <a:rPr sz="1500" b="1">
                <a:solidFill>
                  <a:srgbClr val="102545"/>
                </a:solidFill>
              </a:rPr>
              <a:t>5 orang membentuk kelompok baru</a:t>
            </a:r>
            <a:r>
              <a:rPr sz="1500">
                <a:solidFill>
                  <a:srgbClr val="1A1F2B"/>
                </a:solidFill>
              </a:rPr>
              <a:t> (mis. 3 + 2) — atau 9 orang menjadi 3 kelompok baru.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102545"/>
                </a:solidFill>
              </a:rPr>
              <a:t>Aksi:</a:t>
            </a:r>
            <a:r>
              <a:rPr sz="1500">
                <a:solidFill>
                  <a:srgbClr val="1A1F2B"/>
                </a:solidFill>
              </a:rPr>
              <a:t> dikunci di kelas hari ini (10 menit pertama studio) → sheet diperbarui </a:t>
            </a:r>
            <a:r>
              <a:rPr sz="1500" b="1">
                <a:solidFill>
                  <a:srgbClr val="102545"/>
                </a:solidFill>
              </a:rPr>
              <a:t>sebelum kelas bubar</a:t>
            </a:r>
            <a:r>
              <a:rPr sz="1500">
                <a:solidFill>
                  <a:srgbClr val="1A1F2B"/>
                </a:solidFill>
              </a:rPr>
              <a:t> → unggah Tugas 1b. Kolom </a:t>
            </a:r>
            <a:r>
              <a:rPr sz="1500" b="1">
                <a:solidFill>
                  <a:srgbClr val="102545"/>
                </a:solidFill>
              </a:rPr>
              <a:t>Topik 1–3</a:t>
            </a:r>
            <a:r>
              <a:rPr sz="1500">
                <a:solidFill>
                  <a:srgbClr val="1A1F2B"/>
                </a:solidFill>
              </a:rPr>
              <a:t> semua kelompok masih kosong → isi sebelum Tugas 2b.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Alur 100 menit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Urutan ini mengikuti peta Modul Mandiri Pertemuan 2 di Google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Hook</a:t>
            </a:r>
            <a:r>
              <a:rPr sz="2000">
                <a:solidFill>
                  <a:srgbClr val="1A1F2B"/>
                </a:solidFill>
              </a:rPr>
              <a:t> — tombol kecil itu biaya, bukan selera · 5'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Mini-lecture</a:t>
            </a:r>
            <a:r>
              <a:rPr sz="2000">
                <a:solidFill>
                  <a:srgbClr val="1A1F2B"/>
                </a:solidFill>
              </a:rPr>
              <a:t> — lima prinsip ergonomi &amp; aksesibilitas + tiga cek cepat · 25'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Studio</a:t>
            </a:r>
            <a:r>
              <a:rPr sz="2000">
                <a:solidFill>
                  <a:srgbClr val="1A1F2B"/>
                </a:solidFill>
              </a:rPr>
              <a:t> — kunci kelompok → audit wireframe P1 → revisi → ideasi proyek · 55'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Debrief</a:t>
            </a:r>
            <a:r>
              <a:rPr sz="2000">
                <a:solidFill>
                  <a:srgbClr val="1A1F2B"/>
                </a:solidFill>
              </a:rPr>
              <a:t> — dua kelompok memaparkan satu ide dalam 60 detik · 10'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Exit-ticket</a:t>
            </a:r>
            <a:r>
              <a:rPr sz="2000">
                <a:solidFill>
                  <a:srgbClr val="1A1F2B"/>
                </a:solidFill>
              </a:rPr>
              <a:t> — tiga pertanyaan refleksi di eBelajar · 5'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Bawa wireframe Tugas 1 Anda — kertas atau Figma. Itu bahan kerja studio hari 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240280"/>
            <a:ext cx="128016" cy="201168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48840"/>
            <a:ext cx="9966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02545"/>
                </a:solidFill>
              </a:defRPr>
            </a:pPr>
            <a:r>
              <a:t>Tombol yang terlalu kecil</a:t>
            </a:r>
            <a:br/>
            <a:r>
              <a:t>bukan soal selera.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434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A6372"/>
                </a:solidFill>
              </a:defRPr>
            </a:pPr>
            <a:r>
              <a:t>Itu biaya yang dibayar pengguna — setiap kali ia meleset, mengulang, atau menyerah. Hari ini kita belajar melihat biaya itu, lalu memperbaikinya di wireframe Anda sendiri.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Capaian pertemuan ini (Sub-CPMK0922)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Empat tujuan ini diambil langsung dari Modul Mandiri P2 — dan menjadi dasar Tugas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Menjelaskan prinsip </a:t>
            </a:r>
            <a:r>
              <a:rPr sz="2000" b="1">
                <a:solidFill>
                  <a:srgbClr val="102545"/>
                </a:solidFill>
              </a:rPr>
              <a:t>ergonomi digital</a:t>
            </a:r>
            <a:r>
              <a:rPr sz="2000">
                <a:solidFill>
                  <a:srgbClr val="1A1F2B"/>
                </a:solidFill>
              </a:rPr>
              <a:t> dan </a:t>
            </a:r>
            <a:r>
              <a:rPr sz="2000" b="1">
                <a:solidFill>
                  <a:srgbClr val="102545"/>
                </a:solidFill>
              </a:rPr>
              <a:t>aksesibilitas</a:t>
            </a:r>
            <a:r>
              <a:rPr sz="2000">
                <a:solidFill>
                  <a:srgbClr val="1A1F2B"/>
                </a:solidFill>
              </a:rPr>
              <a:t> pada UI berbasis web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Menerapkan prinsip tersebut untuk </a:t>
            </a:r>
            <a:r>
              <a:rPr sz="2000" b="1">
                <a:solidFill>
                  <a:srgbClr val="102545"/>
                </a:solidFill>
              </a:rPr>
              <a:t>memperbaiki wireframe</a:t>
            </a:r>
            <a:r>
              <a:rPr sz="2000">
                <a:solidFill>
                  <a:srgbClr val="1A1F2B"/>
                </a:solidFill>
              </a:rPr>
              <a:t> hasil Pertemuan 1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Menghasilkan </a:t>
            </a:r>
            <a:r>
              <a:rPr sz="2000" b="1">
                <a:solidFill>
                  <a:srgbClr val="102545"/>
                </a:solidFill>
              </a:rPr>
              <a:t>1–2 ide proyek awal</a:t>
            </a:r>
            <a:r>
              <a:rPr sz="2000">
                <a:solidFill>
                  <a:srgbClr val="1A1F2B"/>
                </a:solidFill>
              </a:rPr>
              <a:t>: definisi masalah, target pengguna, hipotesis nilai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Menyusun </a:t>
            </a:r>
            <a:r>
              <a:rPr sz="2000" b="1">
                <a:solidFill>
                  <a:srgbClr val="102545"/>
                </a:solidFill>
              </a:rPr>
              <a:t>rencana langkah berikutnya</a:t>
            </a:r>
            <a:r>
              <a:rPr sz="2000">
                <a:solidFill>
                  <a:srgbClr val="1A1F2B"/>
                </a:solidFill>
              </a:rPr>
              <a:t> untuk validasi ide di Pertemuan 3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Selesai berarti:</a:t>
            </a:r>
            <a:r>
              <a:rPr sz="2000">
                <a:solidFill>
                  <a:srgbClr val="1A1F2B"/>
                </a:solidFill>
              </a:rPr>
              <a:t> audit + wireframe revisi terunggah, dokumen ide proyek terunggah, rubrik ≥ 70/100.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Bahan belajar di Drive — Pertemuan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Tautan ada di slide terakhir. eBelajar hanya menautkan — satu salinan di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Modul Mandiri Pertemuan 2 (PDF)</a:t>
            </a:r>
            <a:r>
              <a:rPr sz="2000">
                <a:solidFill>
                  <a:srgbClr val="1A1F2B"/>
                </a:solidFill>
              </a:rPr>
              <a:t> — materi, tiga praktik terarah, penugasan, rubrik, kuis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Video </a:t>
            </a:r>
            <a:r>
              <a:rPr sz="2000" b="1">
                <a:solidFill>
                  <a:srgbClr val="102545"/>
                </a:solidFill>
              </a:rPr>
              <a:t>Bedah Ergonomi &amp; Aksesibilitas UI</a:t>
            </a:r>
            <a:r>
              <a:rPr sz="2000">
                <a:solidFill>
                  <a:srgbClr val="1A1F2B"/>
                </a:solidFill>
              </a:rPr>
              <a:t> — dari ide proyek hingga perbaikan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Video </a:t>
            </a:r>
            <a:r>
              <a:rPr sz="2000" b="1">
                <a:solidFill>
                  <a:srgbClr val="102545"/>
                </a:solidFill>
              </a:rPr>
              <a:t>Rahasia Desain Aplikasi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Estimasi belajar mandiri: </a:t>
            </a:r>
            <a:r>
              <a:rPr sz="2000" b="1">
                <a:solidFill>
                  <a:srgbClr val="102545"/>
                </a:solidFill>
              </a:rPr>
              <a:t>120–150 menit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Rujukan: Olsen, </a:t>
            </a:r>
            <a:r>
              <a:rPr sz="2000" i="1">
                <a:solidFill>
                  <a:srgbClr val="1A1F2B"/>
                </a:solidFill>
              </a:rPr>
              <a:t>The Lean Product Playbook</a:t>
            </a:r>
            <a:r>
              <a:rPr sz="2000">
                <a:solidFill>
                  <a:srgbClr val="1A1F2B"/>
                </a:solidFill>
              </a:rPr>
              <a:t> (2015) · Ries, </a:t>
            </a:r>
            <a:r>
              <a:rPr sz="2000" i="1">
                <a:solidFill>
                  <a:srgbClr val="1A1F2B"/>
                </a:solidFill>
              </a:rPr>
              <a:t>The Lean Startup</a:t>
            </a:r>
            <a:r>
              <a:rPr sz="2000">
                <a:solidFill>
                  <a:srgbClr val="1A1F2B"/>
                </a:solidFill>
              </a:rPr>
              <a:t> (2011) · Knapp dkk., </a:t>
            </a:r>
            <a:r>
              <a:rPr sz="2000" i="1">
                <a:solidFill>
                  <a:srgbClr val="1A1F2B"/>
                </a:solidFill>
              </a:rPr>
              <a:t>Sprint</a:t>
            </a:r>
            <a:r>
              <a:rPr sz="2000">
                <a:solidFill>
                  <a:srgbClr val="1A1F2B"/>
                </a:solidFill>
              </a:rPr>
              <a:t> (2016)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1 · 25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Ergonomi &amp; Aksesibilitas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Ergonomi: nyaman, efisien, aman dipakai · Aksesibilitas: bisa dipakai sebanyak mungkin orang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1 — Target sentuh dan spasi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Elemen interaktif </a:t>
            </a:r>
            <a:r>
              <a:rPr sz="1900" b="1">
                <a:solidFill>
                  <a:srgbClr val="102545"/>
                </a:solidFill>
              </a:rPr>
              <a:t>mudah disentuh</a:t>
            </a:r>
            <a:r>
              <a:rPr sz="1900">
                <a:solidFill>
                  <a:srgbClr val="1A1F2B"/>
                </a:solidFill>
              </a:rPr>
              <a:t> dan </a:t>
            </a:r>
            <a:r>
              <a:rPr sz="1900" b="1">
                <a:solidFill>
                  <a:srgbClr val="102545"/>
                </a:solidFill>
              </a:rPr>
              <a:t>tidak berdempetan</a:t>
            </a:r>
            <a:r>
              <a:rPr sz="1900">
                <a:solidFill>
                  <a:srgbClr val="1A1F2B"/>
                </a:solidFill>
              </a:rPr>
              <a:t> berlebihan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Jarak dan ukuran tombol </a:t>
            </a:r>
            <a:r>
              <a:rPr sz="1900" b="1">
                <a:solidFill>
                  <a:srgbClr val="102545"/>
                </a:solidFill>
              </a:rPr>
              <a:t>konsisten</a:t>
            </a:r>
            <a:r>
              <a:rPr sz="1900">
                <a:solidFill>
                  <a:srgbClr val="1A1F2B"/>
                </a:solidFill>
              </a:rPr>
              <a:t> antar layar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Fitts's Law</a:t>
            </a:r>
            <a:r>
              <a:rPr sz="1900">
                <a:solidFill>
                  <a:srgbClr val="1A1F2B"/>
                </a:solidFill>
              </a:rPr>
              <a:t> — makin besar dan makin dekat sebuah target, makin cepat ia dicapai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Tombol aksi utama: besar, dan dekat tempat mata/jari pengguna berada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Target sentuh </a:t>
            </a:r>
            <a:r>
              <a:rPr sz="1900" b="1">
                <a:solidFill>
                  <a:srgbClr val="102545"/>
                </a:solidFill>
              </a:rPr>
              <a:t>≥ 44 px</a:t>
            </a:r>
            <a:r>
              <a:rPr sz="1900">
                <a:solidFill>
                  <a:srgbClr val="1A1F2B"/>
                </a:solidFill>
              </a:rPr>
              <a:t> — tombol kecil adalah biaya bagi pengguna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Zona ibu jari</a:t>
            </a:r>
            <a:r>
              <a:rPr sz="1900">
                <a:solidFill>
                  <a:srgbClr val="1A1F2B"/>
                </a:solidFill>
              </a:rPr>
              <a:t> — di ponsel, area paling nyaman ada di bagian bawah layar; aksi penting jangan di pojok atas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2 — Konteks dan umpan balik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Sistem memberi </a:t>
            </a:r>
            <a:r>
              <a:rPr sz="1900" b="1">
                <a:solidFill>
                  <a:srgbClr val="102545"/>
                </a:solidFill>
              </a:rPr>
              <a:t>umpan balik jelas</a:t>
            </a:r>
            <a:r>
              <a:rPr sz="1900">
                <a:solidFill>
                  <a:srgbClr val="1A1F2B"/>
                </a:solidFill>
              </a:rPr>
              <a:t> untuk setiap klik, proses, dan error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Tombol ditekan → terlihat ditekan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Proses berjalan → ada tanda sedang memuat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Gagal → pesan yang menjelaskan apa yang terjadi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Navigasi dan status langkah</a:t>
            </a:r>
            <a:r>
              <a:rPr sz="1900">
                <a:solidFill>
                  <a:srgbClr val="1A1F2B"/>
                </a:solidFill>
              </a:rPr>
              <a:t> mudah dilacak pengguna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Di mana saya sekarang? Tinggal berapa langkah lagi?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Diam adalah umpan balik terburuk: pengguna menekan ulang, lalu datanya terkirim dua kali.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3 — Beban kognitif rendah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Hindari pilihan berlebihan</a:t>
            </a:r>
            <a:r>
              <a:rPr sz="2000">
                <a:solidFill>
                  <a:srgbClr val="1A1F2B"/>
                </a:solidFill>
              </a:rPr>
              <a:t> pada satu layar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Gunakan </a:t>
            </a:r>
            <a:r>
              <a:rPr sz="2000" b="1">
                <a:solidFill>
                  <a:srgbClr val="102545"/>
                </a:solidFill>
              </a:rPr>
              <a:t>pola yang dapat diprediksi</a:t>
            </a:r>
            <a:r>
              <a:rPr sz="2000">
                <a:solidFill>
                  <a:srgbClr val="1A1F2B"/>
                </a:solidFill>
              </a:rPr>
              <a:t> dan </a:t>
            </a:r>
            <a:r>
              <a:rPr sz="2000" b="1">
                <a:solidFill>
                  <a:srgbClr val="102545"/>
                </a:solidFill>
              </a:rPr>
              <a:t>istilah yang familiar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Tugas yang sama selesaikan dengan </a:t>
            </a:r>
            <a:r>
              <a:rPr sz="2000" b="1">
                <a:solidFill>
                  <a:srgbClr val="102545"/>
                </a:solidFill>
              </a:rPr>
              <a:t>langkah seringan mungkin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Setiap langkah ekstra adalah kesempatan pengguna menyerah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Uji sederhana: bisakah orang yang </a:t>
            </a:r>
            <a:r>
              <a:rPr sz="2000" b="1">
                <a:solidFill>
                  <a:srgbClr val="102545"/>
                </a:solidFill>
              </a:rPr>
              <a:t>baru pertama kali</a:t>
            </a:r>
            <a:r>
              <a:rPr sz="2000">
                <a:solidFill>
                  <a:srgbClr val="1A1F2B"/>
                </a:solidFill>
              </a:rPr>
              <a:t> membuka layar ini menyebutkan apa yang harus ia lakukan — dalam lima detik?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4 — Responsif dan toleran terhadap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Tata letak </a:t>
            </a:r>
            <a:r>
              <a:rPr sz="1900" b="1">
                <a:solidFill>
                  <a:srgbClr val="102545"/>
                </a:solidFill>
              </a:rPr>
              <a:t>menyesuaikan berbagai ukuran layar</a:t>
            </a:r>
            <a:r>
              <a:rPr sz="1900">
                <a:solidFill>
                  <a:srgbClr val="1A1F2B"/>
                </a:solidFill>
              </a:rPr>
              <a:t> — ponsel, tablet, laptop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Form </a:t>
            </a:r>
            <a:r>
              <a:rPr sz="1900" b="1">
                <a:solidFill>
                  <a:srgbClr val="102545"/>
                </a:solidFill>
              </a:rPr>
              <a:t>mencegah kesalahan</a:t>
            </a:r>
            <a:r>
              <a:rPr sz="1900">
                <a:solidFill>
                  <a:srgbClr val="1A1F2B"/>
                </a:solidFill>
              </a:rPr>
              <a:t> sebelum terjadi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Format jelas di awal, pilihan dibatasi bila memang terbatas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Saat salah, beri </a:t>
            </a:r>
            <a:r>
              <a:rPr sz="1900" b="1">
                <a:solidFill>
                  <a:srgbClr val="102545"/>
                </a:solidFill>
              </a:rPr>
              <a:t>saran perbaikan yang spesifik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Bukan "Input tidak valid", melainkan "Nomor HP diawali 08 dan berisi 10–13 angka"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Relevan langsung dengan stack semester ini: komponen </a:t>
            </a:r>
            <a:r>
              <a:rPr sz="1900" b="1">
                <a:solidFill>
                  <a:srgbClr val="102545"/>
                </a:solidFill>
              </a:rPr>
              <a:t>React</a:t>
            </a:r>
            <a:r>
              <a:rPr sz="1900">
                <a:solidFill>
                  <a:srgbClr val="1A1F2B"/>
                </a:solidFill>
              </a:rPr>
              <a:t> yang Anda bangun di Pertemuan 4–5 harus mewarisi aturan ini.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Prinsip 5 — Aksesibilitas 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Aksesibilitas bukan fitur tambahan. Ia kualitas yang menentukan siapa yang bisa masuk.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Kontras memadai</a:t>
            </a:r>
            <a:r>
              <a:rPr sz="1900">
                <a:solidFill>
                  <a:srgbClr val="1A1F2B"/>
                </a:solidFill>
              </a:rPr>
              <a:t> antara teks dan latar — acuan WCAG: </a:t>
            </a:r>
            <a:r>
              <a:rPr sz="1900" b="1">
                <a:solidFill>
                  <a:srgbClr val="102545"/>
                </a:solidFill>
              </a:rPr>
              <a:t>4.5:1</a:t>
            </a:r>
            <a:r>
              <a:rPr sz="1900">
                <a:solidFill>
                  <a:srgbClr val="1A1F2B"/>
                </a:solidFill>
              </a:rPr>
              <a:t> untuk teks biasa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Jangan andalkan warna saja</a:t>
            </a:r>
            <a:r>
              <a:rPr sz="1900">
                <a:solidFill>
                  <a:srgbClr val="1A1F2B"/>
                </a:solidFill>
              </a:rPr>
              <a:t> — status merah/hijau tidak terbaca oleh pengguna buta warna; tambahkan ikon atau teks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Teks alternatif</a:t>
            </a:r>
            <a:r>
              <a:rPr sz="1900">
                <a:solidFill>
                  <a:srgbClr val="1A1F2B"/>
                </a:solidFill>
              </a:rPr>
              <a:t> untuk gambar yang bermakna — pembaca layar menggantikan mata pengguna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Fokus keyboard</a:t>
            </a:r>
            <a:r>
              <a:rPr sz="1900">
                <a:solidFill>
                  <a:srgbClr val="1A1F2B"/>
                </a:solidFill>
              </a:rPr>
              <a:t> dan </a:t>
            </a:r>
            <a:r>
              <a:rPr sz="1900" b="1">
                <a:solidFill>
                  <a:srgbClr val="102545"/>
                </a:solidFill>
              </a:rPr>
              <a:t>urutan navigasi yang logis</a:t>
            </a:r>
            <a:r>
              <a:rPr sz="1900">
                <a:solidFill>
                  <a:srgbClr val="1A1F2B"/>
                </a:solidFill>
              </a:rPr>
              <a:t> — banyak orang tidak memakai mouse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Ukuran huruf fleksibel</a:t>
            </a:r>
            <a:r>
              <a:rPr sz="1900">
                <a:solidFill>
                  <a:srgbClr val="1A1F2B"/>
                </a:solidFill>
              </a:rPr>
              <a:t> — rancangan yang rusak saat huruf diperbesar adalah rancangan yang rapuh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Tiga cek cepat — lakukan pada wireframe 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Tiga cek ini murah, cepat, dan menemukan sebagian besar masalah sebelum ada satu baris kode pun.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325"/>
                <a:gridCol w="3994785"/>
                <a:gridCol w="4438650"/>
              </a:tblGrid>
              <a:tr h="40690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Cek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Caranya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Yang dicari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Grayscale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Lihat rancangan tanpa warna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informasi tetap terbaca?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Zoom 200%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Perbesar tampilan dua kali lipat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tata letak bertahan?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Urutan fokus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Telusuri elemen dengan tombol Tab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urutannya masuk akal?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Mini kuis — jawab dalam hati, 1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i="1">
                <a:solidFill>
                  <a:srgbClr val="5A6372"/>
                </a:solidFill>
              </a:defRPr>
            </a:pPr>
            <a:r>
              <a:t>Soal dari Modul Mandiri P2. Kunci dibahas setelah semua menjawab.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1.</a:t>
            </a:r>
            <a:r>
              <a:rPr sz="1900">
                <a:solidFill>
                  <a:srgbClr val="1A1F2B"/>
                </a:solidFill>
              </a:rPr>
              <a:t> Aksesibilitas terutama memastikan bahwa…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a) warna terlihat cerah · b) aplikasi dapat digunakan oleh beragam pengguna · c) ukuran file kecil · d) server cepat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2.</a:t>
            </a:r>
            <a:r>
              <a:rPr sz="1900">
                <a:solidFill>
                  <a:srgbClr val="1A1F2B"/>
                </a:solidFill>
              </a:rPr>
              <a:t> Indikator beban kognitif rendah: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a) terlalu banyak opsi dalam satu layar · b) pola interaksi konsisten · c) variasi gaya komponen berlebihan · d) istilah teknis tanpa penjelasan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3.</a:t>
            </a:r>
            <a:r>
              <a:rPr sz="1900">
                <a:solidFill>
                  <a:srgbClr val="1A1F2B"/>
                </a:solidFill>
              </a:rPr>
              <a:t> Saat audit ergonomi, prioritas pertama adalah…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a) memperbanyak ikon · b) menambah teks · c) memperbaiki navigasi dan aksi utama · d) membuat animasi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2 · 55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Kunci kelompok → audit → revisi → ideasi proyek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Studio hari ini — 55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Di modul, tiap praktik 30–45 menit. Di kelas kita mulai bersama; sisanya selesai sebagai Tugas 2.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0368"/>
                <a:gridCol w="5681472"/>
                <a:gridCol w="3550920"/>
              </a:tblGrid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Menit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Kegiatan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t>Hasil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0–10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Kunci kelompok (2–4 orang) — perbarui sheet KELOMPOK AP 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Nama, ketua, anggota final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10–22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Praktik A — audit ergonomi wireframe 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Tabel ≥ 5 temuan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22–35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Praktik B — revisi wireframe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3–5 perbaikan + catatan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102545"/>
                          </a:solidFill>
                        </a:defRPr>
                      </a:pPr>
                      <a:r>
                        <a:t>35–55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Praktik C — ideasi proyek per kelompok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A1F2B"/>
                          </a:solidFill>
                        </a:defRPr>
                      </a:pPr>
                      <a:r>
                        <a:t>1–2 ide, format 7 butir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Praktik A — daftar cek audit ergonomi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Buka atau cetak wireframe Tugas 1. Nilai satu per satu — jangan dari ingatan.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30"/>
                <a:gridCol w="9765030"/>
              </a:tblGrid>
              <a:tr h="38927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Pertanyaan untuk wireframe P1 Anda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tombol utama terlihat menonjol dan mudah dijangkau?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jarak antar elemen interaktif cukup?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navigasi selalu berada di lokasi yang sama di setiap layar?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pesan error dan status sistem tampak dan mudah dipahami?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kontras teks terhadap latar memadai?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9274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Apakah urutan tab/fokus mudah diprediksi?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Praktik A — bentuk tabel temuan (minimal 5 baris)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Contoh baris di bawah hanya ilustrasi format — temuan Anda harus berasal dari wireframe Anda sendiri.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39867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Masalah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Dampak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Usulan perbaikan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Tiga tombol sama besar di beranda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Pengguna ragu mana aksi utamanya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Satu tombol utama dibuat paling menonjol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Tombol keranjang di pojok kanan atas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Sulit dijangkau ibu jari di ponsel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Pindahkan ke bilah bawah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867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Teks abu muda di latar putih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Sulit dibaca, terutama di luar ruangan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Pertegas warna teks sampai kontras cukup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86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Praktik B — revisi wireframe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Pilih 3–5 perbaikan prioritas</a:t>
            </a:r>
            <a:r>
              <a:rPr sz="1900">
                <a:solidFill>
                  <a:srgbClr val="1A1F2B"/>
                </a:solidFill>
              </a:rPr>
              <a:t> dari tabel audit — tidak semuanya harus dikerjakan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Mulai dari </a:t>
            </a:r>
            <a:r>
              <a:rPr sz="1600" b="1">
                <a:solidFill>
                  <a:srgbClr val="102545"/>
                </a:solidFill>
              </a:rPr>
              <a:t>navigasi dan aksi utama</a:t>
            </a:r>
            <a:r>
              <a:rPr sz="1600">
                <a:solidFill>
                  <a:srgbClr val="5A6372"/>
                </a:solidFill>
              </a:rPr>
              <a:t> (ingat kuis nomor 3)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Revisi wireframe: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perjelas hierarki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perbesar area interaktif yang perlu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perbaiki kontras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Tambahkan catatan</a:t>
            </a:r>
            <a:r>
              <a:rPr sz="1900">
                <a:solidFill>
                  <a:srgbClr val="1A1F2B"/>
                </a:solidFill>
              </a:rPr>
              <a:t> pada wireframe: apa yang berubah, dan </a:t>
            </a:r>
            <a:r>
              <a:rPr sz="1900" b="1">
                <a:solidFill>
                  <a:srgbClr val="102545"/>
                </a:solidFill>
              </a:rPr>
              <a:t>kenapa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Output: wireframe revisi + catatan perubahan (PDF/PNG). Rubrik: 30 poin — komponen terbesar.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Praktik C — format ide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1–2 ide per kelompok, maksimal 1 halaman per ide. Sertakan daftar anggota dan peran singkat.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184"/>
                <a:gridCol w="3373374"/>
                <a:gridCol w="6569202"/>
              </a:tblGrid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Bagian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Isi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Judul sementara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Nama kerja + deskripsi singkat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Pernyataan masalah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Siapa pengguna, konteksnya, kendala utamanya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Target pengguna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Persona mini: tujuan utama, kebiasaan, perangkat utama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Hipotesis nilai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Manfaat utama yang dijanjikan kepada pengguna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Fitur inti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3–5 poin yang langsung mengatasi masalah inti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Risiko &amp; asumsi kritis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Apa yang paling perlu diverifikasi lebih dulu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633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02545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Metrik awal keberhasilan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A1F2B"/>
                          </a:solidFill>
                        </a:defRPr>
                      </a:pPr>
                      <a:r>
                        <a:t>Contoh metrik sederhana yang bisa diukur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Ide yang baik bukan yang paling keren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Masalah nyata</a:t>
            </a:r>
            <a:r>
              <a:rPr sz="1900">
                <a:solidFill>
                  <a:srgbClr val="1A1F2B"/>
                </a:solidFill>
              </a:rPr>
              <a:t> — dialami sendiri atau lingkungan sekitar; hindari klon aplikasi populer tanpa alasan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Pengguna jelas</a:t>
            </a:r>
            <a:r>
              <a:rPr sz="1900">
                <a:solidFill>
                  <a:srgbClr val="1A1F2B"/>
                </a:solidFill>
              </a:rPr>
              <a:t> — satu kalimat: siapa dia, dan apa yang ingin ia capai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Fitur inti sedikit</a:t>
            </a:r>
            <a:r>
              <a:rPr sz="1900">
                <a:solidFill>
                  <a:srgbClr val="1A1F2B"/>
                </a:solidFill>
              </a:rPr>
              <a:t> — yang paling langsung menyelesaikan masalah, bukan daftar sepanjang tangan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Uji paling murah dulu</a:t>
            </a:r>
            <a:r>
              <a:rPr sz="1900">
                <a:solidFill>
                  <a:srgbClr val="1A1F2B"/>
                </a:solidFill>
              </a:rPr>
              <a:t> — wireframe dan calon pengguna, sebelum menulis kode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Sesuai kemampuan tim dan ruang lingkup</a:t>
            </a:r>
            <a:r>
              <a:rPr sz="1900">
                <a:solidFill>
                  <a:srgbClr val="1A1F2B"/>
                </a:solidFill>
              </a:rPr>
              <a:t> — dibangun sebagai web dengan </a:t>
            </a:r>
            <a:r>
              <a:rPr sz="1900" b="1">
                <a:solidFill>
                  <a:srgbClr val="102545"/>
                </a:solidFill>
              </a:rPr>
              <a:t>React + Node.js</a:t>
            </a:r>
            <a:r>
              <a:rPr sz="1900">
                <a:solidFill>
                  <a:srgbClr val="1A1F2B"/>
                </a:solidFill>
              </a:rPr>
              <a:t> dalam satu semester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Kerangka ini mengikuti Dan Olsen, </a:t>
            </a:r>
            <a:r>
              <a:rPr sz="1900" i="1">
                <a:solidFill>
                  <a:srgbClr val="1A1F2B"/>
                </a:solidFill>
              </a:rPr>
              <a:t>The Lean Product Playbook</a:t>
            </a:r>
            <a:r>
              <a:rPr sz="1900">
                <a:solidFill>
                  <a:srgbClr val="1A1F2B"/>
                </a:solidFill>
              </a:rPr>
              <a:t> — rujukan utama Tugas 1–2.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2788920"/>
            <a:ext cx="1463040" cy="91440"/>
          </a:xfrm>
          <a:prstGeom prst="rect">
            <a:avLst/>
          </a:prstGeom>
          <a:solidFill>
            <a:srgbClr val="E6A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A023"/>
                </a:solidFill>
              </a:defRPr>
            </a:pPr>
            <a: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63240"/>
            <a:ext cx="10241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Tugas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9768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C8D4E6"/>
                </a:solidFill>
              </a:defRPr>
            </a:pPr>
            <a:r>
              <a:t>Audit Ergonomi &amp; Ide Proyek (Brainstorming) · bobot 6%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Tugas 2 — apa yang dikumpulkan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2a — Audit ergonomi &amp; revisi wireframe (individu)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Tabel audit minimal 5 temuan → </a:t>
            </a:r>
            <a:r>
              <a:rPr sz="1600" b="1">
                <a:solidFill>
                  <a:srgbClr val="102545"/>
                </a:solidFill>
              </a:rPr>
              <a:t>AP1_P2_NIM_Nama_Audit.pdf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Wireframe revisi + catatan perubahan → </a:t>
            </a:r>
            <a:r>
              <a:rPr sz="1600" b="1">
                <a:solidFill>
                  <a:srgbClr val="102545"/>
                </a:solidFill>
              </a:rPr>
              <a:t>AP1_P2_NIM_Nama_WireframeRevisi.pdf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2b — Ide proyek awal (kelompok)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1–2 ide sesuai format 7 butir + daftar anggota dan peran → </a:t>
            </a:r>
            <a:r>
              <a:rPr sz="1600" b="1">
                <a:solidFill>
                  <a:srgbClr val="102545"/>
                </a:solidFill>
              </a:rPr>
              <a:t>AP1_P2_KelompokX_IdeProyek.pdf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Setiap anggota mengunggah berkas 2b yang sama.</a:t>
            </a:r>
            <a:r>
              <a:rPr sz="1600">
                <a:solidFill>
                  <a:srgbClr val="5A6372"/>
                </a:solidFill>
              </a:rPr>
              <a:t> Aturan "berkas identik = 0" </a:t>
            </a:r>
            <a:r>
              <a:rPr sz="1600" b="1">
                <a:solidFill>
                  <a:srgbClr val="102545"/>
                </a:solidFill>
              </a:rPr>
              <a:t>tidak berlaku</a:t>
            </a:r>
            <a:r>
              <a:rPr sz="1600">
                <a:solidFill>
                  <a:srgbClr val="5A6372"/>
                </a:solidFill>
              </a:rPr>
              <a:t> untuk berkas kelompok ini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Semua lewat </a:t>
            </a:r>
            <a:r>
              <a:rPr sz="1900" b="1">
                <a:solidFill>
                  <a:srgbClr val="102545"/>
                </a:solidFill>
              </a:rPr>
              <a:t>eBelajar → Pertemuan 2 → Tugas 2</a:t>
            </a:r>
            <a:r>
              <a:rPr sz="1900">
                <a:solidFill>
                  <a:srgbClr val="1A1F2B"/>
                </a:solidFill>
              </a:rPr>
              <a:t>, maksimal 5 berkas. Bukan WhatsApp, bukan email.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Rubrik Tugas 2 — total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Kriteria lulus tugas: ≥ 70 poin. Nilai Tugas 2 menyumbang 6% nilai akhir (komponen Observasi).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5276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300"/>
                <a:gridCol w="1775460"/>
              </a:tblGrid>
              <a:tr h="3931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Komponen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Poin</a:t>
                      </a:r>
                    </a:p>
                  </a:txBody>
                  <a:tcPr anchor="ctr">
                    <a:solidFill>
                      <a:srgbClr val="10254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Audit ergonomi: kelengkapan dan ketajaman temuan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Kualitas perbaikan wireframe: penerapan ergonomi &amp; aksesibilitas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Kejelasan ide proyek: masalah, target pengguna, hipotesis nilai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Kelayakan dan fokus fitur inti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02545"/>
                          </a:solidFill>
                        </a:defRPr>
                      </a:pPr>
                      <a:r>
                        <a:t>Kerapian penyajian dan kepatuhan format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A1F2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Tenggat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Dibuka </a:t>
            </a:r>
            <a:r>
              <a:rPr sz="1900" b="1">
                <a:solidFill>
                  <a:srgbClr val="102545"/>
                </a:solidFill>
              </a:rPr>
              <a:t>hari ini</a:t>
            </a:r>
            <a:r>
              <a:rPr sz="1900">
                <a:solidFill>
                  <a:srgbClr val="1A1F2B"/>
                </a:solidFill>
              </a:rPr>
              <a:t>, Kamis 17 September 2026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Tenggat: </a:t>
            </a:r>
            <a:r>
              <a:rPr sz="1900" b="1">
                <a:solidFill>
                  <a:srgbClr val="102545"/>
                </a:solidFill>
              </a:rPr>
              <a:t>Minggu, 27 September 2026, pukul 23.55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Terlambat: </a:t>
            </a:r>
            <a:r>
              <a:rPr sz="1900" b="1">
                <a:solidFill>
                  <a:srgbClr val="102545"/>
                </a:solidFill>
              </a:rPr>
              <a:t>−10% per hari</a:t>
            </a:r>
            <a:r>
              <a:rPr sz="1900">
                <a:solidFill>
                  <a:srgbClr val="1A1F2B"/>
                </a:solidFill>
              </a:rPr>
              <a:t>, maksimal 3 hari; lewat itu dinilai 0 tapi </a:t>
            </a:r>
            <a:r>
              <a:rPr sz="1900" b="1">
                <a:solidFill>
                  <a:srgbClr val="102545"/>
                </a:solidFill>
              </a:rPr>
              <a:t>tetap wajib dikumpulkan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</a:t>
            </a:r>
            <a:r>
              <a:rPr sz="1900" b="1">
                <a:solidFill>
                  <a:srgbClr val="102545"/>
                </a:solidFill>
              </a:rPr>
              <a:t>Catatan jadwal:</a:t>
            </a:r>
            <a:r>
              <a:rPr sz="1900">
                <a:solidFill>
                  <a:srgbClr val="1A1F2B"/>
                </a:solidFill>
              </a:rPr>
              <a:t> di Kontrak Kuliah, Tugas 2 semula tercantum di Pertemuan 3. Dimajukan ke Pertemuan 2 supaya sejalan dengan modul. </a:t>
            </a:r>
            <a:r>
              <a:rPr sz="1900" b="1">
                <a:solidFill>
                  <a:srgbClr val="102545"/>
                </a:solidFill>
              </a:rPr>
              <a:t>Bobotnya tetap 6%</a:t>
            </a:r>
            <a:r>
              <a:rPr sz="1900">
                <a:solidFill>
                  <a:srgbClr val="1A1F2B"/>
                </a:solidFill>
              </a:rPr>
              <a:t>, total tetap 100%.</a:t>
            </a: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Jangan lupa: </a:t>
            </a:r>
            <a:r>
              <a:rPr sz="1900" b="1">
                <a:solidFill>
                  <a:srgbClr val="102545"/>
                </a:solidFill>
              </a:rPr>
              <a:t>Tugas 1 tetap bertenggat Minggu, 20 September 2026, 23.55</a:t>
            </a:r>
            <a:r>
              <a:rPr sz="1900">
                <a:solidFill>
                  <a:srgbClr val="1A1F2B"/>
                </a:solidFill>
              </a:rPr>
              <a:t> — wireframe itulah bahan audit Tugas 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Debrief — 10 menit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Dua kelompok</a:t>
            </a:r>
            <a:r>
              <a:rPr sz="2000">
                <a:solidFill>
                  <a:srgbClr val="1A1F2B"/>
                </a:solidFill>
              </a:rPr>
              <a:t> memaparkan </a:t>
            </a:r>
            <a:r>
              <a:rPr sz="2000" b="1">
                <a:solidFill>
                  <a:srgbClr val="102545"/>
                </a:solidFill>
              </a:rPr>
              <a:t>satu ide</a:t>
            </a:r>
            <a:r>
              <a:rPr sz="2000">
                <a:solidFill>
                  <a:srgbClr val="1A1F2B"/>
                </a:solidFill>
              </a:rPr>
              <a:t> dalam </a:t>
            </a:r>
            <a:r>
              <a:rPr sz="2000" b="1">
                <a:solidFill>
                  <a:srgbClr val="102545"/>
                </a:solidFill>
              </a:rPr>
              <a:t>60 detik</a:t>
            </a:r>
            <a:r>
              <a:rPr sz="2000">
                <a:solidFill>
                  <a:srgbClr val="1A1F2B"/>
                </a:solidFill>
              </a:rPr>
              <a:t>: masalah, pengguna, fitur inti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Kelas menjawab satu pertanyaan untuk tiap ide:</a:t>
            </a:r>
          </a:p>
          <a:p>
            <a:pPr lvl="1">
              <a:spcBef>
                <a:spcPts val="300"/>
              </a:spcBef>
            </a:pPr>
            <a:r>
              <a:rPr sz="1700">
                <a:solidFill>
                  <a:srgbClr val="5A6372"/>
                </a:solidFill>
              </a:rPr>
              <a:t>–  </a:t>
            </a:r>
            <a:r>
              <a:rPr sz="1700" b="1">
                <a:solidFill>
                  <a:srgbClr val="102545"/>
                </a:solidFill>
              </a:rPr>
              <a:t>Asumsi mana yang paling mungkin salah?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Satu orang memperlihatkan </a:t>
            </a:r>
            <a:r>
              <a:rPr sz="2000" b="1">
                <a:solidFill>
                  <a:srgbClr val="102545"/>
                </a:solidFill>
              </a:rPr>
              <a:t>perbaikan wireframe</a:t>
            </a:r>
            <a:r>
              <a:rPr sz="2000">
                <a:solidFill>
                  <a:srgbClr val="1A1F2B"/>
                </a:solidFill>
              </a:rPr>
              <a:t> terbesarnya — sebelum dan sesudah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Tujuannya bukan memilih ide terbaik — melainkan belajar melihat risiko sebelum membangun.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Exit-ticket — sebelum keluar ruangan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Buka </a:t>
            </a:r>
            <a:r>
              <a:rPr sz="1900" b="1">
                <a:solidFill>
                  <a:srgbClr val="102545"/>
                </a:solidFill>
              </a:rPr>
              <a:t>eBelajar → Pertemuan 2 → Exit-ticket Pertemuan 2</a:t>
            </a:r>
            <a:r>
              <a:rPr sz="1900">
                <a:solidFill>
                  <a:srgbClr val="1A1F2B"/>
                </a:solidFill>
              </a:rPr>
              <a:t> (tautan di slide terakhir), balas diskusinya: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Perbaikan apa yang paling </a:t>
            </a:r>
            <a:r>
              <a:rPr sz="1600" b="1">
                <a:solidFill>
                  <a:srgbClr val="102545"/>
                </a:solidFill>
              </a:rPr>
              <a:t>mengurangi beban kognitif</a:t>
            </a:r>
            <a:r>
              <a:rPr sz="1600">
                <a:solidFill>
                  <a:srgbClr val="5A6372"/>
                </a:solidFill>
              </a:rPr>
              <a:t> pada wireframe Anda?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</a:t>
            </a:r>
            <a:r>
              <a:rPr sz="1600" b="1">
                <a:solidFill>
                  <a:srgbClr val="102545"/>
                </a:solidFill>
              </a:rPr>
              <a:t>Asumsi kritis</a:t>
            </a:r>
            <a:r>
              <a:rPr sz="1600">
                <a:solidFill>
                  <a:srgbClr val="5A6372"/>
                </a:solidFill>
              </a:rPr>
              <a:t> apa dalam ide proyek yang harus diverifikasi lebih dulu?</a:t>
            </a:r>
          </a:p>
          <a:p>
            <a:pPr lvl="1">
              <a:spcBef>
                <a:spcPts val="300"/>
              </a:spcBef>
            </a:pPr>
            <a:r>
              <a:rPr sz="1600">
                <a:solidFill>
                  <a:srgbClr val="5A6372"/>
                </a:solidFill>
              </a:rPr>
              <a:t>–  Jika harus </a:t>
            </a:r>
            <a:r>
              <a:rPr sz="1600" b="1">
                <a:solidFill>
                  <a:srgbClr val="102545"/>
                </a:solidFill>
              </a:rPr>
              <a:t>menghapus satu fitur</a:t>
            </a:r>
            <a:r>
              <a:rPr sz="1600">
                <a:solidFill>
                  <a:srgbClr val="5A6372"/>
                </a:solidFill>
              </a:rPr>
              <a:t>, mana yang paling sedikit dampaknya pada nilai untuk pengguna?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1900">
                <a:solidFill>
                  <a:srgbClr val="1A1F2B"/>
                </a:solidFill>
              </a:rPr>
              <a:t>•  Jawaban forum masuk komponen </a:t>
            </a:r>
            <a:r>
              <a:rPr sz="1900" b="1">
                <a:solidFill>
                  <a:srgbClr val="102545"/>
                </a:solidFill>
              </a:rPr>
              <a:t>Partisipatif (10%)</a:t>
            </a:r>
            <a:r>
              <a:rPr sz="1900">
                <a:solidFill>
                  <a:srgbClr val="1A1F2B"/>
                </a:solidFill>
              </a:rPr>
              <a:t>. Forum Perkenalan dan Diskusi Pertemuan 1 juga masih terbuka.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Pertemuan 3 — Estetika dalam desain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Komposisi dan tata letak, </a:t>
            </a:r>
            <a:r>
              <a:rPr sz="2000" b="1">
                <a:solidFill>
                  <a:srgbClr val="102545"/>
                </a:solidFill>
              </a:rPr>
              <a:t>warna</a:t>
            </a:r>
            <a:r>
              <a:rPr sz="2000">
                <a:solidFill>
                  <a:srgbClr val="1A1F2B"/>
                </a:solidFill>
              </a:rPr>
              <a:t>, </a:t>
            </a:r>
            <a:r>
              <a:rPr sz="2000" b="1">
                <a:solidFill>
                  <a:srgbClr val="102545"/>
                </a:solidFill>
              </a:rPr>
              <a:t>tipografi</a:t>
            </a:r>
            <a:r>
              <a:rPr sz="2000">
                <a:solidFill>
                  <a:srgbClr val="1A1F2B"/>
                </a:solidFill>
              </a:rPr>
              <a:t>, ritme visual dan ruang kosong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Mengubah wireframe revisi menjadi </a:t>
            </a:r>
            <a:r>
              <a:rPr sz="2000" b="1">
                <a:solidFill>
                  <a:srgbClr val="102545"/>
                </a:solidFill>
              </a:rPr>
              <a:t>mockup</a:t>
            </a:r>
            <a:r>
              <a:rPr sz="2000">
                <a:solidFill>
                  <a:srgbClr val="1A1F2B"/>
                </a:solidFill>
              </a:rPr>
              <a:t> yang lebih matang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Memadatkan ide proyek menjadi </a:t>
            </a:r>
            <a:r>
              <a:rPr sz="2000" b="1">
                <a:solidFill>
                  <a:srgbClr val="102545"/>
                </a:solidFill>
              </a:rPr>
              <a:t>draft proposal</a:t>
            </a:r>
            <a:r>
              <a:rPr sz="2000">
                <a:solidFill>
                  <a:srgbClr val="1A1F2B"/>
                </a:solidFill>
              </a:rPr>
              <a:t> ringkas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</a:t>
            </a:r>
            <a:r>
              <a:rPr sz="2000" b="1">
                <a:solidFill>
                  <a:srgbClr val="102545"/>
                </a:solidFill>
              </a:rPr>
              <a:t>Siapkan:</a:t>
            </a:r>
            <a:r>
              <a:rPr sz="2000">
                <a:solidFill>
                  <a:srgbClr val="1A1F2B"/>
                </a:solidFill>
              </a:rPr>
              <a:t> akun Figma aktif · wireframe revisi Tugas 2 · ide proyek kelompok yang sudah disepakati</a:t>
            </a: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Kendala teknis → </a:t>
            </a:r>
            <a:r>
              <a:rPr sz="2000" b="1">
                <a:solidFill>
                  <a:srgbClr val="102545"/>
                </a:solidFill>
              </a:rPr>
              <a:t>forum Diskusi Umum</a:t>
            </a:r>
            <a:r>
              <a:rPr sz="2000">
                <a:solidFill>
                  <a:srgbClr val="1A1F2B"/>
                </a:solidFill>
              </a:rPr>
              <a:t>, bukan japri</a:t>
            </a:r>
          </a:p>
          <a:p>
            <a:pPr>
              <a:spcBef>
                <a:spcPts val="1100"/>
              </a:spcBef>
            </a:pPr>
          </a:p>
          <a:p>
            <a:pPr>
              <a:spcBef>
                <a:spcPts val="1100"/>
              </a:spcBef>
            </a:pPr>
            <a:r>
              <a:rPr sz="2000">
                <a:solidFill>
                  <a:srgbClr val="1A1F2B"/>
                </a:solidFill>
              </a:rPr>
              <a:t>•  Sampai jumpa </a:t>
            </a:r>
            <a:r>
              <a:rPr sz="2000" b="1">
                <a:solidFill>
                  <a:srgbClr val="102545"/>
                </a:solidFill>
              </a:rPr>
              <a:t>Kamis depan, 24 September 2026</a:t>
            </a:r>
            <a:r>
              <a:rPr sz="2000">
                <a:solidFill>
                  <a:srgbClr val="1A1F2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02545"/>
                </a:solidFill>
              </a:defRPr>
            </a:pPr>
            <a:r>
              <a:t>Tautan cepat — klik langsung dari slide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6372"/>
                </a:solidFill>
              </a:defRPr>
            </a:pPr>
            <a:r>
              <a:t>Salindia ini tersimpan di Google Drive; semua tautan aktif saat dibuka di PowerPoint atau Google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7899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2"/>
              </a:rPr>
              <a:t>Forum Exit-ticket Pertemuan 2 — jawab sebelum keluar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3"/>
              </a:rPr>
              <a:t>Materi P2: Ergonomi dan Aksesibilitas + Pencarian Ide Proyek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4"/>
              </a:rPr>
              <a:t>Tugas 2 — unggah di sini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5"/>
              </a:rPr>
              <a:t>TUGAS 1 — tenggat Minggu 20 Sep 23.55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6"/>
              </a:rPr>
              <a:t>Sheet KELOMPOK AP 1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7"/>
              </a:rPr>
              <a:t>Folder Drive Pertemuan 2 (modul &amp; video)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8"/>
              </a:rPr>
              <a:t>Modul Mandiri Pertemuan 2 (PDF)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9"/>
              </a:rPr>
              <a:t>Video: Bedah Ergonomi &amp; Aksesibilitas UI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0"/>
              </a:rPr>
              <a:t>Video: Rahasia Desain Aplikasi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E6A023"/>
                </a:solidFill>
              </a:rPr>
              <a:t>▸  </a:t>
            </a:r>
            <a:r>
              <a:rPr sz="2000" b="1" u="sng">
                <a:hlinkClick r:id="rId11"/>
              </a:rPr>
              <a:t>Forum Diskusi Umum — tempat bertanya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