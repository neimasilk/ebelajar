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Ritual pembuka. Posting satu-satunya: Bahrum (88 - contoh konkret Google Translate plus penjelasan mengapa itu termasuk NLP). Hafiz dan Rudolph: forum masih terbuka, posting dinilai juga. Perkenalan masih kosong semua - ingatkan lisan. Kelas ini 3 orang, jadi setiap orang terlihat.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Sambungkan dengan satu-satunya diskusi P1 (Google Translate). Poin hook: teks mentah = karakter tanpa struktur; tokenisasi menciptakan struktur. Minta mahasiswa: coba sebut kalimat yang ambigu kalau dipecah salah - 'kepala daerah' vs 'kepala daerah'... atau 'bisa' (racun/able) sebagai kata serapan.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Tekankan: tokenizer yang berbeda menghasilkan token berbeda - dan hasil analisis pun berbeda. Ini benang merah sampai praktikum.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 soal refleksi #1 modul: kapan TIDAK menghapus stopwords. Contoh jawaban: analisis gaya penulis, chatbot generatif, penilaian sentimen yang bergantung pada negasi ('tidak bagus' - 'tidak' sering tercantum sebagai stopword).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konkret domain e-commerce: 'gratis ongkir' - 'ongkir' tak ada di kamus mana pun. Kata serapan: 'upload', 'download', 'chat'. Praktikum 2 nanti mempraktikkan ini lewat stopwords kustom.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Kualitatif saja: kalimat EN punya lebih banyak stopwords (to, the, we, and setara). Poinnya: daftar stopwords ID bawaan lebih pendek - bahasa Indonesia kurang terlayani, dan itu normal untuk tool open-source.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Jalankan live. Tunjukkan: sent_tokenize memecah di titik; word_tokenize memisahkan tanda baca sebagai token tersendiri - 'NLP.' jadi dua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Tanya: kenapa lower() wajib? 'Dan' dan 'dan' adalah token berbeda bagi Python. Bandingkan panjang list sebelum/sesudah - itulah metrik yang dilaporkan nanti.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Beda paradigma: NLTK fungsi terpisah per tugas; spaCy satu nlp(text) dan semua atribut menempel di token. is_stop ditentukan oleh model, bukan daftar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Kaitkan ke isu Bahasa Indonesia di Bagian 1: daftar bawaan tidak tahu kata domain Anda. Di penugasan, mahasiswa menyusun kustom sendiri + alasan.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Kalimat terakhir kutipan langsung dari Troubleshooting modul. Sering mahasiswa panik hasilnya tak sama dengan teman - justru itu bahan analisis.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cepat: sebelum penghapusan, top-10 didominasi kata umum; sesudahnya, kata konten naik. Itulah 'analisis ringkas pengaruh stopwords' di tujuan #4.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Dikumpulkan ke Tugas 1 di eBelajar (section 2). Tenggat: Minggu, 27 Sep 2026, 23.55 - cek halaman Tugas 1. Tugas C opsional tapi mengangkat kualitas laporan (visual/tabel = poin rubrik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 identik dengan Modul Mandiri P2. Skala 0-100 forum exit-ticket juga tercatat di gradebook - ingatkan kaitannya dengan slide laporan di 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soal = Refleksi &amp; Diskusi modul (bagian 8), sama dengan isi forum exit-ticket. Kalau waktu sempit, cukup soal 1 dan 2 di kelas, sisanya mandiri sebelum Senin.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belajar.stiki.ac.id/course/view.php?id=7226" TargetMode="External"/><Relationship Id="rId3" Type="http://schemas.openxmlformats.org/officeDocument/2006/relationships/hyperlink" Target="https://ebelajar.stiki.ac.id/mod/page/view.php?id=491785" TargetMode="External"/><Relationship Id="rId4" Type="http://schemas.openxmlformats.org/officeDocument/2006/relationships/hyperlink" Target="https://ebelajar.stiki.ac.id/mod/forum/view.php?id=501186" TargetMode="External"/><Relationship Id="rId5" Type="http://schemas.openxmlformats.org/officeDocument/2006/relationships/hyperlink" Target="https://ebelajar.stiki.ac.id/mod/assign/view.php?id=491786" TargetMode="External"/><Relationship Id="rId6" Type="http://schemas.openxmlformats.org/officeDocument/2006/relationships/hyperlink" Target="https://ebelajar.stiki.ac.id/mod/forum/view.php?id=491783" TargetMode="External"/><Relationship Id="rId7" Type="http://schemas.openxmlformats.org/officeDocument/2006/relationships/hyperlink" Target="https://ebelajar.stiki.ac.id/mod/forum/view.php?id=491778" TargetMode="External"/><Relationship Id="rId8" Type="http://schemas.openxmlformats.org/officeDocument/2006/relationships/hyperlink" Target="https://drive.google.com/drive/folders/1ozSzshC8eBpPGU1R5uZx_zsVkJmj0oBS" TargetMode="External"/><Relationship Id="rId9" Type="http://schemas.openxmlformats.org/officeDocument/2006/relationships/hyperlink" Target="https://drive.google.com/file/d/1NFtiYEW_W3cf_hiqYZo8Eb7OBRqW0CH2/view" TargetMode="External"/><Relationship Id="rId10" Type="http://schemas.openxmlformats.org/officeDocument/2006/relationships/hyperlink" Target="https://drive.google.com/file/d/1fWbSEAreSxH46B1_NkSk5tBmYq-Y03CL/view" TargetMode="External"/><Relationship Id="rId11" Type="http://schemas.openxmlformats.org/officeDocument/2006/relationships/hyperlink" Target="https://drive.google.com/file/d/1rE-Q2DFOqbNJK9OqhRJoSEtRT1P1iRa5/view" TargetMode="External"/><Relationship Id="rId12" Type="http://schemas.openxmlformats.org/officeDocument/2006/relationships/hyperlink" Target="https://ebelajar.stiki.ac.id/mod/url/view.php?id=496341" TargetMode="External"/><Relationship Id="rId13" Type="http://schemas.openxmlformats.org/officeDocument/2006/relationships/hyperlink" Target="https://ebelajar.stiki.ac.id/mod/forum/view.php?id=49177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2 ·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Tokenisasi &amp; Stopwords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Fondasi pra-proses teks: dari kalimat mentah ke data terstruktur - dengan NLTK dan spaCy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IF24KK64  ·  Kelas A (Reguler) · Selasa 08.00-10.30 ·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Laporan feedback - Minggu 1 (8-13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Setiap Senin, deck dibuka dengan slide ini: koreksi dan feedback minggu lalu - tercatat, bukan klaim.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8650"/>
                <a:gridCol w="6214110"/>
              </a:tblGrid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Yang saya lakukan minggu ini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Posting forum P1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1 dari 3 posting dibalas dan dinilai hari ini (skala 0-100, masuk gradebook)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Perkenalan mahasiswa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0 dari 3 - belum ada yang mengisi; mohon diisi minggu 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Tugas 1 sudah terpasang di eBelajar - tenggat Minggu, 27 Sep 2026, 23.55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Waktu respons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Ritual Senin - semua posting dibalas dan dinilai tiap Senin pagi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Alur 150 menit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Angka = menit. Semua mengikuti Modul Mandiri P2 di Google Drive - bahan yang sama yang Anda kerjakan mandiri (±120 menit).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Hook</a:t>
            </a:r>
            <a:r>
              <a:rPr sz="2200">
                <a:solidFill>
                  <a:srgbClr val="1A1F2B"/>
                </a:solidFill>
              </a:rPr>
              <a:t> - kekacauan teks: kenapa komputer butuh tokenisasi · 10'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Mini-lecture</a:t>
            </a:r>
            <a:r>
              <a:rPr sz="2200">
                <a:solidFill>
                  <a:srgbClr val="1A1F2B"/>
                </a:solidFill>
              </a:rPr>
              <a:t> - konsep: tokenisasi kalimat &amp; kata, stopwords, isu bahasa Indonesia · 30'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Praktikum 1</a:t>
            </a:r>
            <a:r>
              <a:rPr sz="2200">
                <a:solidFill>
                  <a:srgbClr val="1A1F2B"/>
                </a:solidFill>
              </a:rPr>
              <a:t> - NLTK: sent_tokenize, word_tokenize, stopwords · 35'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Praktikum 2</a:t>
            </a:r>
            <a:r>
              <a:rPr sz="2200">
                <a:solidFill>
                  <a:srgbClr val="1A1F2B"/>
                </a:solidFill>
              </a:rPr>
              <a:t> - spaCy: pipeline, is_stop, stopwords kustom · 35'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Analisis &amp; diskusi</a:t>
            </a:r>
            <a:r>
              <a:rPr sz="2200">
                <a:solidFill>
                  <a:srgbClr val="1A1F2B"/>
                </a:solidFill>
              </a:rPr>
              <a:t> - NLTK vs spaCy, top-10 kata · 20'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Rangkuman</a:t>
            </a:r>
            <a:r>
              <a:rPr sz="2200">
                <a:solidFill>
                  <a:srgbClr val="1A1F2B"/>
                </a:solidFill>
              </a:rPr>
              <a:t> + tugas + exit-ticket · 20'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Kekacauan</a:t>
            </a:r>
            <a:br/>
            <a:r>
              <a:t>menuju kejelasan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Narasi video pembuka di Drive - dan pertanyaan mendasar untuk hari 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Komputer tidak melihat kata.</a:t>
            </a:r>
            <a:br/>
            <a:r>
              <a:t>Yang dilihatnya: deretan karakter.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Ingat Google Translate dari diskusi minggu lalu? Sebelum bisa menerjemahkan, sistem memecah teks menjadi unit yang bisa dihitung. Itulah tokenisasi - langkah pertama dari semua pipeline NLP, termasuk yang akan Anda bangun.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Capaian pertemuan ini (Sub-CPMK082.1 - preprocessing teks)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Empat kemampuan inilah yang dinilai di penugasan dan rubrik modul - dan menumpuk ke Pertemuan 3 (stemming &amp; lemmatization).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Menjelaskan konsep </a:t>
            </a:r>
            <a:r>
              <a:rPr sz="2200" b="1">
                <a:solidFill>
                  <a:srgbClr val="102545"/>
                </a:solidFill>
              </a:rPr>
              <a:t>tokenisasi</a:t>
            </a:r>
            <a:r>
              <a:rPr sz="2200">
                <a:solidFill>
                  <a:srgbClr val="1A1F2B"/>
                </a:solidFill>
              </a:rPr>
              <a:t> (level kalimat dan kata) serta </a:t>
            </a:r>
            <a:r>
              <a:rPr sz="2200" b="1">
                <a:solidFill>
                  <a:srgbClr val="102545"/>
                </a:solidFill>
              </a:rPr>
              <a:t>peran stopwords</a:t>
            </a:r>
            <a:r>
              <a:rPr sz="2200">
                <a:solidFill>
                  <a:srgbClr val="1A1F2B"/>
                </a:solidFill>
              </a:rPr>
              <a:t> dalam pra-proses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Mengimplementasikan tokenisasi dan penghapusan stopwords dengan </a:t>
            </a:r>
            <a:r>
              <a:rPr sz="2200" b="1">
                <a:solidFill>
                  <a:srgbClr val="102545"/>
                </a:solidFill>
              </a:rPr>
              <a:t>NLTK dan spaCy</a:t>
            </a:r>
            <a:r>
              <a:rPr sz="2200">
                <a:solidFill>
                  <a:srgbClr val="1A1F2B"/>
                </a:solidFill>
              </a:rPr>
              <a:t> (Bahasa Indonesia &amp; Inggris)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Menyusun </a:t>
            </a:r>
            <a:r>
              <a:rPr sz="2200" b="1">
                <a:solidFill>
                  <a:srgbClr val="102545"/>
                </a:solidFill>
              </a:rPr>
              <a:t>stopwords kustom sesuai domain</a:t>
            </a:r>
            <a:r>
              <a:rPr sz="2200">
                <a:solidFill>
                  <a:srgbClr val="1A1F2B"/>
                </a:solidFill>
              </a:rPr>
              <a:t>, lalu membandingkan hasil sebelum dan sesudah penghapusan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Menganalisis pengaruh stopwords terhadap </a:t>
            </a:r>
            <a:r>
              <a:rPr sz="2200" b="1">
                <a:solidFill>
                  <a:srgbClr val="102545"/>
                </a:solidFill>
              </a:rPr>
              <a:t>jumlah token dan frekuensi kata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Bahan belajar mandiri di Drive - pertemuan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Tautan lengkap ada di slide terakhir. eBelajar hanya menautkan - satu salinan di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Modul Mandiri P2 (PDF)</a:t>
            </a:r>
            <a:r>
              <a:rPr sz="2200">
                <a:solidFill>
                  <a:srgbClr val="1A1F2B"/>
                </a:solidFill>
              </a:rPr>
              <a:t> - tujuan, materi inti, langkah praktikum, rubrik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Video </a:t>
            </a:r>
            <a:r>
              <a:rPr sz="2200" b="1">
                <a:solidFill>
                  <a:srgbClr val="102545"/>
                </a:solidFill>
              </a:rPr>
              <a:t>Membedah Fondasi NLP: Tokenisasi, Stopwords, NLTK, dan spaCy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Video </a:t>
            </a:r>
            <a:r>
              <a:rPr sz="2200" b="1">
                <a:solidFill>
                  <a:srgbClr val="102545"/>
                </a:solidFill>
              </a:rPr>
              <a:t>Kekacauan Menuju Kejelasan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Estimasi belajar mandiri: </a:t>
            </a:r>
            <a:r>
              <a:rPr sz="2200" b="1">
                <a:solidFill>
                  <a:srgbClr val="102545"/>
                </a:solidFill>
              </a:rPr>
              <a:t>±120 menit</a:t>
            </a:r>
            <a:r>
              <a:rPr sz="2200">
                <a:solidFill>
                  <a:srgbClr val="1A1F2B"/>
                </a:solidFill>
              </a:rPr>
              <a:t> - mode modul ini mandiri (tanpa pendampingan)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Tambahan hari ini: praktikum bersama + diskusi + exit-ticket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Konsep dasar:</a:t>
            </a:r>
            <a:br/>
            <a:r>
              <a:t>tokenisasi &amp; stopwords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Definisi, tujuan, dan keputusan yang menyertainya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Tokenisasi - memecah teks menjadi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Memecah teks menjadi unit lebih kecil: </a:t>
            </a:r>
            <a:r>
              <a:rPr sz="2200" b="1">
                <a:solidFill>
                  <a:srgbClr val="102545"/>
                </a:solidFill>
              </a:rPr>
              <a:t>kalimat</a:t>
            </a:r>
            <a:r>
              <a:rPr sz="2200">
                <a:solidFill>
                  <a:srgbClr val="1A1F2B"/>
                </a:solidFill>
              </a:rPr>
              <a:t> (sentence) dan </a:t>
            </a:r>
            <a:r>
              <a:rPr sz="2200" b="1">
                <a:solidFill>
                  <a:srgbClr val="102545"/>
                </a:solidFill>
              </a:rPr>
              <a:t>kata</a:t>
            </a:r>
            <a:r>
              <a:rPr sz="2200">
                <a:solidFill>
                  <a:srgbClr val="1A1F2B"/>
                </a:solidFill>
              </a:rPr>
              <a:t> (word)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Hasilnya menjadi dasar hampir semua langkah berikutnya: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perhitungan </a:t>
            </a:r>
            <a:r>
              <a:rPr sz="1900" b="1">
                <a:solidFill>
                  <a:srgbClr val="102545"/>
                </a:solidFill>
              </a:rPr>
              <a:t>frekuensi kata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pembentukan fitur </a:t>
            </a:r>
            <a:r>
              <a:rPr sz="1900" b="1">
                <a:solidFill>
                  <a:srgbClr val="102545"/>
                </a:solidFill>
              </a:rPr>
              <a:t>BoW / TF-IDF</a:t>
            </a:r>
            <a:r>
              <a:rPr sz="1900">
                <a:solidFill>
                  <a:srgbClr val="5A6372"/>
                </a:solidFill>
              </a:rPr>
              <a:t> (Pertemuan 4)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input bagi model </a:t>
            </a:r>
            <a:r>
              <a:rPr sz="1900" b="1">
                <a:solidFill>
                  <a:srgbClr val="102545"/>
                </a:solidFill>
              </a:rPr>
              <a:t>RNN / Transformer</a:t>
            </a:r>
            <a:r>
              <a:rPr sz="1900">
                <a:solidFill>
                  <a:srgbClr val="5A6372"/>
                </a:solidFill>
              </a:rPr>
              <a:t> (Pertemuan 10-11)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Contoh: "Selamat datang di kelas NLP." → [Selamat] [datang] [di] [kelas] [NLP] [.]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Stopwords - kata umum yang (sering) dibuang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Kata umum berfrekuensi tinggi yang sering </a:t>
            </a:r>
            <a:r>
              <a:rPr sz="2200" b="1">
                <a:solidFill>
                  <a:srgbClr val="102545"/>
                </a:solidFill>
              </a:rPr>
              <a:t>kurang informatif</a:t>
            </a:r>
            <a:r>
              <a:rPr sz="2200">
                <a:solidFill>
                  <a:srgbClr val="1A1F2B"/>
                </a:solidFill>
              </a:rPr>
              <a:t>: dan, yang, di, the, is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Tujuan penghapusan: </a:t>
            </a:r>
            <a:r>
              <a:rPr sz="2200" b="1">
                <a:solidFill>
                  <a:srgbClr val="102545"/>
                </a:solidFill>
              </a:rPr>
              <a:t>menekan noise</a:t>
            </a:r>
            <a:r>
              <a:rPr sz="2200">
                <a:solidFill>
                  <a:srgbClr val="1A1F2B"/>
                </a:solidFill>
              </a:rPr>
              <a:t>, fokus ke kata pembawa makna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TAPI - tidak wajib. Untuk </a:t>
            </a:r>
            <a:r>
              <a:rPr sz="2200" b="1">
                <a:solidFill>
                  <a:srgbClr val="102545"/>
                </a:solidFill>
              </a:rPr>
              <a:t>analisis gaya bahasa</a:t>
            </a:r>
            <a:r>
              <a:rPr sz="2200">
                <a:solidFill>
                  <a:srgbClr val="1A1F2B"/>
                </a:solidFill>
              </a:rPr>
              <a:t> atau </a:t>
            </a:r>
            <a:r>
              <a:rPr sz="2200" b="1">
                <a:solidFill>
                  <a:srgbClr val="102545"/>
                </a:solidFill>
              </a:rPr>
              <a:t>text generation</a:t>
            </a:r>
            <a:r>
              <a:rPr sz="2200">
                <a:solidFill>
                  <a:srgbClr val="1A1F2B"/>
                </a:solidFill>
              </a:rPr>
              <a:t>, stopwords justru penting dipertahankan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Keputusan stopwords = </a:t>
            </a:r>
            <a:r>
              <a:rPr sz="2200" b="1">
                <a:solidFill>
                  <a:srgbClr val="102545"/>
                </a:solidFill>
              </a:rPr>
              <a:t>keputusan per tugas</a:t>
            </a:r>
            <a:r>
              <a:rPr sz="2200">
                <a:solidFill>
                  <a:srgbClr val="1A1F2B"/>
                </a:solidFill>
              </a:rPr>
              <a:t>, bukan aturan baku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Isu Bahasa Indonesia - jangan salin setelan Inggris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Morfologi &amp; afiksasi</a:t>
            </a:r>
            <a:r>
              <a:rPr sz="2200">
                <a:solidFill>
                  <a:srgbClr val="1A1F2B"/>
                </a:solidFill>
              </a:rPr>
              <a:t> me-, di-, ke-, pe-, ber-, ter-: "membaca" vs "baca" - dua token berbeda atau sama?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Daftar stopwords bawaan perlu </a:t>
            </a:r>
            <a:r>
              <a:rPr sz="2200" b="1">
                <a:solidFill>
                  <a:srgbClr val="102545"/>
                </a:solidFill>
              </a:rPr>
              <a:t>disesuaikan domain</a:t>
            </a:r>
            <a:r>
              <a:rPr sz="2200">
                <a:solidFill>
                  <a:srgbClr val="1A1F2B"/>
                </a:solidFill>
              </a:rPr>
              <a:t>: e-commerce, kesehatan, finansial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Periksa </a:t>
            </a:r>
            <a:r>
              <a:rPr sz="2200" b="1">
                <a:solidFill>
                  <a:srgbClr val="102545"/>
                </a:solidFill>
              </a:rPr>
              <a:t>tanda baca, angka, emotikon, kata serapan</a:t>
            </a:r>
            <a:r>
              <a:rPr sz="2200">
                <a:solidFill>
                  <a:srgbClr val="1A1F2B"/>
                </a:solidFill>
              </a:rPr>
              <a:t> - semuanya jadi token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Dokumentasikan</a:t>
            </a:r>
            <a:r>
              <a:rPr sz="2200">
                <a:solidFill>
                  <a:srgbClr val="1A1F2B"/>
                </a:solidFill>
              </a:rPr>
              <a:t> keputusan pra-proses Anda - bagian dari laporan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NLTK vs spaCy - dua alat, dua filosofi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Hari ini keduanya dipakai berdampingan - hasilnya dibandingkan, bukan diasumsikan sama.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29"/>
                <a:gridCol w="4097215"/>
                <a:gridCol w="4097215"/>
              </a:tblGrid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NLTK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spaCy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Gaya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Rangkaian alat terpisah, fleksibel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Pipeline terintegrasi, objek Doc/Token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Tokenisasi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sent_tokenize(), word_tokenize()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nlp(text) → token otomatis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Stopwords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Daftar corpus: stopwords.words('indonesian')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Atribut token: t.is_stop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Model bahasa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Resource: punkt, stopwords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id_core_news_sm, en_core_web_sm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cepat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Dua kalimat dari modul: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i="1">
                <a:solidFill>
                  <a:srgbClr val="5A6372"/>
                </a:solidFill>
              </a:rPr>
              <a:t>"Selamat datang di kelas NLP. Hari ini kita mempelajari tokenisasi dan stopwords."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i="1">
                <a:solidFill>
                  <a:srgbClr val="5A6372"/>
                </a:solidFill>
              </a:rPr>
              <a:t>"Welcome to the NLP class. Today we learn tokenization and stopwords."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Tebak: berapa token kata masing-masing? Mana yang lebih banyak stopword-nya?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Diskusikan 2 menit - jawab sebelum praktikum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 · PRAKTIKUM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Tokenisasi &amp; stopwords</a:t>
            </a:r>
            <a:br/>
            <a:r>
              <a:t>dengan NLTK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bagian 5.1 - jalankan sambil saya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NLTK - setup &amp; tokenisasi (modul 5.1)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420624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nltk.tokenize import sent_tokenize, word_tokenize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nltk.corpus import stopwords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text_id = "Selamat datang di kelas NLP. Hari ini kita mempelajari"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" tokenisasi dan stopwords."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text_en = "Welcome to the NLP class. Today we learn tokenization"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" and stopwords."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# Tokenisasi kalimat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print("Kalimat (ID):", sent_tokenize(text_id))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print("Kalimat (EN):", sent_tokenize(text_en))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# Tokenisasi kata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id_tokens = word_tokenize(text_id)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en_tokens = word_tokenize(text_en)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Satu kali saja bila belum: nltk.download('punkt') dan nltk.download('stopwords')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NLTK - menghapus stopwords (modul 5.1)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090672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# Stopwords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stop_id = set(stopwords.words('indonesian'))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stop_en = set(stopwords.words('english'))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id_filtered = [w for w in id_tokens if w.lower() not in stop_id]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en_filtered = [w for w in en_tokens if w.lower() not in stop_en]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print("ID tanpa stopwords:", id_filtered)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print("EN tanpa stopwords:", en_filtered)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99431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Perhatikan w.lower(): pencocokan dilakukan pada huruf kecil.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Tiga jebakan NLTK yang paling sering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Ini persis bagian Troubleshooting Cepat di modul - baca ulang saat praktikum mandiri.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LookupError</a:t>
            </a:r>
            <a:r>
              <a:rPr sz="2200">
                <a:solidFill>
                  <a:srgbClr val="1A1F2B"/>
                </a:solidFill>
              </a:rPr>
              <a:t> saat tokenisasi → jalankan nltk.download('punkt') dan nltk.download('stopwords') - sekali saja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Lupa </a:t>
            </a:r>
            <a:r>
              <a:rPr sz="2200" b="1">
                <a:solidFill>
                  <a:srgbClr val="102545"/>
                </a:solidFill>
              </a:rPr>
              <a:t>w.lower()</a:t>
            </a:r>
            <a:r>
              <a:rPr sz="2200">
                <a:solidFill>
                  <a:srgbClr val="1A1F2B"/>
                </a:solidFill>
              </a:rPr>
              <a:t> → setengah stopwords lolos karena kapitalisasi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Tanda baca tetap token</a:t>
            </a:r>
            <a:r>
              <a:rPr sz="2200">
                <a:solidFill>
                  <a:srgbClr val="1A1F2B"/>
                </a:solidFill>
              </a:rPr>
              <a:t> - "NLP" dan "." adalah dua token; bersihkan dengan t.isalpha() bila perlu (lihat modul 5.4)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Hasil aneh → periksa karakter non-alfanumerik dan normalisasi huruf kecil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 · PRAKTIKUM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Tokenisasi &amp; stopwords</a:t>
            </a:r>
            <a:br/>
            <a:r>
              <a:t>dengan spaCy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bagian 5.2-5.3 - pipeline dan stopwords kustom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spaCy - pipeline &amp; is_stop (modul 5.2)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968496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import spacy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nlp_id = spacy.load('id_core_news_sm')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nlp_en = spacy.load('en_core_web_sm')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id_doc = nlp_id(text_id)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en_doc = nlp_en(text_en)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id_tokens_spacy = [t.text for t in id_doc]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en_tokens_spacy = [t.text for t in en_doc]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id_no_stop_spacy = [t.text for t in id_doc if not t.is_stop]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en_no_stop_spacy = [t.text for t in en_doc if not t.is_stop]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77256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Model spaCy terpasang di terminal: python -m spacy download id_core_news_sm / en_core_web_sm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spaCy - stopwords kustom domain (modul 5.3)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090672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# Contoh domain e-commerce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custom_id = {"gratis", "diskon", "promo", "harga", "barang"}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custom_en = {"free", "sale", "promo", "price", "item"}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stop_id_ext = stop_id.union(custom_id)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stop_en_ext = stop_en.union(custom_en)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id_filtered_ext = [w for w in id_tokens if w.lower() not in stop_id_ext]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print("ID tanpa stopwords (dengan kustom):", id_filtered_ext)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99431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Minimal 5 kata kustom untuk domain pilihan Anda - itu poin rubrik analisis.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Hasil NLTK dan spaCy berbeda - itu bukan kesalahan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Tokenizer berbeda → pemecahan kata/tanda baca berbeda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Daftar stopwords bawaan berbeda → jumlah token tersisa berbeda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Keduanya </a:t>
            </a:r>
            <a:r>
              <a:rPr sz="2200" b="1">
                <a:solidFill>
                  <a:srgbClr val="102545"/>
                </a:solidFill>
              </a:rPr>
              <a:t>temuan yang dilaporkan</a:t>
            </a:r>
            <a:r>
              <a:rPr sz="2200">
                <a:solidFill>
                  <a:srgbClr val="1A1F2B"/>
                </a:solidFill>
              </a:rPr>
              <a:t>, bukan bug yang disembunyikan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Di laporan: tulis </a:t>
            </a:r>
            <a:r>
              <a:rPr sz="2200" b="1">
                <a:solidFill>
                  <a:srgbClr val="102545"/>
                </a:solidFill>
              </a:rPr>
              <a:t>mengapa</a:t>
            </a:r>
            <a:r>
              <a:rPr sz="2200">
                <a:solidFill>
                  <a:srgbClr val="1A1F2B"/>
                </a:solidFill>
              </a:rPr>
              <a:t> berbeda dan mana yang lebih cocok untuk tugas Anda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Modul: "Hasil berbeda antara NLTK dan spaCy: jelaskan di laporan sebagai bagian dari analisis"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Analisis &amp;</a:t>
            </a:r>
            <a:br/>
            <a:r>
              <a:t>penugasan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Ringkasan kuantitatif, deliverables, dan rubrik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Ringkasan kuantitatif - 10 kata teratas (modul 5.4)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38328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def top_terms(tokens, k=10):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# menyaring token alfanumerik sederhana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toks = [t.lower() for t in tokens if t.isalpha()]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return Counter(toks).most_common(k)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print("Top-10 ID (asli):", top_terms(id_tokens))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print("Top-10 ID (tanpa stopwords):", top_terms(id_filtered))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Bandingkan kedua daftar: posisi kata bergeser setelah stopwords dibuang.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Metrik yang dilaporkan (indikator ketercapaian modul)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Ketarampilan teknis modul: notebook berisi fungsi tokenisasi, penghapusan stopwords, dan ringkasan metrik sederhana.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Jumlah </a:t>
            </a:r>
            <a:r>
              <a:rPr sz="2200" b="1">
                <a:solidFill>
                  <a:srgbClr val="102545"/>
                </a:solidFill>
              </a:rPr>
              <a:t>kalimat</a:t>
            </a:r>
            <a:r>
              <a:rPr sz="2200">
                <a:solidFill>
                  <a:srgbClr val="1A1F2B"/>
                </a:solidFill>
              </a:rPr>
              <a:t> hasil sent_tokenize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Jumlah </a:t>
            </a:r>
            <a:r>
              <a:rPr sz="2200" b="1">
                <a:solidFill>
                  <a:srgbClr val="102545"/>
                </a:solidFill>
              </a:rPr>
              <a:t>token</a:t>
            </a:r>
            <a:r>
              <a:rPr sz="2200">
                <a:solidFill>
                  <a:srgbClr val="1A1F2B"/>
                </a:solidFill>
              </a:rPr>
              <a:t> sebelum vs sesudah penghapusan stopwords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10 kata teratas</a:t>
            </a:r>
            <a:r>
              <a:rPr sz="2200">
                <a:solidFill>
                  <a:srgbClr val="1A1F2B"/>
                </a:solidFill>
              </a:rPr>
              <a:t> sebelum vs sesudah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Kesimpulan singkat: </a:t>
            </a:r>
            <a:r>
              <a:rPr sz="2200" b="1">
                <a:solidFill>
                  <a:srgbClr val="102545"/>
                </a:solidFill>
              </a:rPr>
              <a:t>NLTK vs spaCy</a:t>
            </a:r>
            <a:r>
              <a:rPr sz="2200">
                <a:solidFill>
                  <a:srgbClr val="1A1F2B"/>
                </a:solidFill>
              </a:rPr>
              <a:t> + efek daftar kustom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Semua masuk notebook - satu fungsi per langkah, dijalankan berurutan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Penugasan mandiri - tiga tugas dari modul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Tugas A</a:t>
            </a:r>
            <a:r>
              <a:rPr sz="2200">
                <a:solidFill>
                  <a:srgbClr val="1A1F2B"/>
                </a:solidFill>
              </a:rPr>
              <a:t> - Notebook 01_tokenization.ipynb: tokenisasi NLTK &amp; spaCy (ID &amp; EN), stopwords default + kustom (≥5 kata domain), ringkasan metrik, kesimpulan singkat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Tugas B</a:t>
            </a:r>
            <a:r>
              <a:rPr sz="2200">
                <a:solidFill>
                  <a:srgbClr val="1A1F2B"/>
                </a:solidFill>
              </a:rPr>
              <a:t> - Laporan singkat PDF (1-2 halaman): latar, metode, hasil (tabel perbandingan), pembahasan, kesimpulan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Tugas C</a:t>
            </a:r>
            <a:r>
              <a:rPr sz="2200">
                <a:solidFill>
                  <a:srgbClr val="1A1F2B"/>
                </a:solidFill>
              </a:rPr>
              <a:t> (opsional) - Diagram batang frekuensi sebelum vs sesudah stopwords (matplotlib)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Arsip: </a:t>
            </a:r>
            <a:r>
              <a:rPr sz="2200" b="1">
                <a:solidFill>
                  <a:srgbClr val="102545"/>
                </a:solidFill>
              </a:rPr>
              <a:t>NIM_Nama_P2.zip</a:t>
            </a:r>
            <a:r>
              <a:rPr sz="2200">
                <a:solidFill>
                  <a:srgbClr val="1A1F2B"/>
                </a:solidFill>
              </a:rPr>
              <a:t> - notebooks/, laporan_p2.pdf, data/, images/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Penamaan di LMS: </a:t>
            </a:r>
            <a:r>
              <a:rPr sz="2200" b="1">
                <a:solidFill>
                  <a:srgbClr val="102545"/>
                </a:solidFill>
              </a:rPr>
              <a:t>P2-NLP-NIM-Nama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Rubrik penilaian - total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Kriteria lulus pertemuan: total &gt;= 60/100 dan notebook dapat dieksekusi.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1775460"/>
                <a:gridCol w="6214110"/>
              </a:tblGrid>
              <a:tr h="40690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Sangat baik (A)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Notebook tokenisasi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Kode lengkap, rapi, tanpa error; mencakup NLTK &amp; spaCy (ID &amp; EN)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Analisis stopwords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Perbandingan jelas; alasan kata kustom kuat; ada metrik dan contoh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Laporan PDF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Struktur baik, ringkas, visual/tabel jelas, kesimpulan tajam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Poin kunci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Tokenisasi = </a:t>
            </a:r>
            <a:r>
              <a:rPr sz="2200" b="1">
                <a:solidFill>
                  <a:srgbClr val="102545"/>
                </a:solidFill>
              </a:rPr>
              <a:t>fondasi semua langkah NLP</a:t>
            </a:r>
            <a:r>
              <a:rPr sz="2200">
                <a:solidFill>
                  <a:srgbClr val="1A1F2B"/>
                </a:solidFill>
              </a:rPr>
              <a:t>: frekuensi, BoW/TF-IDF, input model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Stopwords menekan noise - tapi </a:t>
            </a:r>
            <a:r>
              <a:rPr sz="2200" b="1">
                <a:solidFill>
                  <a:srgbClr val="102545"/>
                </a:solidFill>
              </a:rPr>
              <a:t>tidak selalu dibuang</a:t>
            </a:r>
            <a:r>
              <a:rPr sz="2200">
                <a:solidFill>
                  <a:srgbClr val="1A1F2B"/>
                </a:solidFill>
              </a:rPr>
              <a:t>: gaya bahasa &amp; generation butuh mereka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Bahasa Indonesia butuh </a:t>
            </a:r>
            <a:r>
              <a:rPr sz="2200" b="1">
                <a:solidFill>
                  <a:srgbClr val="102545"/>
                </a:solidFill>
              </a:rPr>
              <a:t>penyesuaian domain</a:t>
            </a:r>
            <a:r>
              <a:rPr sz="2200">
                <a:solidFill>
                  <a:srgbClr val="1A1F2B"/>
                </a:solidFill>
              </a:rPr>
              <a:t>: afiksasi, kata serapan, stopwords kustom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NLTK dan spaCy </a:t>
            </a:r>
            <a:r>
              <a:rPr sz="2200" b="1">
                <a:solidFill>
                  <a:srgbClr val="102545"/>
                </a:solidFill>
              </a:rPr>
              <a:t>memang berbeda hasil</a:t>
            </a:r>
            <a:r>
              <a:rPr sz="2200">
                <a:solidFill>
                  <a:srgbClr val="1A1F2B"/>
                </a:solidFill>
              </a:rPr>
              <a:t> - jadikan bahan analisis, bukan kepanikan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Dokumentasikan setiap keputusan pra-proses di </a:t>
            </a:r>
            <a:r>
              <a:rPr sz="2200" b="1">
                <a:solidFill>
                  <a:srgbClr val="102545"/>
                </a:solidFill>
              </a:rPr>
              <a:t>laporan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pemahaman mandiri (refleksi modul)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Tiga pertanyaan pertama persis dari modul - dan menjadi exit-ticket hari 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Kapan sebaiknya kita </a:t>
            </a:r>
            <a:r>
              <a:rPr sz="2200" b="1">
                <a:solidFill>
                  <a:srgbClr val="102545"/>
                </a:solidFill>
              </a:rPr>
              <a:t>tidak menghapus stopwords</a:t>
            </a:r>
            <a:r>
              <a:rPr sz="2200">
                <a:solidFill>
                  <a:srgbClr val="1A1F2B"/>
                </a:solidFill>
              </a:rPr>
              <a:t>? Beri contoh tugasnya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Apa </a:t>
            </a:r>
            <a:r>
              <a:rPr sz="2200" b="1">
                <a:solidFill>
                  <a:srgbClr val="102545"/>
                </a:solidFill>
              </a:rPr>
              <a:t>perbedaan paling terlihat</a:t>
            </a:r>
            <a:r>
              <a:rPr sz="2200">
                <a:solidFill>
                  <a:srgbClr val="1A1F2B"/>
                </a:solidFill>
              </a:rPr>
              <a:t> antara tokenisasi NLTK dan spaCy pada teks Anda?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Sebutkan </a:t>
            </a:r>
            <a:r>
              <a:rPr sz="2200" b="1">
                <a:solidFill>
                  <a:srgbClr val="102545"/>
                </a:solidFill>
              </a:rPr>
              <a:t>5 stopwords kustom</a:t>
            </a:r>
            <a:r>
              <a:rPr sz="2200">
                <a:solidFill>
                  <a:srgbClr val="1A1F2B"/>
                </a:solidFill>
              </a:rPr>
              <a:t> untuk domain pilihan Anda - dan alasannya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(Bonus) Mengapa w.lower() wajib sebelum pencocokan stopwords?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Exit-ticket - sebelum keluar ruangan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Buka </a:t>
            </a:r>
            <a:r>
              <a:rPr sz="2200" b="1">
                <a:solidFill>
                  <a:srgbClr val="102545"/>
                </a:solidFill>
              </a:rPr>
              <a:t>forum Pertemuan 2</a:t>
            </a:r>
            <a:r>
              <a:rPr sz="2200">
                <a:solidFill>
                  <a:srgbClr val="1A1F2B"/>
                </a:solidFill>
              </a:rPr>
              <a:t> di eBelajar, jawab di diskusi yang disediakan: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Kapan sebaiknya kita </a:t>
            </a:r>
            <a:r>
              <a:rPr sz="1900" b="1">
                <a:solidFill>
                  <a:srgbClr val="102545"/>
                </a:solidFill>
              </a:rPr>
              <a:t>TIDAK</a:t>
            </a:r>
            <a:r>
              <a:rPr sz="1900">
                <a:solidFill>
                  <a:srgbClr val="5A6372"/>
                </a:solidFill>
              </a:rPr>
              <a:t> menghapus stopwords? Beri satu contoh tugas NLP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Perbedaan </a:t>
            </a:r>
            <a:r>
              <a:rPr sz="1900" b="1">
                <a:solidFill>
                  <a:srgbClr val="102545"/>
                </a:solidFill>
              </a:rPr>
              <a:t>paling terlihat</a:t>
            </a:r>
            <a:r>
              <a:rPr sz="1900">
                <a:solidFill>
                  <a:srgbClr val="5A6372"/>
                </a:solidFill>
              </a:rPr>
              <a:t> tokenisasi NLTK vs spaCy pada teks yang Anda coba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b="1">
                <a:solidFill>
                  <a:srgbClr val="102545"/>
                </a:solidFill>
              </a:rPr>
              <a:t>5 stopwords kustom</a:t>
            </a:r>
            <a:r>
              <a:rPr sz="1900">
                <a:solidFill>
                  <a:srgbClr val="5A6372"/>
                </a:solidFill>
              </a:rPr>
              <a:t> untuk domain pilihan Anda + alasan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Posting dinilai 0-100 dan dibalas Senin depan - lihat slide laporan di atas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Pertemuan 3: stemming &amp; lemmatization</a:t>
            </a:r>
            <a:r>
              <a:rPr sz="2200">
                <a:solidFill>
                  <a:srgbClr val="1A1F2B"/>
                </a:solidFill>
              </a:rPr>
              <a:t> - bawa pertanyaan afiksasi Anda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 - klik langsung dari slide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Salindia ini tersimpan di Google Drive; semua tautan aktif saat dibuka di PowerPoint atau Google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Kursus Natural Language Processing A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Materi P2 - Tokenisasi dan Stopwords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Forum Pertemuan 2 (exit-ticket)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Tugas 1 - Praktik Tokenisasi dan Stopwords Removal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Forum Diskusi P1 - Aplikasi NLP di Sekitar Kita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Forum Perkenalan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8"/>
              </a:rPr>
              <a:t>Folder Drive Pertemuan 2 (modul, video, slide)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9"/>
              </a:rPr>
              <a:t>Modul Mandiri P2 (PDF)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0"/>
              </a:rPr>
              <a:t>Video: Membedah Fondasi NLP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1"/>
              </a:rPr>
              <a:t>Video: Kekacauan Menuju Kejelasan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2"/>
              </a:rPr>
              <a:t>Bahan Pertemuan 1 di Google Drive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3"/>
              </a:rPr>
              <a:t>Forum Diskusi Umum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