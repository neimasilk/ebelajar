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terakhir sering dianggap pelengkap. Di RPS ia Sub-CPMK tersendiri dan dinilai — sampaikan begitu.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gating sekuensial: mahasiswa sering panik mengira kelasnya kosong padahal Pertemuan 2+ memang belum terbuka sampai materi P1 dibuka.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titik gagal utama kelas self-paced. Sarankan ritme di slide berikutnya.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Pembagian rata ke 13 pertemuan adalah aturan operasional kelas ini (RPS memberi bobot 10% yang sama untuk tiap pertemuan bernilai). Kalau Anda ingin membobot berbeda, ubah di sini dan di halaman Kontrak Kuliah.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Sampaikan ini sebagai prinsip, bukan larangan. Mahasiswa akan memakai AI apa pun yang Anda katakan — yang bisa Anda pengaruhi adalah CARA mereka memakainya.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OPSIONAL — cerita nyata yang kuat kalau Anda bersedia membagikannya: sebuah naskah jurnal internasional ditolak editor bukan karena datanya salah, tapi karena deskripsi karya orang lain di bagian related work tidak sesuai sumbernya, dan editor menyebut penyebabnya pemakaian AI untuk pencarian literatur. Datanya sehat — yang rusak kalimat yang terdengar benar.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Tulis kalimatnya di papan. Tanya: dari mana Anda tahu 'bisa' yang pertama berbeda dari yang kedua? Jawabannya: konteks. Dan konteks itulah yang mahal untuk dihitung.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Contoh-contoh ini sengaja bahasa Indonesia. Minta mahasiswa menambah contoh ambiguitas dari bahasa daerah mereka — ini juga jadi pemantik untuk Pertemuan 13 soal bias.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Tunjukkan bahwa peta ini persis urutan Pertemuan 1–16 di eBelajar. Mahasiswa perlu tahu setiap minggu ada di mana pada rantai ini.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belajar.stiki.ac.id/mod/forum/view.php?id=491835"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belajar.stiki.ac.id/course/view.php?id=7427" TargetMode="External"/><Relationship Id="rId3" Type="http://schemas.openxmlformats.org/officeDocument/2006/relationships/hyperlink" Target="https://ebelajar.stiki.ac.id/mod/page/view.php?id=495871" TargetMode="External"/><Relationship Id="rId4" Type="http://schemas.openxmlformats.org/officeDocument/2006/relationships/hyperlink" Target="https://ebelajar.stiki.ac.id/mod/page/view.php?id=491834" TargetMode="External"/><Relationship Id="rId5" Type="http://schemas.openxmlformats.org/officeDocument/2006/relationships/hyperlink" Target="https://ebelajar.stiki.ac.id/mod/forum/view.php?id=491835" TargetMode="External"/><Relationship Id="rId6" Type="http://schemas.openxmlformats.org/officeDocument/2006/relationships/hyperlink" Target="https://ebelajar.stiki.ac.id/mod/assign/view.php?id=491838" TargetMode="External"/><Relationship Id="rId7" Type="http://schemas.openxmlformats.org/officeDocument/2006/relationships/hyperlink" Target="https://ebelajar.stiki.ac.id/mod/choice/view.php?id=491831" TargetMode="External"/><Relationship Id="rId8" Type="http://schemas.openxmlformats.org/officeDocument/2006/relationships/hyperlink" Target="https://ebelajar.stiki.ac.id/mod/forum/view.php?id=491828"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0241280" cy="914400"/>
          </a:xfrm>
          <a:prstGeom prst="rect">
            <a:avLst/>
          </a:prstGeom>
          <a:noFill/>
        </p:spPr>
        <p:txBody>
          <a:bodyPr wrap="square">
            <a:spAutoFit/>
          </a:bodyPr>
          <a:lstStyle/>
          <a:p>
            <a:pPr>
              <a:defRPr sz="2000" b="1">
                <a:solidFill>
                  <a:srgbClr val="E6A023"/>
                </a:solidFill>
              </a:defRPr>
            </a:pPr>
            <a:r>
              <a:t>ORIENTASI &amp; PERTEMUAN 1  ·  GANJIL 2026/2027</a:t>
            </a:r>
          </a:p>
        </p:txBody>
      </p:sp>
      <p:sp>
        <p:nvSpPr>
          <p:cNvPr id="5" name="TextBox 4"/>
          <p:cNvSpPr txBox="1"/>
          <p:nvPr/>
        </p:nvSpPr>
        <p:spPr>
          <a:xfrm>
            <a:off x="1005840" y="2286000"/>
            <a:ext cx="10241280" cy="1280160"/>
          </a:xfrm>
          <a:prstGeom prst="rect">
            <a:avLst/>
          </a:prstGeom>
          <a:noFill/>
        </p:spPr>
        <p:txBody>
          <a:bodyPr wrap="square">
            <a:spAutoFit/>
          </a:bodyPr>
          <a:lstStyle/>
          <a:p>
            <a:pPr>
              <a:defRPr sz="5000" b="1">
                <a:solidFill>
                  <a:srgbClr val="FFFFFF"/>
                </a:solidFill>
              </a:defRPr>
            </a:pPr>
            <a:r>
              <a:t>Natural Language Processing</a:t>
            </a:r>
          </a:p>
        </p:txBody>
      </p:sp>
      <p:sp>
        <p:nvSpPr>
          <p:cNvPr id="6" name="TextBox 5"/>
          <p:cNvSpPr txBox="1"/>
          <p:nvPr/>
        </p:nvSpPr>
        <p:spPr>
          <a:xfrm>
            <a:off x="1005840" y="4114800"/>
            <a:ext cx="10241280" cy="914400"/>
          </a:xfrm>
          <a:prstGeom prst="rect">
            <a:avLst/>
          </a:prstGeom>
          <a:noFill/>
        </p:spPr>
        <p:txBody>
          <a:bodyPr wrap="square">
            <a:spAutoFit/>
          </a:bodyPr>
          <a:lstStyle/>
          <a:p>
            <a:pPr>
              <a:defRPr sz="2400" b="0">
                <a:solidFill>
                  <a:srgbClr val="C8D4E6"/>
                </a:solidFill>
              </a:defRPr>
            </a:pPr>
            <a:r>
              <a:t>Kelas P — daring mandiri (self-paced)</a:t>
            </a:r>
          </a:p>
        </p:txBody>
      </p:sp>
      <p:sp>
        <p:nvSpPr>
          <p:cNvPr id="7" name="TextBox 6"/>
          <p:cNvSpPr txBox="1"/>
          <p:nvPr/>
        </p:nvSpPr>
        <p:spPr>
          <a:xfrm>
            <a:off x="1005840" y="5760720"/>
            <a:ext cx="10241280" cy="914400"/>
          </a:xfrm>
          <a:prstGeom prst="rect">
            <a:avLst/>
          </a:prstGeom>
          <a:noFill/>
        </p:spPr>
        <p:txBody>
          <a:bodyPr wrap="square">
            <a:spAutoFit/>
          </a:bodyPr>
          <a:lstStyle/>
          <a:p>
            <a:pPr>
              <a:defRPr sz="1600" b="0">
                <a:solidFill>
                  <a:srgbClr val="8FA3BF"/>
                </a:solidFill>
              </a:defRPr>
            </a:pPr>
            <a:r>
              <a:t>IF24KK64  ·  3 SKS  ·  Mukhlis Amien, M.Kom.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Baca ini lebih dulu</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100">
                <a:solidFill>
                  <a:srgbClr val="1A1F2B"/>
                </a:solidFill>
              </a:rPr>
              <a:t>•  Deck ini menggantikan pertemuan tatap muka pertama. Isinya dua hal:</a:t>
            </a:r>
          </a:p>
          <a:p>
            <a:pPr lvl="1">
              <a:spcBef>
                <a:spcPts val="300"/>
              </a:spcBef>
            </a:pPr>
            <a:r>
              <a:rPr sz="1800">
                <a:solidFill>
                  <a:srgbClr val="5A6372"/>
                </a:solidFill>
              </a:rPr>
              <a:t>–  </a:t>
            </a:r>
            <a:r>
              <a:rPr sz="1800" b="1">
                <a:solidFill>
                  <a:srgbClr val="102545"/>
                </a:solidFill>
              </a:rPr>
              <a:t>Kontrak kuliah</a:t>
            </a:r>
            <a:r>
              <a:rPr sz="1800">
                <a:solidFill>
                  <a:srgbClr val="5A6372"/>
                </a:solidFill>
              </a:rPr>
              <a:t> — aturan main satu semester</a:t>
            </a:r>
          </a:p>
          <a:p>
            <a:pPr lvl="1">
              <a:spcBef>
                <a:spcPts val="300"/>
              </a:spcBef>
            </a:pPr>
            <a:r>
              <a:rPr sz="1800">
                <a:solidFill>
                  <a:srgbClr val="5A6372"/>
                </a:solidFill>
              </a:rPr>
              <a:t>–  </a:t>
            </a:r>
            <a:r>
              <a:rPr sz="1800" b="1">
                <a:solidFill>
                  <a:srgbClr val="102545"/>
                </a:solidFill>
              </a:rPr>
              <a:t>Materi Pertemuan 1</a:t>
            </a:r>
            <a:r>
              <a:rPr sz="1800">
                <a:solidFill>
                  <a:srgbClr val="5A6372"/>
                </a:solidFill>
              </a:rPr>
              <a:t> — pengantar NLP: definisi, sejarah, aplikasi</a:t>
            </a:r>
          </a:p>
          <a:p>
            <a:pPr>
              <a:spcBef>
                <a:spcPts val="1100"/>
              </a:spcBef>
            </a:pPr>
            <a:r>
              <a:rPr sz="2100">
                <a:solidFill>
                  <a:srgbClr val="1A1F2B"/>
                </a:solidFill>
              </a:rPr>
              <a:t>•  Versi lengkap kontrak ada sebagai halaman </a:t>
            </a:r>
            <a:r>
              <a:rPr sz="2100" b="1">
                <a:solidFill>
                  <a:srgbClr val="102545"/>
                </a:solidFill>
              </a:rPr>
              <a:t>Kontrak Kuliah</a:t>
            </a:r>
            <a:r>
              <a:rPr sz="2100">
                <a:solidFill>
                  <a:srgbClr val="1A1F2B"/>
                </a:solidFill>
              </a:rPr>
              <a:t> di bagian General eBelajar</a:t>
            </a:r>
          </a:p>
          <a:p>
            <a:pPr>
              <a:spcBef>
                <a:spcPts val="1100"/>
              </a:spcBef>
            </a:pPr>
          </a:p>
          <a:p>
            <a:pPr>
              <a:spcBef>
                <a:spcPts val="1100"/>
              </a:spcBef>
            </a:pPr>
            <a:r>
              <a:rPr sz="2100">
                <a:solidFill>
                  <a:srgbClr val="1A1F2B"/>
                </a:solidFill>
              </a:rPr>
              <a:t>•  Sisihkan </a:t>
            </a:r>
            <a:r>
              <a:rPr sz="2100" b="1">
                <a:solidFill>
                  <a:srgbClr val="102545"/>
                </a:solidFill>
              </a:rPr>
              <a:t>±45 menit</a:t>
            </a:r>
            <a:r>
              <a:rPr sz="2100">
                <a:solidFill>
                  <a:srgbClr val="1A1F2B"/>
                </a:solidFill>
              </a:rPr>
              <a:t> untuk deck ini, lalu buka materi Pertemuan 1 di eBelajar sampai selesai.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788920"/>
            <a:ext cx="1463040" cy="9144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241280" cy="731520"/>
          </a:xfrm>
          <a:prstGeom prst="rect">
            <a:avLst/>
          </a:prstGeom>
          <a:noFill/>
        </p:spPr>
        <p:txBody>
          <a:bodyPr wrap="square">
            <a:spAutoFit/>
          </a:bodyPr>
          <a:lstStyle/>
          <a:p>
            <a:pPr>
              <a:defRPr sz="2000" b="1">
                <a:solidFill>
                  <a:srgbClr val="E6A023"/>
                </a:solidFill>
              </a:defRPr>
            </a:pPr>
            <a:r>
              <a:t>BAGIAN 1</a:t>
            </a:r>
          </a:p>
        </p:txBody>
      </p:sp>
      <p:sp>
        <p:nvSpPr>
          <p:cNvPr id="5" name="TextBox 4"/>
          <p:cNvSpPr txBox="1"/>
          <p:nvPr/>
        </p:nvSpPr>
        <p:spPr>
          <a:xfrm>
            <a:off x="1005840" y="3063240"/>
            <a:ext cx="10241280" cy="1280160"/>
          </a:xfrm>
          <a:prstGeom prst="rect">
            <a:avLst/>
          </a:prstGeom>
          <a:noFill/>
        </p:spPr>
        <p:txBody>
          <a:bodyPr wrap="square">
            <a:spAutoFit/>
          </a:bodyPr>
          <a:lstStyle/>
          <a:p>
            <a:pPr>
              <a:defRPr sz="4400" b="1">
                <a:solidFill>
                  <a:srgbClr val="FFFFFF"/>
                </a:solidFill>
              </a:defRPr>
            </a:pPr>
            <a:r>
              <a:t>Kontrak Kuliah</a:t>
            </a:r>
          </a:p>
        </p:txBody>
      </p:sp>
      <p:sp>
        <p:nvSpPr>
          <p:cNvPr id="6" name="TextBox 5"/>
          <p:cNvSpPr txBox="1"/>
          <p:nvPr/>
        </p:nvSpPr>
        <p:spPr>
          <a:xfrm>
            <a:off x="1005840" y="4297680"/>
            <a:ext cx="10241280" cy="914400"/>
          </a:xfrm>
          <a:prstGeom prst="rect">
            <a:avLst/>
          </a:prstGeom>
          <a:noFill/>
        </p:spPr>
        <p:txBody>
          <a:bodyPr wrap="square">
            <a:spAutoFit/>
          </a:bodyPr>
          <a:lstStyle/>
          <a:p>
            <a:pPr>
              <a:defRPr sz="2200">
                <a:solidFill>
                  <a:srgbClr val="C8D4E6"/>
                </a:solidFill>
              </a:defRPr>
            </a:pPr>
            <a:r>
              <a:t>Aturan main satu semester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Identitas mata kuliah</a:t>
            </a:r>
          </a:p>
        </p:txBody>
      </p:sp>
      <p:graphicFrame>
        <p:nvGraphicFramePr>
          <p:cNvPr id="5" name="Table 4"/>
          <p:cNvGraphicFramePr>
            <a:graphicFrameLocks noGrp="1"/>
          </p:cNvGraphicFramePr>
          <p:nvPr/>
        </p:nvGraphicFramePr>
        <p:xfrm>
          <a:off x="777240" y="1371600"/>
          <a:ext cx="10652760" cy="3090672"/>
        </p:xfrm>
        <a:graphic>
          <a:graphicData uri="http://schemas.openxmlformats.org/drawingml/2006/table">
            <a:tbl>
              <a:tblPr firstRow="1" bandRow="1">
                <a:tableStyleId>{5C22544A-7EE6-4342-B048-85BDC9FD1C3A}</a:tableStyleId>
              </a:tblPr>
              <a:tblGrid>
                <a:gridCol w="2663190"/>
                <a:gridCol w="7989570"/>
              </a:tblGrid>
              <a:tr h="386334">
                <a:tc>
                  <a:txBody>
                    <a:bodyPr/>
                    <a:lstStyle/>
                    <a:p>
                      <a:pPr>
                        <a:defRPr sz="1800" b="1">
                          <a:solidFill>
                            <a:srgbClr val="FFFFFF"/>
                          </a:solidFill>
                        </a:defRPr>
                      </a:pPr>
                    </a:p>
                  </a:txBody>
                  <a:tcPr anchor="ctr">
                    <a:solidFill>
                      <a:srgbClr val="102545"/>
                    </a:solidFill>
                  </a:tcPr>
                </a:tc>
                <a:tc>
                  <a:txBody>
                    <a:bodyPr/>
                    <a:lstStyle/>
                    <a:p>
                      <a:pPr>
                        <a:defRPr sz="1800" b="1">
                          <a:solidFill>
                            <a:srgbClr val="FFFFFF"/>
                          </a:solidFill>
                        </a:defRPr>
                      </a:pPr>
                    </a:p>
                  </a:txBody>
                  <a:tcPr anchor="ctr">
                    <a:solidFill>
                      <a:srgbClr val="102545"/>
                    </a:solidFill>
                  </a:tcPr>
                </a:tc>
              </a:tr>
              <a:tr h="386334">
                <a:tc>
                  <a:txBody>
                    <a:bodyPr/>
                    <a:lstStyle/>
                    <a:p>
                      <a:pPr>
                        <a:defRPr sz="1800" b="1">
                          <a:solidFill>
                            <a:srgbClr val="102545"/>
                          </a:solidFill>
                        </a:defRPr>
                      </a:pPr>
                      <a:r>
                        <a:t>Mata Kuliah</a:t>
                      </a:r>
                    </a:p>
                  </a:txBody>
                  <a:tcPr anchor="ctr">
                    <a:solidFill>
                      <a:srgbClr val="F5F7FA"/>
                    </a:solidFill>
                  </a:tcPr>
                </a:tc>
                <a:tc>
                  <a:txBody>
                    <a:bodyPr/>
                    <a:lstStyle/>
                    <a:p>
                      <a:pPr>
                        <a:defRPr sz="1800" b="0">
                          <a:solidFill>
                            <a:srgbClr val="1A1F2B"/>
                          </a:solidFill>
                        </a:defRPr>
                      </a:pPr>
                      <a:r>
                        <a:t>Natural Language Processing  (IF24KK64)</a:t>
                      </a:r>
                    </a:p>
                  </a:txBody>
                  <a:tcPr anchor="ctr">
                    <a:solidFill>
                      <a:srgbClr val="F5F7FA"/>
                    </a:solidFill>
                  </a:tcPr>
                </a:tc>
              </a:tr>
              <a:tr h="386334">
                <a:tc>
                  <a:txBody>
                    <a:bodyPr/>
                    <a:lstStyle/>
                    <a:p>
                      <a:pPr>
                        <a:defRPr sz="1800" b="1">
                          <a:solidFill>
                            <a:srgbClr val="102545"/>
                          </a:solidFill>
                        </a:defRPr>
                      </a:pPr>
                      <a:r>
                        <a:t>Bobot</a:t>
                      </a:r>
                    </a:p>
                  </a:txBody>
                  <a:tcPr anchor="ctr">
                    <a:solidFill>
                      <a:srgbClr val="FFFFFF"/>
                    </a:solidFill>
                  </a:tcPr>
                </a:tc>
                <a:tc>
                  <a:txBody>
                    <a:bodyPr/>
                    <a:lstStyle/>
                    <a:p>
                      <a:pPr>
                        <a:defRPr sz="1800" b="0">
                          <a:solidFill>
                            <a:srgbClr val="1A1F2B"/>
                          </a:solidFill>
                        </a:defRPr>
                      </a:pPr>
                      <a:r>
                        <a:t>3 SKS  ·  Semester 5  ·  Prodi Informatika</a:t>
                      </a:r>
                    </a:p>
                  </a:txBody>
                  <a:tcPr anchor="ctr">
                    <a:solidFill>
                      <a:srgbClr val="FFFFFF"/>
                    </a:solidFill>
                  </a:tcPr>
                </a:tc>
              </a:tr>
              <a:tr h="386334">
                <a:tc>
                  <a:txBody>
                    <a:bodyPr/>
                    <a:lstStyle/>
                    <a:p>
                      <a:pPr>
                        <a:defRPr sz="1800" b="1">
                          <a:solidFill>
                            <a:srgbClr val="102545"/>
                          </a:solidFill>
                        </a:defRPr>
                      </a:pPr>
                      <a:r>
                        <a:t>Prasyarat</a:t>
                      </a:r>
                    </a:p>
                  </a:txBody>
                  <a:tcPr anchor="ctr">
                    <a:solidFill>
                      <a:srgbClr val="F5F7FA"/>
                    </a:solidFill>
                  </a:tcPr>
                </a:tc>
                <a:tc>
                  <a:txBody>
                    <a:bodyPr/>
                    <a:lstStyle/>
                    <a:p>
                      <a:pPr>
                        <a:defRPr sz="1800" b="0">
                          <a:solidFill>
                            <a:srgbClr val="1A1F2B"/>
                          </a:solidFill>
                        </a:defRPr>
                      </a:pPr>
                      <a:r>
                        <a:t>Kecerdasan Buatan</a:t>
                      </a:r>
                    </a:p>
                  </a:txBody>
                  <a:tcPr anchor="ctr">
                    <a:solidFill>
                      <a:srgbClr val="F5F7FA"/>
                    </a:solidFill>
                  </a:tcPr>
                </a:tc>
              </a:tr>
              <a:tr h="386334">
                <a:tc>
                  <a:txBody>
                    <a:bodyPr/>
                    <a:lstStyle/>
                    <a:p>
                      <a:pPr>
                        <a:defRPr sz="1800" b="1">
                          <a:solidFill>
                            <a:srgbClr val="102545"/>
                          </a:solidFill>
                        </a:defRPr>
                      </a:pPr>
                      <a:r>
                        <a:t>Kelas</a:t>
                      </a:r>
                    </a:p>
                  </a:txBody>
                  <a:tcPr anchor="ctr">
                    <a:solidFill>
                      <a:srgbClr val="FFFFFF"/>
                    </a:solidFill>
                  </a:tcPr>
                </a:tc>
                <a:tc>
                  <a:txBody>
                    <a:bodyPr/>
                    <a:lstStyle/>
                    <a:p>
                      <a:pPr>
                        <a:defRPr sz="1800" b="0">
                          <a:solidFill>
                            <a:srgbClr val="1A1F2B"/>
                          </a:solidFill>
                        </a:defRPr>
                      </a:pPr>
                      <a:r>
                        <a:t>P (Profesional) — **daring mandiri, asinkron penuh**</a:t>
                      </a:r>
                    </a:p>
                  </a:txBody>
                  <a:tcPr anchor="ctr">
                    <a:solidFill>
                      <a:srgbClr val="FFFFFF"/>
                    </a:solidFill>
                  </a:tcPr>
                </a:tc>
              </a:tr>
              <a:tr h="386334">
                <a:tc>
                  <a:txBody>
                    <a:bodyPr/>
                    <a:lstStyle/>
                    <a:p>
                      <a:pPr>
                        <a:defRPr sz="1800" b="1">
                          <a:solidFill>
                            <a:srgbClr val="102545"/>
                          </a:solidFill>
                        </a:defRPr>
                      </a:pPr>
                      <a:r>
                        <a:t>Periode</a:t>
                      </a:r>
                    </a:p>
                  </a:txBody>
                  <a:tcPr anchor="ctr">
                    <a:solidFill>
                      <a:srgbClr val="F5F7FA"/>
                    </a:solidFill>
                  </a:tcPr>
                </a:tc>
                <a:tc>
                  <a:txBody>
                    <a:bodyPr/>
                    <a:lstStyle/>
                    <a:p>
                      <a:pPr>
                        <a:defRPr sz="1800" b="0">
                          <a:solidFill>
                            <a:srgbClr val="1A1F2B"/>
                          </a:solidFill>
                        </a:defRPr>
                      </a:pPr>
                      <a:r>
                        <a:t>7 September 2026 – 28 Februari 2027</a:t>
                      </a:r>
                    </a:p>
                  </a:txBody>
                  <a:tcPr anchor="ctr">
                    <a:solidFill>
                      <a:srgbClr val="F5F7FA"/>
                    </a:solidFill>
                  </a:tcPr>
                </a:tc>
              </a:tr>
              <a:tr h="386334">
                <a:tc>
                  <a:txBody>
                    <a:bodyPr/>
                    <a:lstStyle/>
                    <a:p>
                      <a:pPr>
                        <a:defRPr sz="1800" b="1">
                          <a:solidFill>
                            <a:srgbClr val="102545"/>
                          </a:solidFill>
                        </a:defRPr>
                      </a:pPr>
                      <a:r>
                        <a:t>Tenggat akhir</a:t>
                      </a:r>
                    </a:p>
                  </a:txBody>
                  <a:tcPr anchor="ctr">
                    <a:solidFill>
                      <a:srgbClr val="FFFFFF"/>
                    </a:solidFill>
                  </a:tcPr>
                </a:tc>
                <a:tc>
                  <a:txBody>
                    <a:bodyPr/>
                    <a:lstStyle/>
                    <a:p>
                      <a:pPr>
                        <a:defRPr sz="1800" b="0">
                          <a:solidFill>
                            <a:srgbClr val="1A1F2B"/>
                          </a:solidFill>
                        </a:defRPr>
                      </a:pPr>
                      <a:r>
                        <a:t>24 Januari 2027, 23.55</a:t>
                      </a:r>
                    </a:p>
                  </a:txBody>
                  <a:tcPr anchor="ctr">
                    <a:solidFill>
                      <a:srgbClr val="FFFFFF"/>
                    </a:solidFill>
                  </a:tcPr>
                </a:tc>
              </a:tr>
              <a:tr h="386334">
                <a:tc>
                  <a:txBody>
                    <a:bodyPr/>
                    <a:lstStyle/>
                    <a:p>
                      <a:pPr>
                        <a:defRPr sz="1800" b="1">
                          <a:solidFill>
                            <a:srgbClr val="102545"/>
                          </a:solidFill>
                        </a:defRPr>
                      </a:pPr>
                      <a:r>
                        <a:t>Dosen</a:t>
                      </a:r>
                    </a:p>
                  </a:txBody>
                  <a:tcPr anchor="ctr">
                    <a:solidFill>
                      <a:srgbClr val="F5F7FA"/>
                    </a:solidFill>
                  </a:tcPr>
                </a:tc>
                <a:tc>
                  <a:txBody>
                    <a:bodyPr/>
                    <a:lstStyle/>
                    <a:p>
                      <a:pPr>
                        <a:defRPr sz="1800" b="0">
                          <a:solidFill>
                            <a:srgbClr val="1A1F2B"/>
                          </a:solidFill>
                        </a:defRPr>
                      </a:pPr>
                      <a:r>
                        <a:t>Mukhlis Amien, M.Kom.</a:t>
                      </a:r>
                    </a:p>
                  </a:txBody>
                  <a:tcPr anchor="ctr">
                    <a:solidFill>
                      <a:srgbClr val="F5F7FA"/>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Apa yang Anda bisa di akhir semester</a:t>
            </a:r>
          </a:p>
        </p:txBody>
      </p:sp>
      <p:sp>
        <p:nvSpPr>
          <p:cNvPr id="5" name="TextBox 4"/>
          <p:cNvSpPr txBox="1"/>
          <p:nvPr/>
        </p:nvSpPr>
        <p:spPr>
          <a:xfrm>
            <a:off x="777240" y="1234440"/>
            <a:ext cx="10789920" cy="548640"/>
          </a:xfrm>
          <a:prstGeom prst="rect">
            <a:avLst/>
          </a:prstGeom>
          <a:noFill/>
        </p:spPr>
        <p:txBody>
          <a:bodyPr wrap="square">
            <a:spAutoFit/>
          </a:bodyPr>
          <a:lstStyle/>
          <a:p>
            <a:pPr>
              <a:defRPr sz="1900" i="1">
                <a:solidFill>
                  <a:srgbClr val="5A6372"/>
                </a:solidFill>
              </a:defRPr>
            </a:pPr>
            <a:r>
              <a:t>CPMK082 · CPMK113  →  mendukung CPL08 &amp; CPL11</a:t>
            </a:r>
          </a:p>
        </p:txBody>
      </p:sp>
      <p:sp>
        <p:nvSpPr>
          <p:cNvPr id="6" name="TextBox 5"/>
          <p:cNvSpPr txBox="1"/>
          <p:nvPr/>
        </p:nvSpPr>
        <p:spPr>
          <a:xfrm>
            <a:off x="777240" y="1874519"/>
            <a:ext cx="10789920" cy="4480560"/>
          </a:xfrm>
          <a:prstGeom prst="rect">
            <a:avLst/>
          </a:prstGeom>
          <a:noFill/>
        </p:spPr>
        <p:txBody>
          <a:bodyPr wrap="square">
            <a:spAutoFit/>
          </a:bodyPr>
          <a:lstStyle/>
          <a:p>
            <a:pPr>
              <a:spcBef>
                <a:spcPts val="1100"/>
              </a:spcBef>
            </a:pPr>
            <a:r>
              <a:rPr sz="2000">
                <a:solidFill>
                  <a:srgbClr val="1A1F2B"/>
                </a:solidFill>
              </a:rPr>
              <a:t>•  Melakukan </a:t>
            </a:r>
            <a:r>
              <a:rPr sz="2000" b="1">
                <a:solidFill>
                  <a:srgbClr val="102545"/>
                </a:solidFill>
              </a:rPr>
              <a:t>preprocessing teks</a:t>
            </a:r>
            <a:r>
              <a:rPr sz="2000">
                <a:solidFill>
                  <a:srgbClr val="1A1F2B"/>
                </a:solidFill>
              </a:rPr>
              <a:t> — tokenisasi, stemming, lemmatization  </a:t>
            </a:r>
            <a:r>
              <a:rPr sz="2000" i="1">
                <a:solidFill>
                  <a:srgbClr val="1A1F2B"/>
                </a:solidFill>
              </a:rPr>
              <a:t>(Sub-CPMK082.1)</a:t>
            </a:r>
          </a:p>
          <a:p>
            <a:pPr>
              <a:spcBef>
                <a:spcPts val="1100"/>
              </a:spcBef>
            </a:pPr>
            <a:r>
              <a:rPr sz="2000">
                <a:solidFill>
                  <a:srgbClr val="1A1F2B"/>
                </a:solidFill>
              </a:rPr>
              <a:t>•  Membangun </a:t>
            </a:r>
            <a:r>
              <a:rPr sz="2000" b="1">
                <a:solidFill>
                  <a:srgbClr val="102545"/>
                </a:solidFill>
              </a:rPr>
              <a:t>pipeline otomatis</a:t>
            </a:r>
            <a:r>
              <a:rPr sz="2000">
                <a:solidFill>
                  <a:srgbClr val="1A1F2B"/>
                </a:solidFill>
              </a:rPr>
              <a:t> untuk analisis teks  </a:t>
            </a:r>
            <a:r>
              <a:rPr sz="2000" i="1">
                <a:solidFill>
                  <a:srgbClr val="1A1F2B"/>
                </a:solidFill>
              </a:rPr>
              <a:t>(082.2)</a:t>
            </a:r>
          </a:p>
          <a:p>
            <a:pPr>
              <a:spcBef>
                <a:spcPts val="1100"/>
              </a:spcBef>
            </a:pPr>
            <a:r>
              <a:rPr sz="2000">
                <a:solidFill>
                  <a:srgbClr val="1A1F2B"/>
                </a:solidFill>
              </a:rPr>
              <a:t>•  Memakai </a:t>
            </a:r>
            <a:r>
              <a:rPr sz="2000" b="1">
                <a:solidFill>
                  <a:srgbClr val="102545"/>
                </a:solidFill>
              </a:rPr>
              <a:t>machine learning untuk klasifikasi teks</a:t>
            </a:r>
            <a:r>
              <a:rPr sz="2000">
                <a:solidFill>
                  <a:srgbClr val="1A1F2B"/>
                </a:solidFill>
              </a:rPr>
              <a:t>  </a:t>
            </a:r>
            <a:r>
              <a:rPr sz="2000" i="1">
                <a:solidFill>
                  <a:srgbClr val="1A1F2B"/>
                </a:solidFill>
              </a:rPr>
              <a:t>(082.3, 113.1)</a:t>
            </a:r>
          </a:p>
          <a:p>
            <a:pPr>
              <a:spcBef>
                <a:spcPts val="1100"/>
              </a:spcBef>
            </a:pPr>
            <a:r>
              <a:rPr sz="2000">
                <a:solidFill>
                  <a:srgbClr val="1A1F2B"/>
                </a:solidFill>
              </a:rPr>
              <a:t>•  Merancang model </a:t>
            </a:r>
            <a:r>
              <a:rPr sz="2000" b="1">
                <a:solidFill>
                  <a:srgbClr val="102545"/>
                </a:solidFill>
              </a:rPr>
              <a:t>deep learning</a:t>
            </a:r>
            <a:r>
              <a:rPr sz="2000">
                <a:solidFill>
                  <a:srgbClr val="1A1F2B"/>
                </a:solidFill>
              </a:rPr>
              <a:t> (RNN, LSTM) untuk analisis sentimen  </a:t>
            </a:r>
            <a:r>
              <a:rPr sz="2000" i="1">
                <a:solidFill>
                  <a:srgbClr val="1A1F2B"/>
                </a:solidFill>
              </a:rPr>
              <a:t>(113.2)</a:t>
            </a:r>
          </a:p>
          <a:p>
            <a:pPr>
              <a:spcBef>
                <a:spcPts val="1100"/>
              </a:spcBef>
            </a:pPr>
            <a:r>
              <a:rPr sz="2000">
                <a:solidFill>
                  <a:srgbClr val="1A1F2B"/>
                </a:solidFill>
              </a:rPr>
              <a:t>•  Memanfaatkan model </a:t>
            </a:r>
            <a:r>
              <a:rPr sz="2000" b="1">
                <a:solidFill>
                  <a:srgbClr val="102545"/>
                </a:solidFill>
              </a:rPr>
              <a:t>Transformer</a:t>
            </a:r>
            <a:r>
              <a:rPr sz="2000">
                <a:solidFill>
                  <a:srgbClr val="1A1F2B"/>
                </a:solidFill>
              </a:rPr>
              <a:t> (BERT, GPT) dalam aplikasi NLP  </a:t>
            </a:r>
            <a:r>
              <a:rPr sz="2000" i="1">
                <a:solidFill>
                  <a:srgbClr val="1A1F2B"/>
                </a:solidFill>
              </a:rPr>
              <a:t>(113.3)</a:t>
            </a:r>
          </a:p>
          <a:p>
            <a:pPr>
              <a:spcBef>
                <a:spcPts val="1100"/>
              </a:spcBef>
            </a:pPr>
            <a:r>
              <a:rPr sz="2000">
                <a:solidFill>
                  <a:srgbClr val="1A1F2B"/>
                </a:solidFill>
              </a:rPr>
              <a:t>•  </a:t>
            </a:r>
            <a:r>
              <a:rPr sz="2000" b="1">
                <a:solidFill>
                  <a:srgbClr val="102545"/>
                </a:solidFill>
              </a:rPr>
              <a:t>Mengidentifikasi dan mengatasi bias</a:t>
            </a:r>
            <a:r>
              <a:rPr sz="2000">
                <a:solidFill>
                  <a:srgbClr val="1A1F2B"/>
                </a:solidFill>
              </a:rPr>
              <a:t> algoritma dalam sistem NLP  </a:t>
            </a:r>
            <a:r>
              <a:rPr sz="2000" i="1">
                <a:solidFill>
                  <a:srgbClr val="1A1F2B"/>
                </a:solidFill>
              </a:rPr>
              <a:t>(113.4)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Peta 16 pertemuan</a:t>
            </a:r>
          </a:p>
        </p:txBody>
      </p:sp>
      <p:sp>
        <p:nvSpPr>
          <p:cNvPr id="5" name="TextBox 4"/>
          <p:cNvSpPr txBox="1"/>
          <p:nvPr/>
        </p:nvSpPr>
        <p:spPr>
          <a:xfrm>
            <a:off x="777240" y="1188720"/>
            <a:ext cx="10789920" cy="457200"/>
          </a:xfrm>
          <a:prstGeom prst="rect">
            <a:avLst/>
          </a:prstGeom>
          <a:noFill/>
        </p:spPr>
        <p:txBody>
          <a:bodyPr wrap="square">
            <a:spAutoFit/>
          </a:bodyPr>
          <a:lstStyle/>
          <a:p>
            <a:pPr>
              <a:defRPr sz="1700" i="1">
                <a:solidFill>
                  <a:srgbClr val="5A6372"/>
                </a:solidFill>
              </a:defRPr>
            </a:pPr>
            <a:r>
              <a:t>Tujuh pertemuan pertama seluruhnya soal menyiapkan teks. Transformer baru muncul di Pertemuan 11.</a:t>
            </a:r>
          </a:p>
        </p:txBody>
      </p:sp>
      <p:graphicFrame>
        <p:nvGraphicFramePr>
          <p:cNvPr id="6" name="Table 5"/>
          <p:cNvGraphicFramePr>
            <a:graphicFrameLocks noGrp="1"/>
          </p:cNvGraphicFramePr>
          <p:nvPr/>
        </p:nvGraphicFramePr>
        <p:xfrm>
          <a:off x="777240" y="1783080"/>
          <a:ext cx="5212079" cy="2798064"/>
        </p:xfrm>
        <a:graphic>
          <a:graphicData uri="http://schemas.openxmlformats.org/drawingml/2006/table">
            <a:tbl>
              <a:tblPr firstRow="1" bandRow="1">
                <a:tableStyleId>{5C22544A-7EE6-4342-B048-85BDC9FD1C3A}</a:tableStyleId>
              </a:tblPr>
              <a:tblGrid>
                <a:gridCol w="554476"/>
                <a:gridCol w="3382307"/>
                <a:gridCol w="1275296"/>
              </a:tblGrid>
              <a:tr h="310896">
                <a:tc>
                  <a:txBody>
                    <a:bodyPr/>
                    <a:lstStyle/>
                    <a:p>
                      <a:pPr>
                        <a:defRPr sz="1300" b="1">
                          <a:solidFill>
                            <a:srgbClr val="FFFFFF"/>
                          </a:solidFill>
                        </a:defRPr>
                      </a:pPr>
                      <a:r>
                        <a:t>#</a:t>
                      </a:r>
                    </a:p>
                  </a:txBody>
                  <a:tcPr anchor="ctr">
                    <a:solidFill>
                      <a:srgbClr val="102545"/>
                    </a:solidFill>
                  </a:tcPr>
                </a:tc>
                <a:tc>
                  <a:txBody>
                    <a:bodyPr/>
                    <a:lstStyle/>
                    <a:p>
                      <a:pPr>
                        <a:defRPr sz="1300" b="1">
                          <a:solidFill>
                            <a:srgbClr val="FFFFFF"/>
                          </a:solidFill>
                        </a:defRPr>
                      </a:pPr>
                      <a:r>
                        <a:t>Topik</a:t>
                      </a:r>
                    </a:p>
                  </a:txBody>
                  <a:tcPr anchor="ctr">
                    <a:solidFill>
                      <a:srgbClr val="102545"/>
                    </a:solidFill>
                  </a:tcPr>
                </a:tc>
                <a:tc>
                  <a:txBody>
                    <a:bodyPr/>
                    <a:lstStyle/>
                    <a:p>
                      <a:pPr>
                        <a:defRPr sz="1300" b="1">
                          <a:solidFill>
                            <a:srgbClr val="FFFFFF"/>
                          </a:solidFill>
                        </a:defRPr>
                      </a:pPr>
                      <a:r>
                        <a:t>Sub-CPMK</a:t>
                      </a:r>
                    </a:p>
                  </a:txBody>
                  <a:tcPr anchor="ctr">
                    <a:solidFill>
                      <a:srgbClr val="102545"/>
                    </a:solidFill>
                  </a:tcPr>
                </a:tc>
              </a:tr>
              <a:tr h="310896">
                <a:tc>
                  <a:txBody>
                    <a:bodyPr/>
                    <a:lstStyle/>
                    <a:p>
                      <a:pPr>
                        <a:defRPr sz="1300" b="0">
                          <a:solidFill>
                            <a:srgbClr val="1A1F2B"/>
                          </a:solidFill>
                        </a:defRPr>
                      </a:pPr>
                      <a:r>
                        <a:t>1</a:t>
                      </a:r>
                    </a:p>
                  </a:txBody>
                  <a:tcPr anchor="ctr">
                    <a:solidFill>
                      <a:srgbClr val="F5F7FA"/>
                    </a:solidFill>
                  </a:tcPr>
                </a:tc>
                <a:tc>
                  <a:txBody>
                    <a:bodyPr/>
                    <a:lstStyle/>
                    <a:p>
                      <a:pPr>
                        <a:defRPr sz="1300" b="1">
                          <a:solidFill>
                            <a:srgbClr val="102545"/>
                          </a:solidFill>
                        </a:defRPr>
                      </a:pPr>
                      <a:r>
                        <a:t>Pengantar NLP: definisi, sejarah, aplikasi</a:t>
                      </a:r>
                    </a:p>
                  </a:txBody>
                  <a:tcPr anchor="ctr">
                    <a:solidFill>
                      <a:srgbClr val="F5F7FA"/>
                    </a:solidFill>
                  </a:tcPr>
                </a:tc>
                <a:tc>
                  <a:txBody>
                    <a:bodyPr/>
                    <a:lstStyle/>
                    <a:p>
                      <a:pPr>
                        <a:defRPr sz="1300" b="0">
                          <a:solidFill>
                            <a:srgbClr val="1A1F2B"/>
                          </a:solidFill>
                        </a:defRPr>
                      </a:pPr>
                      <a:r>
                        <a:t>082.1</a:t>
                      </a:r>
                    </a:p>
                  </a:txBody>
                  <a:tcPr anchor="ctr">
                    <a:solidFill>
                      <a:srgbClr val="F5F7FA"/>
                    </a:solidFill>
                  </a:tcPr>
                </a:tc>
              </a:tr>
              <a:tr h="310896">
                <a:tc>
                  <a:txBody>
                    <a:bodyPr/>
                    <a:lstStyle/>
                    <a:p>
                      <a:pPr>
                        <a:defRPr sz="1300" b="0">
                          <a:solidFill>
                            <a:srgbClr val="1A1F2B"/>
                          </a:solidFill>
                        </a:defRPr>
                      </a:pPr>
                      <a:r>
                        <a:t>2</a:t>
                      </a:r>
                    </a:p>
                  </a:txBody>
                  <a:tcPr anchor="ctr">
                    <a:solidFill>
                      <a:srgbClr val="FFFFFF"/>
                    </a:solidFill>
                  </a:tcPr>
                </a:tc>
                <a:tc>
                  <a:txBody>
                    <a:bodyPr/>
                    <a:lstStyle/>
                    <a:p>
                      <a:pPr>
                        <a:defRPr sz="1300" b="0">
                          <a:solidFill>
                            <a:srgbClr val="1A1F2B"/>
                          </a:solidFill>
                        </a:defRPr>
                      </a:pPr>
                      <a:r>
                        <a:t>Preprocessing teks: tokenisasi &amp; stopwords</a:t>
                      </a:r>
                    </a:p>
                  </a:txBody>
                  <a:tcPr anchor="ctr">
                    <a:solidFill>
                      <a:srgbClr val="FFFFFF"/>
                    </a:solidFill>
                  </a:tcPr>
                </a:tc>
                <a:tc>
                  <a:txBody>
                    <a:bodyPr/>
                    <a:lstStyle/>
                    <a:p>
                      <a:pPr>
                        <a:defRPr sz="1300" b="0">
                          <a:solidFill>
                            <a:srgbClr val="1A1F2B"/>
                          </a:solidFill>
                        </a:defRPr>
                      </a:pPr>
                      <a:r>
                        <a:t>082.1</a:t>
                      </a:r>
                    </a:p>
                  </a:txBody>
                  <a:tcPr anchor="ctr">
                    <a:solidFill>
                      <a:srgbClr val="FFFFFF"/>
                    </a:solidFill>
                  </a:tcPr>
                </a:tc>
              </a:tr>
              <a:tr h="310896">
                <a:tc>
                  <a:txBody>
                    <a:bodyPr/>
                    <a:lstStyle/>
                    <a:p>
                      <a:pPr>
                        <a:defRPr sz="1300" b="0">
                          <a:solidFill>
                            <a:srgbClr val="1A1F2B"/>
                          </a:solidFill>
                        </a:defRPr>
                      </a:pPr>
                      <a:r>
                        <a:t>3</a:t>
                      </a:r>
                    </a:p>
                  </a:txBody>
                  <a:tcPr anchor="ctr">
                    <a:solidFill>
                      <a:srgbClr val="F5F7FA"/>
                    </a:solidFill>
                  </a:tcPr>
                </a:tc>
                <a:tc>
                  <a:txBody>
                    <a:bodyPr/>
                    <a:lstStyle/>
                    <a:p>
                      <a:pPr>
                        <a:defRPr sz="1300" b="0">
                          <a:solidFill>
                            <a:srgbClr val="1A1F2B"/>
                          </a:solidFill>
                        </a:defRPr>
                      </a:pPr>
                      <a:r>
                        <a:t>Preprocessing teks: stemming &amp; lemmatization</a:t>
                      </a:r>
                    </a:p>
                  </a:txBody>
                  <a:tcPr anchor="ctr">
                    <a:solidFill>
                      <a:srgbClr val="F5F7FA"/>
                    </a:solidFill>
                  </a:tcPr>
                </a:tc>
                <a:tc>
                  <a:txBody>
                    <a:bodyPr/>
                    <a:lstStyle/>
                    <a:p>
                      <a:pPr>
                        <a:defRPr sz="1300" b="0">
                          <a:solidFill>
                            <a:srgbClr val="1A1F2B"/>
                          </a:solidFill>
                        </a:defRPr>
                      </a:pPr>
                      <a:r>
                        <a:t>082.1</a:t>
                      </a:r>
                    </a:p>
                  </a:txBody>
                  <a:tcPr anchor="ctr">
                    <a:solidFill>
                      <a:srgbClr val="F5F7FA"/>
                    </a:solidFill>
                  </a:tcPr>
                </a:tc>
              </a:tr>
              <a:tr h="310896">
                <a:tc>
                  <a:txBody>
                    <a:bodyPr/>
                    <a:lstStyle/>
                    <a:p>
                      <a:pPr>
                        <a:defRPr sz="1300" b="0">
                          <a:solidFill>
                            <a:srgbClr val="1A1F2B"/>
                          </a:solidFill>
                        </a:defRPr>
                      </a:pPr>
                      <a:r>
                        <a:t>4</a:t>
                      </a:r>
                    </a:p>
                  </a:txBody>
                  <a:tcPr anchor="ctr">
                    <a:solidFill>
                      <a:srgbClr val="FFFFFF"/>
                    </a:solidFill>
                  </a:tcPr>
                </a:tc>
                <a:tc>
                  <a:txBody>
                    <a:bodyPr/>
                    <a:lstStyle/>
                    <a:p>
                      <a:pPr>
                        <a:defRPr sz="1300" b="0">
                          <a:solidFill>
                            <a:srgbClr val="1A1F2B"/>
                          </a:solidFill>
                        </a:defRPr>
                      </a:pPr>
                      <a:r>
                        <a:t>Representasi teks: BoW &amp; TF-IDF</a:t>
                      </a:r>
                    </a:p>
                  </a:txBody>
                  <a:tcPr anchor="ctr">
                    <a:solidFill>
                      <a:srgbClr val="FFFFFF"/>
                    </a:solidFill>
                  </a:tcPr>
                </a:tc>
                <a:tc>
                  <a:txBody>
                    <a:bodyPr/>
                    <a:lstStyle/>
                    <a:p>
                      <a:pPr>
                        <a:defRPr sz="1300" b="0">
                          <a:solidFill>
                            <a:srgbClr val="1A1F2B"/>
                          </a:solidFill>
                        </a:defRPr>
                      </a:pPr>
                      <a:r>
                        <a:t>082.1</a:t>
                      </a:r>
                    </a:p>
                  </a:txBody>
                  <a:tcPr anchor="ctr">
                    <a:solidFill>
                      <a:srgbClr val="FFFFFF"/>
                    </a:solidFill>
                  </a:tcPr>
                </a:tc>
              </a:tr>
              <a:tr h="310896">
                <a:tc>
                  <a:txBody>
                    <a:bodyPr/>
                    <a:lstStyle/>
                    <a:p>
                      <a:pPr>
                        <a:defRPr sz="1300" b="0">
                          <a:solidFill>
                            <a:srgbClr val="1A1F2B"/>
                          </a:solidFill>
                        </a:defRPr>
                      </a:pPr>
                      <a:r>
                        <a:t>5</a:t>
                      </a:r>
                    </a:p>
                  </a:txBody>
                  <a:tcPr anchor="ctr">
                    <a:solidFill>
                      <a:srgbClr val="F5F7FA"/>
                    </a:solidFill>
                  </a:tcPr>
                </a:tc>
                <a:tc>
                  <a:txBody>
                    <a:bodyPr/>
                    <a:lstStyle/>
                    <a:p>
                      <a:pPr>
                        <a:defRPr sz="1300" b="0">
                          <a:solidFill>
                            <a:srgbClr val="1A1F2B"/>
                          </a:solidFill>
                        </a:defRPr>
                      </a:pPr>
                      <a:r>
                        <a:t>Representasi teks: word embeddings (Word2Vec, GloVe)</a:t>
                      </a:r>
                    </a:p>
                  </a:txBody>
                  <a:tcPr anchor="ctr">
                    <a:solidFill>
                      <a:srgbClr val="F5F7FA"/>
                    </a:solidFill>
                  </a:tcPr>
                </a:tc>
                <a:tc>
                  <a:txBody>
                    <a:bodyPr/>
                    <a:lstStyle/>
                    <a:p>
                      <a:pPr>
                        <a:defRPr sz="1300" b="0">
                          <a:solidFill>
                            <a:srgbClr val="1A1F2B"/>
                          </a:solidFill>
                        </a:defRPr>
                      </a:pPr>
                      <a:r>
                        <a:t>082.1</a:t>
                      </a:r>
                    </a:p>
                  </a:txBody>
                  <a:tcPr anchor="ctr">
                    <a:solidFill>
                      <a:srgbClr val="F5F7FA"/>
                    </a:solidFill>
                  </a:tcPr>
                </a:tc>
              </a:tr>
              <a:tr h="310896">
                <a:tc>
                  <a:txBody>
                    <a:bodyPr/>
                    <a:lstStyle/>
                    <a:p>
                      <a:pPr>
                        <a:defRPr sz="1300" b="0">
                          <a:solidFill>
                            <a:srgbClr val="1A1F2B"/>
                          </a:solidFill>
                        </a:defRPr>
                      </a:pPr>
                      <a:r>
                        <a:t>6</a:t>
                      </a:r>
                    </a:p>
                  </a:txBody>
                  <a:tcPr anchor="ctr">
                    <a:solidFill>
                      <a:srgbClr val="FFFFFF"/>
                    </a:solidFill>
                  </a:tcPr>
                </a:tc>
                <a:tc>
                  <a:txBody>
                    <a:bodyPr/>
                    <a:lstStyle/>
                    <a:p>
                      <a:pPr>
                        <a:defRPr sz="1300" b="0">
                          <a:solidFill>
                            <a:srgbClr val="1A1F2B"/>
                          </a:solidFill>
                        </a:defRPr>
                      </a:pPr>
                      <a:r>
                        <a:t>Pipeline otomatisasi preprocessing teks</a:t>
                      </a:r>
                    </a:p>
                  </a:txBody>
                  <a:tcPr anchor="ctr">
                    <a:solidFill>
                      <a:srgbClr val="FFFFFF"/>
                    </a:solidFill>
                  </a:tcPr>
                </a:tc>
                <a:tc>
                  <a:txBody>
                    <a:bodyPr/>
                    <a:lstStyle/>
                    <a:p>
                      <a:pPr>
                        <a:defRPr sz="1300" b="0">
                          <a:solidFill>
                            <a:srgbClr val="1A1F2B"/>
                          </a:solidFill>
                        </a:defRPr>
                      </a:pPr>
                      <a:r>
                        <a:t>082.2</a:t>
                      </a:r>
                    </a:p>
                  </a:txBody>
                  <a:tcPr anchor="ctr">
                    <a:solidFill>
                      <a:srgbClr val="FFFFFF"/>
                    </a:solidFill>
                  </a:tcPr>
                </a:tc>
              </a:tr>
              <a:tr h="310896">
                <a:tc>
                  <a:txBody>
                    <a:bodyPr/>
                    <a:lstStyle/>
                    <a:p>
                      <a:pPr>
                        <a:defRPr sz="1300" b="0">
                          <a:solidFill>
                            <a:srgbClr val="1A1F2B"/>
                          </a:solidFill>
                        </a:defRPr>
                      </a:pPr>
                      <a:r>
                        <a:t>7</a:t>
                      </a:r>
                    </a:p>
                  </a:txBody>
                  <a:tcPr anchor="ctr">
                    <a:solidFill>
                      <a:srgbClr val="F5F7FA"/>
                    </a:solidFill>
                  </a:tcPr>
                </a:tc>
                <a:tc>
                  <a:txBody>
                    <a:bodyPr/>
                    <a:lstStyle/>
                    <a:p>
                      <a:pPr>
                        <a:defRPr sz="1300" b="0">
                          <a:solidFill>
                            <a:srgbClr val="1A1F2B"/>
                          </a:solidFill>
                        </a:defRPr>
                      </a:pPr>
                      <a:r>
                        <a:t>Integrasi pipeline dengan machine learning</a:t>
                      </a:r>
                    </a:p>
                  </a:txBody>
                  <a:tcPr anchor="ctr">
                    <a:solidFill>
                      <a:srgbClr val="F5F7FA"/>
                    </a:solidFill>
                  </a:tcPr>
                </a:tc>
                <a:tc>
                  <a:txBody>
                    <a:bodyPr/>
                    <a:lstStyle/>
                    <a:p>
                      <a:pPr>
                        <a:defRPr sz="1300" b="0">
                          <a:solidFill>
                            <a:srgbClr val="1A1F2B"/>
                          </a:solidFill>
                        </a:defRPr>
                      </a:pPr>
                      <a:r>
                        <a:t>082.2</a:t>
                      </a:r>
                    </a:p>
                  </a:txBody>
                  <a:tcPr anchor="ctr">
                    <a:solidFill>
                      <a:srgbClr val="F5F7FA"/>
                    </a:solidFill>
                  </a:tcPr>
                </a:tc>
              </a:tr>
              <a:tr h="310896">
                <a:tc>
                  <a:txBody>
                    <a:bodyPr/>
                    <a:lstStyle/>
                    <a:p>
                      <a:pPr>
                        <a:defRPr sz="1300" b="0">
                          <a:solidFill>
                            <a:srgbClr val="1A1F2B"/>
                          </a:solidFill>
                        </a:defRPr>
                      </a:pPr>
                      <a:r>
                        <a:t>8</a:t>
                      </a:r>
                    </a:p>
                  </a:txBody>
                  <a:tcPr anchor="ctr">
                    <a:solidFill>
                      <a:srgbClr val="FFFFFF"/>
                    </a:solidFill>
                  </a:tcPr>
                </a:tc>
                <a:tc>
                  <a:txBody>
                    <a:bodyPr/>
                    <a:lstStyle/>
                    <a:p>
                      <a:pPr>
                        <a:defRPr sz="1300" b="1">
                          <a:solidFill>
                            <a:srgbClr val="102545"/>
                          </a:solidFill>
                        </a:defRPr>
                      </a:pPr>
                      <a:r>
                        <a:t>Ujian Tengah Semester</a:t>
                      </a:r>
                    </a:p>
                  </a:txBody>
                  <a:tcPr anchor="ctr">
                    <a:solidFill>
                      <a:srgbClr val="FFFFFF"/>
                    </a:solidFill>
                  </a:tcPr>
                </a:tc>
                <a:tc>
                  <a:txBody>
                    <a:bodyPr/>
                    <a:lstStyle/>
                    <a:p>
                      <a:pPr>
                        <a:defRPr sz="1300" b="0">
                          <a:solidFill>
                            <a:srgbClr val="1A1F2B"/>
                          </a:solidFill>
                        </a:defRPr>
                      </a:pPr>
                      <a:r>
                        <a:t>—</a:t>
                      </a:r>
                    </a:p>
                  </a:txBody>
                  <a:tcPr anchor="ctr">
                    <a:solidFill>
                      <a:srgbClr val="FFFFFF"/>
                    </a:solidFill>
                  </a:tcPr>
                </a:tc>
              </a:tr>
            </a:tbl>
          </a:graphicData>
        </a:graphic>
      </p:graphicFrame>
      <p:graphicFrame>
        <p:nvGraphicFramePr>
          <p:cNvPr id="7" name="Table 6"/>
          <p:cNvGraphicFramePr>
            <a:graphicFrameLocks noGrp="1"/>
          </p:cNvGraphicFramePr>
          <p:nvPr/>
        </p:nvGraphicFramePr>
        <p:xfrm>
          <a:off x="6217920" y="1783080"/>
          <a:ext cx="5212079" cy="2798064"/>
        </p:xfrm>
        <a:graphic>
          <a:graphicData uri="http://schemas.openxmlformats.org/drawingml/2006/table">
            <a:tbl>
              <a:tblPr firstRow="1" bandRow="1">
                <a:tableStyleId>{5C22544A-7EE6-4342-B048-85BDC9FD1C3A}</a:tableStyleId>
              </a:tblPr>
              <a:tblGrid>
                <a:gridCol w="554476"/>
                <a:gridCol w="3382307"/>
                <a:gridCol w="1275296"/>
              </a:tblGrid>
              <a:tr h="310896">
                <a:tc>
                  <a:txBody>
                    <a:bodyPr/>
                    <a:lstStyle/>
                    <a:p>
                      <a:pPr>
                        <a:defRPr sz="1300" b="1">
                          <a:solidFill>
                            <a:srgbClr val="FFFFFF"/>
                          </a:solidFill>
                        </a:defRPr>
                      </a:pPr>
                      <a:r>
                        <a:t>#</a:t>
                      </a:r>
                    </a:p>
                  </a:txBody>
                  <a:tcPr anchor="ctr">
                    <a:solidFill>
                      <a:srgbClr val="102545"/>
                    </a:solidFill>
                  </a:tcPr>
                </a:tc>
                <a:tc>
                  <a:txBody>
                    <a:bodyPr/>
                    <a:lstStyle/>
                    <a:p>
                      <a:pPr>
                        <a:defRPr sz="1300" b="1">
                          <a:solidFill>
                            <a:srgbClr val="FFFFFF"/>
                          </a:solidFill>
                        </a:defRPr>
                      </a:pPr>
                      <a:r>
                        <a:t>Topik</a:t>
                      </a:r>
                    </a:p>
                  </a:txBody>
                  <a:tcPr anchor="ctr">
                    <a:solidFill>
                      <a:srgbClr val="102545"/>
                    </a:solidFill>
                  </a:tcPr>
                </a:tc>
                <a:tc>
                  <a:txBody>
                    <a:bodyPr/>
                    <a:lstStyle/>
                    <a:p>
                      <a:pPr>
                        <a:defRPr sz="1300" b="1">
                          <a:solidFill>
                            <a:srgbClr val="FFFFFF"/>
                          </a:solidFill>
                        </a:defRPr>
                      </a:pPr>
                      <a:r>
                        <a:t>Sub-CPMK</a:t>
                      </a:r>
                    </a:p>
                  </a:txBody>
                  <a:tcPr anchor="ctr">
                    <a:solidFill>
                      <a:srgbClr val="102545"/>
                    </a:solidFill>
                  </a:tcPr>
                </a:tc>
              </a:tr>
              <a:tr h="310896">
                <a:tc>
                  <a:txBody>
                    <a:bodyPr/>
                    <a:lstStyle/>
                    <a:p>
                      <a:pPr>
                        <a:defRPr sz="1300" b="0">
                          <a:solidFill>
                            <a:srgbClr val="1A1F2B"/>
                          </a:solidFill>
                        </a:defRPr>
                      </a:pPr>
                      <a:r>
                        <a:t>9</a:t>
                      </a:r>
                    </a:p>
                  </a:txBody>
                  <a:tcPr anchor="ctr">
                    <a:solidFill>
                      <a:srgbClr val="F5F7FA"/>
                    </a:solidFill>
                  </a:tcPr>
                </a:tc>
                <a:tc>
                  <a:txBody>
                    <a:bodyPr/>
                    <a:lstStyle/>
                    <a:p>
                      <a:pPr>
                        <a:defRPr sz="1300" b="0">
                          <a:solidFill>
                            <a:srgbClr val="1A1F2B"/>
                          </a:solidFill>
                        </a:defRPr>
                      </a:pPr>
                      <a:r>
                        <a:t>Klasifikasi teks dengan Naive Bayes</a:t>
                      </a:r>
                    </a:p>
                  </a:txBody>
                  <a:tcPr anchor="ctr">
                    <a:solidFill>
                      <a:srgbClr val="F5F7FA"/>
                    </a:solidFill>
                  </a:tcPr>
                </a:tc>
                <a:tc>
                  <a:txBody>
                    <a:bodyPr/>
                    <a:lstStyle/>
                    <a:p>
                      <a:pPr>
                        <a:defRPr sz="1300" b="0">
                          <a:solidFill>
                            <a:srgbClr val="1A1F2B"/>
                          </a:solidFill>
                        </a:defRPr>
                      </a:pPr>
                      <a:r>
                        <a:t>082.3 / 113.1</a:t>
                      </a:r>
                    </a:p>
                  </a:txBody>
                  <a:tcPr anchor="ctr">
                    <a:solidFill>
                      <a:srgbClr val="F5F7FA"/>
                    </a:solidFill>
                  </a:tcPr>
                </a:tc>
              </a:tr>
              <a:tr h="310896">
                <a:tc>
                  <a:txBody>
                    <a:bodyPr/>
                    <a:lstStyle/>
                    <a:p>
                      <a:pPr>
                        <a:defRPr sz="1300" b="0">
                          <a:solidFill>
                            <a:srgbClr val="1A1F2B"/>
                          </a:solidFill>
                        </a:defRPr>
                      </a:pPr>
                      <a:r>
                        <a:t>10</a:t>
                      </a:r>
                    </a:p>
                  </a:txBody>
                  <a:tcPr anchor="ctr">
                    <a:solidFill>
                      <a:srgbClr val="FFFFFF"/>
                    </a:solidFill>
                  </a:tcPr>
                </a:tc>
                <a:tc>
                  <a:txBody>
                    <a:bodyPr/>
                    <a:lstStyle/>
                    <a:p>
                      <a:pPr>
                        <a:defRPr sz="1300" b="0">
                          <a:solidFill>
                            <a:srgbClr val="1A1F2B"/>
                          </a:solidFill>
                        </a:defRPr>
                      </a:pPr>
                      <a:r>
                        <a:t>Deep learning: RNN &amp; LSTM</a:t>
                      </a:r>
                    </a:p>
                  </a:txBody>
                  <a:tcPr anchor="ctr">
                    <a:solidFill>
                      <a:srgbClr val="FFFFFF"/>
                    </a:solidFill>
                  </a:tcPr>
                </a:tc>
                <a:tc>
                  <a:txBody>
                    <a:bodyPr/>
                    <a:lstStyle/>
                    <a:p>
                      <a:pPr>
                        <a:defRPr sz="1300" b="0">
                          <a:solidFill>
                            <a:srgbClr val="1A1F2B"/>
                          </a:solidFill>
                        </a:defRPr>
                      </a:pPr>
                      <a:r>
                        <a:t>113.2</a:t>
                      </a:r>
                    </a:p>
                  </a:txBody>
                  <a:tcPr anchor="ctr">
                    <a:solidFill>
                      <a:srgbClr val="FFFFFF"/>
                    </a:solidFill>
                  </a:tcPr>
                </a:tc>
              </a:tr>
              <a:tr h="310896">
                <a:tc>
                  <a:txBody>
                    <a:bodyPr/>
                    <a:lstStyle/>
                    <a:p>
                      <a:pPr>
                        <a:defRPr sz="1300" b="0">
                          <a:solidFill>
                            <a:srgbClr val="1A1F2B"/>
                          </a:solidFill>
                        </a:defRPr>
                      </a:pPr>
                      <a:r>
                        <a:t>11</a:t>
                      </a:r>
                    </a:p>
                  </a:txBody>
                  <a:tcPr anchor="ctr">
                    <a:solidFill>
                      <a:srgbClr val="F5F7FA"/>
                    </a:solidFill>
                  </a:tcPr>
                </a:tc>
                <a:tc>
                  <a:txBody>
                    <a:bodyPr/>
                    <a:lstStyle/>
                    <a:p>
                      <a:pPr>
                        <a:defRPr sz="1300" b="0">
                          <a:solidFill>
                            <a:srgbClr val="1A1F2B"/>
                          </a:solidFill>
                        </a:defRPr>
                      </a:pPr>
                      <a:r>
                        <a:t>Transformer &amp; attention mechanism</a:t>
                      </a:r>
                    </a:p>
                  </a:txBody>
                  <a:tcPr anchor="ctr">
                    <a:solidFill>
                      <a:srgbClr val="F5F7FA"/>
                    </a:solidFill>
                  </a:tcPr>
                </a:tc>
                <a:tc>
                  <a:txBody>
                    <a:bodyPr/>
                    <a:lstStyle/>
                    <a:p>
                      <a:pPr>
                        <a:defRPr sz="1300" b="0">
                          <a:solidFill>
                            <a:srgbClr val="1A1F2B"/>
                          </a:solidFill>
                        </a:defRPr>
                      </a:pPr>
                      <a:r>
                        <a:t>113.3</a:t>
                      </a:r>
                    </a:p>
                  </a:txBody>
                  <a:tcPr anchor="ctr">
                    <a:solidFill>
                      <a:srgbClr val="F5F7FA"/>
                    </a:solidFill>
                  </a:tcPr>
                </a:tc>
              </a:tr>
              <a:tr h="310896">
                <a:tc>
                  <a:txBody>
                    <a:bodyPr/>
                    <a:lstStyle/>
                    <a:p>
                      <a:pPr>
                        <a:defRPr sz="1300" b="0">
                          <a:solidFill>
                            <a:srgbClr val="1A1F2B"/>
                          </a:solidFill>
                        </a:defRPr>
                      </a:pPr>
                      <a:r>
                        <a:t>12</a:t>
                      </a:r>
                    </a:p>
                  </a:txBody>
                  <a:tcPr anchor="ctr">
                    <a:solidFill>
                      <a:srgbClr val="FFFFFF"/>
                    </a:solidFill>
                  </a:tcPr>
                </a:tc>
                <a:tc>
                  <a:txBody>
                    <a:bodyPr/>
                    <a:lstStyle/>
                    <a:p>
                      <a:pPr>
                        <a:defRPr sz="1300" b="0">
                          <a:solidFill>
                            <a:srgbClr val="1A1F2B"/>
                          </a:solidFill>
                        </a:defRPr>
                      </a:pPr>
                      <a:r>
                        <a:t>Implementasi Transformer: BERT &amp; GPT</a:t>
                      </a:r>
                    </a:p>
                  </a:txBody>
                  <a:tcPr anchor="ctr">
                    <a:solidFill>
                      <a:srgbClr val="FFFFFF"/>
                    </a:solidFill>
                  </a:tcPr>
                </a:tc>
                <a:tc>
                  <a:txBody>
                    <a:bodyPr/>
                    <a:lstStyle/>
                    <a:p>
                      <a:pPr>
                        <a:defRPr sz="1300" b="0">
                          <a:solidFill>
                            <a:srgbClr val="1A1F2B"/>
                          </a:solidFill>
                        </a:defRPr>
                      </a:pPr>
                      <a:r>
                        <a:t>113.3</a:t>
                      </a:r>
                    </a:p>
                  </a:txBody>
                  <a:tcPr anchor="ctr">
                    <a:solidFill>
                      <a:srgbClr val="FFFFFF"/>
                    </a:solidFill>
                  </a:tcPr>
                </a:tc>
              </a:tr>
              <a:tr h="310896">
                <a:tc>
                  <a:txBody>
                    <a:bodyPr/>
                    <a:lstStyle/>
                    <a:p>
                      <a:pPr>
                        <a:defRPr sz="1300" b="0">
                          <a:solidFill>
                            <a:srgbClr val="1A1F2B"/>
                          </a:solidFill>
                        </a:defRPr>
                      </a:pPr>
                      <a:r>
                        <a:t>13</a:t>
                      </a:r>
                    </a:p>
                  </a:txBody>
                  <a:tcPr anchor="ctr">
                    <a:solidFill>
                      <a:srgbClr val="F5F7FA"/>
                    </a:solidFill>
                  </a:tcPr>
                </a:tc>
                <a:tc>
                  <a:txBody>
                    <a:bodyPr/>
                    <a:lstStyle/>
                    <a:p>
                      <a:pPr>
                        <a:defRPr sz="1300" b="0">
                          <a:solidFill>
                            <a:srgbClr val="1A1F2B"/>
                          </a:solidFill>
                        </a:defRPr>
                      </a:pPr>
                      <a:r>
                        <a:t>Etika NLP: bias algoritma &amp; privasi data</a:t>
                      </a:r>
                    </a:p>
                  </a:txBody>
                  <a:tcPr anchor="ctr">
                    <a:solidFill>
                      <a:srgbClr val="F5F7FA"/>
                    </a:solidFill>
                  </a:tcPr>
                </a:tc>
                <a:tc>
                  <a:txBody>
                    <a:bodyPr/>
                    <a:lstStyle/>
                    <a:p>
                      <a:pPr>
                        <a:defRPr sz="1300" b="0">
                          <a:solidFill>
                            <a:srgbClr val="1A1F2B"/>
                          </a:solidFill>
                        </a:defRPr>
                      </a:pPr>
                      <a:r>
                        <a:t>113.4</a:t>
                      </a:r>
                    </a:p>
                  </a:txBody>
                  <a:tcPr anchor="ctr">
                    <a:solidFill>
                      <a:srgbClr val="F5F7FA"/>
                    </a:solidFill>
                  </a:tcPr>
                </a:tc>
              </a:tr>
              <a:tr h="310896">
                <a:tc>
                  <a:txBody>
                    <a:bodyPr/>
                    <a:lstStyle/>
                    <a:p>
                      <a:pPr>
                        <a:defRPr sz="1300" b="0">
                          <a:solidFill>
                            <a:srgbClr val="1A1F2B"/>
                          </a:solidFill>
                        </a:defRPr>
                      </a:pPr>
                      <a:r>
                        <a:t>14</a:t>
                      </a:r>
                    </a:p>
                  </a:txBody>
                  <a:tcPr anchor="ctr">
                    <a:solidFill>
                      <a:srgbClr val="FFFFFF"/>
                    </a:solidFill>
                  </a:tcPr>
                </a:tc>
                <a:tc>
                  <a:txBody>
                    <a:bodyPr/>
                    <a:lstStyle/>
                    <a:p>
                      <a:pPr>
                        <a:defRPr sz="1300" b="1">
                          <a:solidFill>
                            <a:srgbClr val="102545"/>
                          </a:solidFill>
                        </a:defRPr>
                      </a:pPr>
                      <a:r>
                        <a:t>Proyek akhir: integrasi seluruh tahapan</a:t>
                      </a:r>
                    </a:p>
                  </a:txBody>
                  <a:tcPr anchor="ctr">
                    <a:solidFill>
                      <a:srgbClr val="FFFFFF"/>
                    </a:solidFill>
                  </a:tcPr>
                </a:tc>
                <a:tc>
                  <a:txBody>
                    <a:bodyPr/>
                    <a:lstStyle/>
                    <a:p>
                      <a:pPr>
                        <a:defRPr sz="1300" b="0">
                          <a:solidFill>
                            <a:srgbClr val="1A1F2B"/>
                          </a:solidFill>
                        </a:defRPr>
                      </a:pPr>
                      <a:r>
                        <a:t>113.1–113.4</a:t>
                      </a:r>
                    </a:p>
                  </a:txBody>
                  <a:tcPr anchor="ctr">
                    <a:solidFill>
                      <a:srgbClr val="FFFFFF"/>
                    </a:solidFill>
                  </a:tcPr>
                </a:tc>
              </a:tr>
              <a:tr h="310896">
                <a:tc>
                  <a:txBody>
                    <a:bodyPr/>
                    <a:lstStyle/>
                    <a:p>
                      <a:pPr>
                        <a:defRPr sz="1300" b="0">
                          <a:solidFill>
                            <a:srgbClr val="1A1F2B"/>
                          </a:solidFill>
                        </a:defRPr>
                      </a:pPr>
                      <a:r>
                        <a:t>15</a:t>
                      </a:r>
                    </a:p>
                  </a:txBody>
                  <a:tcPr anchor="ctr">
                    <a:solidFill>
                      <a:srgbClr val="F5F7FA"/>
                    </a:solidFill>
                  </a:tcPr>
                </a:tc>
                <a:tc>
                  <a:txBody>
                    <a:bodyPr/>
                    <a:lstStyle/>
                    <a:p>
                      <a:pPr>
                        <a:defRPr sz="1300" b="0">
                          <a:solidFill>
                            <a:srgbClr val="1A1F2B"/>
                          </a:solidFill>
                        </a:defRPr>
                      </a:pPr>
                      <a:r>
                        <a:t>Review &amp; kuis konsep kunci</a:t>
                      </a:r>
                    </a:p>
                  </a:txBody>
                  <a:tcPr anchor="ctr">
                    <a:solidFill>
                      <a:srgbClr val="F5F7FA"/>
                    </a:solidFill>
                  </a:tcPr>
                </a:tc>
                <a:tc>
                  <a:txBody>
                    <a:bodyPr/>
                    <a:lstStyle/>
                    <a:p>
                      <a:pPr>
                        <a:defRPr sz="1300" b="0">
                          <a:solidFill>
                            <a:srgbClr val="1A1F2B"/>
                          </a:solidFill>
                        </a:defRPr>
                      </a:pPr>
                      <a:r>
                        <a:t>113.1–113.4</a:t>
                      </a:r>
                    </a:p>
                  </a:txBody>
                  <a:tcPr anchor="ctr">
                    <a:solidFill>
                      <a:srgbClr val="F5F7FA"/>
                    </a:solidFill>
                  </a:tcPr>
                </a:tc>
              </a:tr>
              <a:tr h="310896">
                <a:tc>
                  <a:txBody>
                    <a:bodyPr/>
                    <a:lstStyle/>
                    <a:p>
                      <a:pPr>
                        <a:defRPr sz="1300" b="0">
                          <a:solidFill>
                            <a:srgbClr val="1A1F2B"/>
                          </a:solidFill>
                        </a:defRPr>
                      </a:pPr>
                      <a:r>
                        <a:t>16</a:t>
                      </a:r>
                    </a:p>
                  </a:txBody>
                  <a:tcPr anchor="ctr">
                    <a:solidFill>
                      <a:srgbClr val="FFFFFF"/>
                    </a:solidFill>
                  </a:tcPr>
                </a:tc>
                <a:tc>
                  <a:txBody>
                    <a:bodyPr/>
                    <a:lstStyle/>
                    <a:p>
                      <a:pPr>
                        <a:defRPr sz="1300" b="1">
                          <a:solidFill>
                            <a:srgbClr val="102545"/>
                          </a:solidFill>
                        </a:defRPr>
                      </a:pPr>
                      <a:r>
                        <a:t>Ujian Akhir Semester</a:t>
                      </a:r>
                    </a:p>
                  </a:txBody>
                  <a:tcPr anchor="ctr">
                    <a:solidFill>
                      <a:srgbClr val="FFFFFF"/>
                    </a:solidFill>
                  </a:tcPr>
                </a:tc>
                <a:tc>
                  <a:txBody>
                    <a:bodyPr/>
                    <a:lstStyle/>
                    <a:p>
                      <a:pPr>
                        <a:defRPr sz="1300" b="0">
                          <a:solidFill>
                            <a:srgbClr val="1A1F2B"/>
                          </a:solidFill>
                        </a:defRPr>
                      </a:pPr>
                      <a:r>
                        <a:t>—</a:t>
                      </a:r>
                    </a:p>
                  </a:txBody>
                  <a:tcPr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Cara kerja kelas ini</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Asinkron penuh.</a:t>
            </a:r>
            <a:r>
              <a:rPr sz="2000">
                <a:solidFill>
                  <a:srgbClr val="1A1F2B"/>
                </a:solidFill>
              </a:rPr>
              <a:t> Tidak ada pertemuan tatap muka maupun sesi daring terjadwal</a:t>
            </a:r>
          </a:p>
          <a:p>
            <a:pPr lvl="1">
              <a:spcBef>
                <a:spcPts val="300"/>
              </a:spcBef>
            </a:pPr>
            <a:r>
              <a:rPr sz="1700">
                <a:solidFill>
                  <a:srgbClr val="5A6372"/>
                </a:solidFill>
              </a:rPr>
              <a:t>–  slot jam di sistem kampus hanya penanda administratif, bukan jam pertemuan</a:t>
            </a:r>
          </a:p>
          <a:p>
            <a:pPr>
              <a:spcBef>
                <a:spcPts val="1100"/>
              </a:spcBef>
            </a:pPr>
            <a:r>
              <a:rPr sz="2000">
                <a:solidFill>
                  <a:srgbClr val="1A1F2B"/>
                </a:solidFill>
              </a:rPr>
              <a:t>•  </a:t>
            </a:r>
            <a:r>
              <a:rPr sz="2000" b="1">
                <a:solidFill>
                  <a:srgbClr val="102545"/>
                </a:solidFill>
              </a:rPr>
              <a:t>Self-paced dengan urutan terkunci</a:t>
            </a:r>
            <a:r>
              <a:rPr sz="2000">
                <a:solidFill>
                  <a:srgbClr val="1A1F2B"/>
                </a:solidFill>
              </a:rPr>
              <a:t>: Pertemuan N terbuka otomatis setelah materi Pertemuan N−1 Anda buka dan baca</a:t>
            </a:r>
          </a:p>
          <a:p>
            <a:pPr>
              <a:spcBef>
                <a:spcPts val="1100"/>
              </a:spcBef>
            </a:pPr>
            <a:r>
              <a:rPr sz="2000">
                <a:solidFill>
                  <a:srgbClr val="1A1F2B"/>
                </a:solidFill>
              </a:rPr>
              <a:t>•  Tugas dan kuis di suatu pertemuan bisa dikerjakan </a:t>
            </a:r>
            <a:r>
              <a:rPr sz="2000" b="1">
                <a:solidFill>
                  <a:srgbClr val="102545"/>
                </a:solidFill>
              </a:rPr>
              <a:t>begitu materi pertemuan itu terbuka</a:t>
            </a:r>
          </a:p>
          <a:p>
            <a:pPr>
              <a:spcBef>
                <a:spcPts val="1100"/>
              </a:spcBef>
            </a:pPr>
            <a:r>
              <a:rPr sz="2000">
                <a:solidFill>
                  <a:srgbClr val="1A1F2B"/>
                </a:solidFill>
              </a:rPr>
              <a:t>•  </a:t>
            </a:r>
            <a:r>
              <a:rPr sz="2000" b="1">
                <a:solidFill>
                  <a:srgbClr val="102545"/>
                </a:solidFill>
              </a:rPr>
              <a:t>Semua dikerjakan mandiri.</a:t>
            </a:r>
            <a:r>
              <a:rPr sz="2000">
                <a:solidFill>
                  <a:srgbClr val="1A1F2B"/>
                </a:solidFill>
              </a:rPr>
              <a:t> Item yang judulnya memuat kata </a:t>
            </a:r>
            <a:r>
              <a:rPr sz="2000" i="1">
                <a:solidFill>
                  <a:srgbClr val="1A1F2B"/>
                </a:solidFill>
              </a:rPr>
              <a:t>"Kelompok"</a:t>
            </a:r>
            <a:r>
              <a:rPr sz="2000">
                <a:solidFill>
                  <a:srgbClr val="1A1F2B"/>
                </a:solidFill>
              </a:rPr>
              <a:t> adalah warisan kelas reguler — di kelas ini dikerjakan individu</a:t>
            </a:r>
          </a:p>
          <a:p>
            <a:pPr>
              <a:spcBef>
                <a:spcPts val="1100"/>
              </a:spcBef>
            </a:pPr>
          </a:p>
          <a:p>
            <a:pPr>
              <a:spcBef>
                <a:spcPts val="1100"/>
              </a:spcBef>
            </a:pPr>
            <a:r>
              <a:rPr sz="2000">
                <a:solidFill>
                  <a:srgbClr val="1A1F2B"/>
                </a:solidFill>
              </a:rPr>
              <a:t>•  Bertanya lewat </a:t>
            </a:r>
            <a:r>
              <a:rPr sz="2000" b="1">
                <a:solidFill>
                  <a:srgbClr val="102545"/>
                </a:solidFill>
              </a:rPr>
              <a:t>forum Diskusi Umum</a:t>
            </a:r>
            <a:r>
              <a:rPr sz="2000">
                <a:solidFill>
                  <a:srgbClr val="1A1F2B"/>
                </a:solidFill>
              </a:rPr>
              <a:t>; dijawab pada hari kerja.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102545"/>
                </a:solidFill>
              </a:defRPr>
            </a:pPr>
            <a:r>
              <a:t>Satu tenggat untuk semua: 24 Januari 2027, 23.55</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Kelonggaran ini nyata — tapi ia bukan alasan menunda. Mengerjakan 16 pertemuan di minggu terakhir menghasilkan portofolio yang tidak bisa dipertanggungjawabkan, dan tetap dinilai dengan rubrik yang sama.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Ritme yang disarankan</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Satu pertemuan per minggu</a:t>
            </a:r>
            <a:r>
              <a:rPr sz="2000">
                <a:solidFill>
                  <a:srgbClr val="1A1F2B"/>
                </a:solidFill>
              </a:rPr>
              <a:t>, seperti kelas reguler — selesai sekitar akhir Desember</a:t>
            </a:r>
          </a:p>
          <a:p>
            <a:pPr>
              <a:spcBef>
                <a:spcPts val="1100"/>
              </a:spcBef>
            </a:pPr>
            <a:r>
              <a:rPr sz="2000">
                <a:solidFill>
                  <a:srgbClr val="1A1F2B"/>
                </a:solidFill>
              </a:rPr>
              <a:t>•  Sisakan Januari untuk </a:t>
            </a:r>
            <a:r>
              <a:rPr sz="2000" b="1">
                <a:solidFill>
                  <a:srgbClr val="102545"/>
                </a:solidFill>
              </a:rPr>
              <a:t>proyek akhir</a:t>
            </a:r>
            <a:r>
              <a:rPr sz="2000">
                <a:solidFill>
                  <a:srgbClr val="1A1F2B"/>
                </a:solidFill>
              </a:rPr>
              <a:t>, bukan untuk mengejar materi</a:t>
            </a:r>
          </a:p>
          <a:p>
            <a:pPr>
              <a:spcBef>
                <a:spcPts val="1100"/>
              </a:spcBef>
            </a:pPr>
            <a:r>
              <a:rPr sz="2000">
                <a:solidFill>
                  <a:srgbClr val="1A1F2B"/>
                </a:solidFill>
              </a:rPr>
              <a:t>•  Patokan cepat: kalau di akhir September Anda belum sampai Pertemuan 3, Anda sudah tertinggal</a:t>
            </a:r>
          </a:p>
          <a:p>
            <a:pPr>
              <a:spcBef>
                <a:spcPts val="1100"/>
              </a:spcBef>
            </a:pPr>
          </a:p>
          <a:p>
            <a:pPr>
              <a:spcBef>
                <a:spcPts val="1100"/>
              </a:spcBef>
            </a:pPr>
            <a:r>
              <a:rPr sz="2000">
                <a:solidFill>
                  <a:srgbClr val="1A1F2B"/>
                </a:solidFill>
              </a:rPr>
              <a:t>•  </a:t>
            </a:r>
            <a:r>
              <a:rPr sz="2000" b="1">
                <a:solidFill>
                  <a:srgbClr val="102545"/>
                </a:solidFill>
              </a:rPr>
              <a:t>Kenapa berurutan itu wajib:</a:t>
            </a:r>
            <a:r>
              <a:rPr sz="2000">
                <a:solidFill>
                  <a:srgbClr val="1A1F2B"/>
                </a:solidFill>
              </a:rPr>
              <a:t> materi kelas ini bertumpuk. Melompat ke pertemuan lanjut tanpa dasar menghasilkan kode yang jalan tapi tidak Anda pahami — dan itu ketahuan saat dinilai.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Aturan tugas</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Semua tugas dikumpulkan lewat </a:t>
            </a:r>
            <a:r>
              <a:rPr sz="2000" b="1">
                <a:solidFill>
                  <a:srgbClr val="102545"/>
                </a:solidFill>
              </a:rPr>
              <a:t>eBelajar</a:t>
            </a:r>
            <a:r>
              <a:rPr sz="2000">
                <a:solidFill>
                  <a:srgbClr val="1A1F2B"/>
                </a:solidFill>
              </a:rPr>
              <a:t> — bukan WhatsApp, bukan email</a:t>
            </a:r>
          </a:p>
          <a:p>
            <a:pPr>
              <a:spcBef>
                <a:spcPts val="1100"/>
              </a:spcBef>
            </a:pPr>
            <a:r>
              <a:rPr sz="2000">
                <a:solidFill>
                  <a:srgbClr val="1A1F2B"/>
                </a:solidFill>
              </a:rPr>
              <a:t>•  Format nama berkas: </a:t>
            </a:r>
            <a:r>
              <a:rPr sz="2000" b="1">
                <a:solidFill>
                  <a:srgbClr val="102545"/>
                </a:solidFill>
              </a:rPr>
              <a:t>NIM_Nama_P&lt;nomor&gt;_&lt;Topik&gt;.ipynb</a:t>
            </a:r>
          </a:p>
          <a:p>
            <a:pPr>
              <a:spcBef>
                <a:spcPts val="1100"/>
              </a:spcBef>
            </a:pPr>
            <a:r>
              <a:rPr sz="2000">
                <a:solidFill>
                  <a:srgbClr val="1A1F2B"/>
                </a:solidFill>
              </a:rPr>
              <a:t>•  Notebook wajib </a:t>
            </a:r>
            <a:r>
              <a:rPr sz="2000" b="1">
                <a:solidFill>
                  <a:srgbClr val="102545"/>
                </a:solidFill>
              </a:rPr>
              <a:t>reproducible</a:t>
            </a:r>
            <a:r>
              <a:rPr sz="2000">
                <a:solidFill>
                  <a:srgbClr val="1A1F2B"/>
                </a:solidFill>
              </a:rPr>
              <a:t>: random_state disetel, jalan dari atas ke bawah tanpa error</a:t>
            </a:r>
          </a:p>
          <a:p>
            <a:pPr>
              <a:spcBef>
                <a:spcPts val="1100"/>
              </a:spcBef>
            </a:pPr>
            <a:r>
              <a:rPr sz="2000">
                <a:solidFill>
                  <a:srgbClr val="1A1F2B"/>
                </a:solidFill>
              </a:rPr>
              <a:t>•  </a:t>
            </a:r>
            <a:r>
              <a:rPr sz="2000" b="1">
                <a:solidFill>
                  <a:srgbClr val="102545"/>
                </a:solidFill>
              </a:rPr>
              <a:t>Tenggat akhir seluruh pengumpulan: 24 Januari 2027, 23.55</a:t>
            </a:r>
          </a:p>
          <a:p>
            <a:pPr lvl="1">
              <a:spcBef>
                <a:spcPts val="300"/>
              </a:spcBef>
            </a:pPr>
            <a:r>
              <a:rPr sz="1700">
                <a:solidFill>
                  <a:srgbClr val="5A6372"/>
                </a:solidFill>
              </a:rPr>
              <a:t>–  tidak ada perpanjangan setelah tanggal itu — sistem menutup pengumpulan</a:t>
            </a:r>
          </a:p>
          <a:p>
            <a:pPr>
              <a:spcBef>
                <a:spcPts val="1100"/>
              </a:spcBef>
            </a:pPr>
            <a:r>
              <a:rPr sz="2000">
                <a:solidFill>
                  <a:srgbClr val="1A1F2B"/>
                </a:solidFill>
              </a:rPr>
              <a:t>•  Pengganti "kehadiran": </a:t>
            </a:r>
            <a:r>
              <a:rPr sz="2000" b="1">
                <a:solidFill>
                  <a:srgbClr val="102545"/>
                </a:solidFill>
              </a:rPr>
              <a:t>penyelesaian aktivitas di eBelajar</a:t>
            </a:r>
            <a:r>
              <a:rPr sz="2000">
                <a:solidFill>
                  <a:srgbClr val="1A1F2B"/>
                </a:solidFill>
              </a:rPr>
              <a:t> (materi dibaca, tugas &amp; kuis dikerjakan)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Komponen dan bobot penilaian</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Pendekatan Outcome-Based Education (OBE), sesuai RPS mata kuliah.</a:t>
            </a:r>
          </a:p>
        </p:txBody>
      </p:sp>
      <p:graphicFrame>
        <p:nvGraphicFramePr>
          <p:cNvPr id="6" name="Table 5"/>
          <p:cNvGraphicFramePr>
            <a:graphicFrameLocks noGrp="1"/>
          </p:cNvGraphicFramePr>
          <p:nvPr/>
        </p:nvGraphicFramePr>
        <p:xfrm>
          <a:off x="777240" y="1783080"/>
          <a:ext cx="10652759" cy="1627632"/>
        </p:xfrm>
        <a:graphic>
          <a:graphicData uri="http://schemas.openxmlformats.org/drawingml/2006/table">
            <a:tbl>
              <a:tblPr firstRow="1" bandRow="1">
                <a:tableStyleId>{5C22544A-7EE6-4342-B048-85BDC9FD1C3A}</a:tableStyleId>
              </a:tblPr>
              <a:tblGrid>
                <a:gridCol w="3364029"/>
                <a:gridCol w="5793606"/>
                <a:gridCol w="1495124"/>
              </a:tblGrid>
              <a:tr h="406908">
                <a:tc>
                  <a:txBody>
                    <a:bodyPr/>
                    <a:lstStyle/>
                    <a:p>
                      <a:pPr>
                        <a:defRPr sz="1700" b="1">
                          <a:solidFill>
                            <a:srgbClr val="FFFFFF"/>
                          </a:solidFill>
                        </a:defRPr>
                      </a:pPr>
                      <a:r>
                        <a:t>Komponen</a:t>
                      </a:r>
                    </a:p>
                  </a:txBody>
                  <a:tcPr anchor="ctr">
                    <a:solidFill>
                      <a:srgbClr val="102545"/>
                    </a:solidFill>
                  </a:tcPr>
                </a:tc>
                <a:tc>
                  <a:txBody>
                    <a:bodyPr/>
                    <a:lstStyle/>
                    <a:p>
                      <a:pPr>
                        <a:defRPr sz="1700" b="1">
                          <a:solidFill>
                            <a:srgbClr val="FFFFFF"/>
                          </a:solidFill>
                        </a:defRPr>
                      </a:pPr>
                      <a:r>
                        <a:t>Isi</a:t>
                      </a:r>
                    </a:p>
                  </a:txBody>
                  <a:tcPr anchor="ctr">
                    <a:solidFill>
                      <a:srgbClr val="102545"/>
                    </a:solidFill>
                  </a:tcPr>
                </a:tc>
                <a:tc>
                  <a:txBody>
                    <a:bodyPr/>
                    <a:lstStyle/>
                    <a:p>
                      <a:pPr>
                        <a:defRPr sz="1700" b="1">
                          <a:solidFill>
                            <a:srgbClr val="FFFFFF"/>
                          </a:solidFill>
                        </a:defRPr>
                      </a:pPr>
                      <a:r>
                        <a:t>Bobot</a:t>
                      </a:r>
                    </a:p>
                  </a:txBody>
                  <a:tcPr anchor="ctr">
                    <a:solidFill>
                      <a:srgbClr val="102545"/>
                    </a:solidFill>
                  </a:tcPr>
                </a:tc>
              </a:tr>
              <a:tr h="406908">
                <a:tc>
                  <a:txBody>
                    <a:bodyPr/>
                    <a:lstStyle/>
                    <a:p>
                      <a:pPr>
                        <a:defRPr sz="1700" b="1">
                          <a:solidFill>
                            <a:srgbClr val="102545"/>
                          </a:solidFill>
                        </a:defRPr>
                      </a:pPr>
                      <a:r>
                        <a:t>Proyek Akhir &amp; Presentasi</a:t>
                      </a:r>
                    </a:p>
                  </a:txBody>
                  <a:tcPr anchor="ctr">
                    <a:solidFill>
                      <a:srgbClr val="F5F7FA"/>
                    </a:solidFill>
                  </a:tcPr>
                </a:tc>
                <a:tc>
                  <a:txBody>
                    <a:bodyPr/>
                    <a:lstStyle/>
                    <a:p>
                      <a:pPr>
                        <a:defRPr sz="1700" b="0">
                          <a:solidFill>
                            <a:srgbClr val="1A1F2B"/>
                          </a:solidFill>
                        </a:defRPr>
                      </a:pPr>
                      <a:r>
                        <a:t>Integrasi seluruh tahapan NLP pada satu studi kasus</a:t>
                      </a:r>
                    </a:p>
                  </a:txBody>
                  <a:tcPr anchor="ctr">
                    <a:solidFill>
                      <a:srgbClr val="F5F7FA"/>
                    </a:solidFill>
                  </a:tcPr>
                </a:tc>
                <a:tc>
                  <a:txBody>
                    <a:bodyPr/>
                    <a:lstStyle/>
                    <a:p>
                      <a:pPr>
                        <a:defRPr sz="1700" b="0">
                          <a:solidFill>
                            <a:srgbClr val="1A1F2B"/>
                          </a:solidFill>
                        </a:defRPr>
                      </a:pPr>
                      <a:r>
                        <a:t>20%</a:t>
                      </a:r>
                    </a:p>
                  </a:txBody>
                  <a:tcPr anchor="ctr">
                    <a:solidFill>
                      <a:srgbClr val="F5F7FA"/>
                    </a:solidFill>
                  </a:tcPr>
                </a:tc>
              </a:tr>
              <a:tr h="406908">
                <a:tc>
                  <a:txBody>
                    <a:bodyPr/>
                    <a:lstStyle/>
                    <a:p>
                      <a:pPr>
                        <a:defRPr sz="1700" b="1">
                          <a:solidFill>
                            <a:srgbClr val="102545"/>
                          </a:solidFill>
                        </a:defRPr>
                      </a:pPr>
                      <a:r>
                        <a:t>Penilaian per-materi mingguan</a:t>
                      </a:r>
                    </a:p>
                  </a:txBody>
                  <a:tcPr anchor="ctr">
                    <a:solidFill>
                      <a:srgbClr val="FFFFFF"/>
                    </a:solidFill>
                  </a:tcPr>
                </a:tc>
                <a:tc>
                  <a:txBody>
                    <a:bodyPr/>
                    <a:lstStyle/>
                    <a:p>
                      <a:pPr>
                        <a:defRPr sz="1700" b="0">
                          <a:solidFill>
                            <a:srgbClr val="1A1F2B"/>
                          </a:solidFill>
                        </a:defRPr>
                      </a:pPr>
                      <a:r>
                        <a:t>Partisipasi · tugas · kuis · praktikum di tiap pertemuan</a:t>
                      </a:r>
                    </a:p>
                  </a:txBody>
                  <a:tcPr anchor="ctr">
                    <a:solidFill>
                      <a:srgbClr val="FFFFFF"/>
                    </a:solidFill>
                  </a:tcPr>
                </a:tc>
                <a:tc>
                  <a:txBody>
                    <a:bodyPr/>
                    <a:lstStyle/>
                    <a:p>
                      <a:pPr>
                        <a:defRPr sz="1700" b="0">
                          <a:solidFill>
                            <a:srgbClr val="1A1F2B"/>
                          </a:solidFill>
                        </a:defRPr>
                      </a:pPr>
                      <a:r>
                        <a:t>80%</a:t>
                      </a:r>
                    </a:p>
                  </a:txBody>
                  <a:tcPr anchor="ctr">
                    <a:solidFill>
                      <a:srgbClr val="FFFFFF"/>
                    </a:solidFill>
                  </a:tcPr>
                </a:tc>
              </a:tr>
              <a:tr h="406908">
                <a:tc>
                  <a:txBody>
                    <a:bodyPr/>
                    <a:lstStyle/>
                    <a:p>
                      <a:pPr>
                        <a:defRPr sz="1700" b="1">
                          <a:solidFill>
                            <a:srgbClr val="102545"/>
                          </a:solidFill>
                        </a:defRPr>
                      </a:pPr>
                      <a:r>
                        <a:t>TOTAL</a:t>
                      </a:r>
                    </a:p>
                  </a:txBody>
                  <a:tcPr anchor="ctr">
                    <a:solidFill>
                      <a:srgbClr val="F5F7FA"/>
                    </a:solidFill>
                  </a:tcPr>
                </a:tc>
                <a:tc>
                  <a:txBody>
                    <a:bodyPr/>
                    <a:lstStyle/>
                    <a:p>
                      <a:pPr>
                        <a:defRPr sz="1700" b="0">
                          <a:solidFill>
                            <a:srgbClr val="1A1F2B"/>
                          </a:solidFill>
                        </a:defRPr>
                      </a:pPr>
                    </a:p>
                  </a:txBody>
                  <a:tcPr anchor="ctr">
                    <a:solidFill>
                      <a:srgbClr val="F5F7FA"/>
                    </a:solidFill>
                  </a:tcPr>
                </a:tc>
                <a:tc>
                  <a:txBody>
                    <a:bodyPr/>
                    <a:lstStyle/>
                    <a:p>
                      <a:pPr>
                        <a:defRPr sz="1700" b="1">
                          <a:solidFill>
                            <a:srgbClr val="102545"/>
                          </a:solidFill>
                        </a:defRPr>
                      </a:pPr>
                      <a:r>
                        <a:t>100%</a:t>
                      </a:r>
                    </a:p>
                  </a:txBody>
                  <a:tcPr anchor="ctr">
                    <a:solidFill>
                      <a:srgbClr val="F5F7FA"/>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Bagaimana yang 80% itu dihitung</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Dibagi </a:t>
            </a:r>
            <a:r>
              <a:rPr sz="2000" b="1">
                <a:solidFill>
                  <a:srgbClr val="102545"/>
                </a:solidFill>
              </a:rPr>
              <a:t>rata ke 13 pertemuan bernilai</a:t>
            </a:r>
            <a:r>
              <a:rPr sz="2000">
                <a:solidFill>
                  <a:srgbClr val="1A1F2B"/>
                </a:solidFill>
              </a:rPr>
              <a:t> — P1–P7, P9–P13, dan P15</a:t>
            </a:r>
          </a:p>
          <a:p>
            <a:pPr lvl="1">
              <a:spcBef>
                <a:spcPts val="300"/>
              </a:spcBef>
            </a:pPr>
            <a:r>
              <a:rPr sz="1700">
                <a:solidFill>
                  <a:srgbClr val="5A6372"/>
                </a:solidFill>
              </a:rPr>
              <a:t>–  artinya sekitar </a:t>
            </a:r>
            <a:r>
              <a:rPr sz="1700" b="1">
                <a:solidFill>
                  <a:srgbClr val="102545"/>
                </a:solidFill>
              </a:rPr>
              <a:t>6% per pertemuan</a:t>
            </a:r>
            <a:r>
              <a:rPr sz="1700">
                <a:solidFill>
                  <a:srgbClr val="5A6372"/>
                </a:solidFill>
              </a:rPr>
              <a:t>; tidak ada satu pertemuan yang menentukan</a:t>
            </a:r>
          </a:p>
          <a:p>
            <a:pPr>
              <a:spcBef>
                <a:spcPts val="1100"/>
              </a:spcBef>
            </a:pPr>
            <a:r>
              <a:rPr sz="2000">
                <a:solidFill>
                  <a:srgbClr val="1A1F2B"/>
                </a:solidFill>
              </a:rPr>
              <a:t>•  Tiap pertemuan dinilai dari empat teknik yang disebut RPS:</a:t>
            </a:r>
          </a:p>
          <a:p>
            <a:pPr lvl="1">
              <a:spcBef>
                <a:spcPts val="300"/>
              </a:spcBef>
            </a:pPr>
            <a:r>
              <a:rPr sz="1700">
                <a:solidFill>
                  <a:srgbClr val="5A6372"/>
                </a:solidFill>
              </a:rPr>
              <a:t>–  </a:t>
            </a:r>
            <a:r>
              <a:rPr sz="1700" b="1">
                <a:solidFill>
                  <a:srgbClr val="102545"/>
                </a:solidFill>
              </a:rPr>
              <a:t>partisipasi</a:t>
            </a:r>
            <a:r>
              <a:rPr sz="1700">
                <a:solidFill>
                  <a:srgbClr val="5A6372"/>
                </a:solidFill>
              </a:rPr>
              <a:t> · </a:t>
            </a:r>
            <a:r>
              <a:rPr sz="1700" b="1">
                <a:solidFill>
                  <a:srgbClr val="102545"/>
                </a:solidFill>
              </a:rPr>
              <a:t>unjuk kerja</a:t>
            </a:r>
            <a:r>
              <a:rPr sz="1700">
                <a:solidFill>
                  <a:srgbClr val="5A6372"/>
                </a:solidFill>
              </a:rPr>
              <a:t> · </a:t>
            </a:r>
            <a:r>
              <a:rPr sz="1700" b="1">
                <a:solidFill>
                  <a:srgbClr val="102545"/>
                </a:solidFill>
              </a:rPr>
              <a:t>tes tulis singkat</a:t>
            </a:r>
            <a:r>
              <a:rPr sz="1700">
                <a:solidFill>
                  <a:srgbClr val="5A6372"/>
                </a:solidFill>
              </a:rPr>
              <a:t> · </a:t>
            </a:r>
            <a:r>
              <a:rPr sz="1700" b="1">
                <a:solidFill>
                  <a:srgbClr val="102545"/>
                </a:solidFill>
              </a:rPr>
              <a:t>observasi saat praktik</a:t>
            </a:r>
          </a:p>
          <a:p>
            <a:pPr>
              <a:spcBef>
                <a:spcPts val="1100"/>
              </a:spcBef>
            </a:pPr>
            <a:r>
              <a:rPr sz="2000">
                <a:solidFill>
                  <a:srgbClr val="1A1F2B"/>
                </a:solidFill>
              </a:rPr>
              <a:t>•  </a:t>
            </a:r>
            <a:r>
              <a:rPr sz="2000" b="1">
                <a:solidFill>
                  <a:srgbClr val="102545"/>
                </a:solidFill>
              </a:rPr>
              <a:t>UTS (Pertemuan 8)</a:t>
            </a:r>
            <a:r>
              <a:rPr sz="2000">
                <a:solidFill>
                  <a:srgbClr val="1A1F2B"/>
                </a:solidFill>
              </a:rPr>
              <a:t> dan kuis review </a:t>
            </a:r>
            <a:r>
              <a:rPr sz="2000" b="1">
                <a:solidFill>
                  <a:srgbClr val="102545"/>
                </a:solidFill>
              </a:rPr>
              <a:t>(Pertemuan 15)</a:t>
            </a:r>
            <a:r>
              <a:rPr sz="2000">
                <a:solidFill>
                  <a:srgbClr val="1A1F2B"/>
                </a:solidFill>
              </a:rPr>
              <a:t> masuk ke porsi mingguan ini</a:t>
            </a:r>
          </a:p>
          <a:p>
            <a:pPr>
              <a:spcBef>
                <a:spcPts val="1100"/>
              </a:spcBef>
            </a:pPr>
          </a:p>
          <a:p>
            <a:pPr>
              <a:spcBef>
                <a:spcPts val="1100"/>
              </a:spcBef>
            </a:pPr>
            <a:r>
              <a:rPr sz="2000">
                <a:solidFill>
                  <a:srgbClr val="1A1F2B"/>
                </a:solidFill>
              </a:rPr>
              <a:t>•  </a:t>
            </a:r>
            <a:r>
              <a:rPr sz="2000" b="1">
                <a:solidFill>
                  <a:srgbClr val="102545"/>
                </a:solidFill>
              </a:rPr>
              <a:t>Konsekuensinya:</a:t>
            </a:r>
            <a:r>
              <a:rPr sz="2000">
                <a:solidFill>
                  <a:srgbClr val="1A1F2B"/>
                </a:solidFill>
              </a:rPr>
              <a:t> kelas ini tidak bisa dikejar di akhir semester. Yang menentukan kehadiran dan kerja rutin.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Integritas akademik</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100">
                <a:solidFill>
                  <a:srgbClr val="1A1F2B"/>
                </a:solidFill>
              </a:rPr>
              <a:t>•  </a:t>
            </a:r>
            <a:r>
              <a:rPr sz="2100" b="1">
                <a:solidFill>
                  <a:srgbClr val="102545"/>
                </a:solidFill>
              </a:rPr>
              <a:t>Diskusi dianjurkan. Penyalinan dilarang.</a:t>
            </a:r>
            <a:r>
              <a:rPr sz="2100">
                <a:solidFill>
                  <a:srgbClr val="1A1F2B"/>
                </a:solidFill>
              </a:rPr>
              <a:t> Boleh berdiskusi soal pendekatan; kode dan tulisan susun sendiri</a:t>
            </a:r>
          </a:p>
          <a:p>
            <a:pPr>
              <a:spcBef>
                <a:spcPts val="1100"/>
              </a:spcBef>
            </a:pPr>
            <a:r>
              <a:rPr sz="2100">
                <a:solidFill>
                  <a:srgbClr val="1A1F2B"/>
                </a:solidFill>
              </a:rPr>
              <a:t>•  Dua notebook identik atau nyaris identik: </a:t>
            </a:r>
            <a:r>
              <a:rPr sz="2100" b="1">
                <a:solidFill>
                  <a:srgbClr val="102545"/>
                </a:solidFill>
              </a:rPr>
              <a:t>keduanya dinilai 0</a:t>
            </a:r>
            <a:r>
              <a:rPr sz="2100">
                <a:solidFill>
                  <a:srgbClr val="1A1F2B"/>
                </a:solidFill>
              </a:rPr>
              <a:t> — tanpa memeriksa siapa menyalin siapa</a:t>
            </a:r>
          </a:p>
          <a:p>
            <a:pPr>
              <a:spcBef>
                <a:spcPts val="1100"/>
              </a:spcBef>
            </a:pPr>
            <a:r>
              <a:rPr sz="2100">
                <a:solidFill>
                  <a:srgbClr val="1A1F2B"/>
                </a:solidFill>
              </a:rPr>
              <a:t>•  Setiap klaim di laporan harus bisa Anda pertanggungjawabkan saat ditanya</a:t>
            </a:r>
          </a:p>
          <a:p>
            <a:pPr lvl="1">
              <a:spcBef>
                <a:spcPts val="300"/>
              </a:spcBef>
            </a:pPr>
            <a:r>
              <a:rPr sz="1800">
                <a:solidFill>
                  <a:srgbClr val="5A6372"/>
                </a:solidFill>
              </a:rPr>
              <a:t>–  klaim yang tidak bisa dijelaskan pemiliknya dinilai 0 — meskipun angkanya kebetulan benar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102545"/>
                </a:solidFill>
              </a:defRPr>
            </a:pPr>
            <a:r>
              <a:t>AI itu alat untuk mengerti — bukan pengganti mengerti.</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Kelas ini tidak melarang AI. Yang diatur adalah cara memakainya: sebagai alat belajar, bukan sebagai jalan pintas menyelesaikan tugas.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Cara memakai AI yang membuat Anda paham</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Minta </a:t>
            </a:r>
            <a:r>
              <a:rPr sz="2000" b="1">
                <a:solidFill>
                  <a:srgbClr val="102545"/>
                </a:solidFill>
              </a:rPr>
              <a:t>penjelasan konsep</a:t>
            </a:r>
            <a:r>
              <a:rPr sz="2000">
                <a:solidFill>
                  <a:srgbClr val="1A1F2B"/>
                </a:solidFill>
              </a:rPr>
              <a:t> sampai Anda bisa mengulanginya dengan kalimat sendiri</a:t>
            </a:r>
          </a:p>
          <a:p>
            <a:pPr>
              <a:spcBef>
                <a:spcPts val="1100"/>
              </a:spcBef>
            </a:pPr>
            <a:r>
              <a:rPr sz="2000">
                <a:solidFill>
                  <a:srgbClr val="1A1F2B"/>
                </a:solidFill>
              </a:rPr>
              <a:t>•  Minta AI </a:t>
            </a:r>
            <a:r>
              <a:rPr sz="2000" b="1">
                <a:solidFill>
                  <a:srgbClr val="102545"/>
                </a:solidFill>
              </a:rPr>
              <a:t>menanyai Anda balik</a:t>
            </a:r>
            <a:r>
              <a:rPr sz="2000">
                <a:solidFill>
                  <a:srgbClr val="1A1F2B"/>
                </a:solidFill>
              </a:rPr>
              <a:t> — </a:t>
            </a:r>
            <a:r>
              <a:rPr sz="2000" i="1">
                <a:solidFill>
                  <a:srgbClr val="1A1F2B"/>
                </a:solidFill>
              </a:rPr>
              <a:t>"uji saya soal data leakage"</a:t>
            </a:r>
            <a:r>
              <a:rPr sz="2000">
                <a:solidFill>
                  <a:srgbClr val="1A1F2B"/>
                </a:solidFill>
              </a:rPr>
              <a:t> — lalu jawab tanpa melihat</a:t>
            </a:r>
          </a:p>
          <a:p>
            <a:pPr>
              <a:spcBef>
                <a:spcPts val="1100"/>
              </a:spcBef>
            </a:pPr>
            <a:r>
              <a:rPr sz="2000">
                <a:solidFill>
                  <a:srgbClr val="1A1F2B"/>
                </a:solidFill>
              </a:rPr>
              <a:t>•  Minta </a:t>
            </a:r>
            <a:r>
              <a:rPr sz="2000" b="1">
                <a:solidFill>
                  <a:srgbClr val="102545"/>
                </a:solidFill>
              </a:rPr>
              <a:t>dua pendekatan berbeda</a:t>
            </a:r>
            <a:r>
              <a:rPr sz="2000">
                <a:solidFill>
                  <a:srgbClr val="1A1F2B"/>
                </a:solidFill>
              </a:rPr>
              <a:t>, lalu Anda yang memutuskan mana yang cocok, dan bisa menjelaskan kenapa</a:t>
            </a:r>
          </a:p>
          <a:p>
            <a:pPr>
              <a:spcBef>
                <a:spcPts val="1100"/>
              </a:spcBef>
            </a:pPr>
            <a:r>
              <a:rPr sz="2000">
                <a:solidFill>
                  <a:srgbClr val="1A1F2B"/>
                </a:solidFill>
              </a:rPr>
              <a:t>•  Pakai AI untuk </a:t>
            </a:r>
            <a:r>
              <a:rPr sz="2000" b="1">
                <a:solidFill>
                  <a:srgbClr val="102545"/>
                </a:solidFill>
              </a:rPr>
              <a:t>menemukan bug</a:t>
            </a:r>
            <a:r>
              <a:rPr sz="2000">
                <a:solidFill>
                  <a:srgbClr val="1A1F2B"/>
                </a:solidFill>
              </a:rPr>
              <a:t>, lalu perbaiki sendiri supaya Anda tahu penyebabnya</a:t>
            </a:r>
          </a:p>
          <a:p>
            <a:pPr>
              <a:spcBef>
                <a:spcPts val="1100"/>
              </a:spcBef>
            </a:pPr>
            <a:r>
              <a:rPr sz="2000">
                <a:solidFill>
                  <a:srgbClr val="1A1F2B"/>
                </a:solidFill>
              </a:rPr>
              <a:t>•  Selesai mengerjakan: </a:t>
            </a:r>
            <a:r>
              <a:rPr sz="2000" b="1">
                <a:solidFill>
                  <a:srgbClr val="102545"/>
                </a:solidFill>
              </a:rPr>
              <a:t>tutup AI-nya</a:t>
            </a:r>
            <a:r>
              <a:rPr sz="2000">
                <a:solidFill>
                  <a:srgbClr val="1A1F2B"/>
                </a:solidFill>
              </a:rPr>
              <a:t>, lalu jelaskan ulang notebook Anda dari nol</a:t>
            </a:r>
          </a:p>
          <a:p>
            <a:pPr>
              <a:spcBef>
                <a:spcPts val="1100"/>
              </a:spcBef>
            </a:pPr>
          </a:p>
          <a:p>
            <a:pPr>
              <a:spcBef>
                <a:spcPts val="1100"/>
              </a:spcBef>
            </a:pPr>
            <a:r>
              <a:rPr sz="2000">
                <a:solidFill>
                  <a:srgbClr val="1A1F2B"/>
                </a:solidFill>
              </a:rPr>
              <a:t>•  Semua ini menambah pemahaman. Menempel jawaban jadi tidak.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Batasnya</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Aturan ini turunan dari prinsipnya, bukan daftar larangan yang berdiri sendiri.</a:t>
            </a:r>
          </a:p>
        </p:txBody>
      </p:sp>
      <p:graphicFrame>
        <p:nvGraphicFramePr>
          <p:cNvPr id="6" name="Table 5"/>
          <p:cNvGraphicFramePr>
            <a:graphicFrameLocks noGrp="1"/>
          </p:cNvGraphicFramePr>
          <p:nvPr/>
        </p:nvGraphicFramePr>
        <p:xfrm>
          <a:off x="777240" y="1783080"/>
          <a:ext cx="10652759" cy="1627632"/>
        </p:xfrm>
        <a:graphic>
          <a:graphicData uri="http://schemas.openxmlformats.org/drawingml/2006/table">
            <a:tbl>
              <a:tblPr firstRow="1" bandRow="1">
                <a:tableStyleId>{5C22544A-7EE6-4342-B048-85BDC9FD1C3A}</a:tableStyleId>
              </a:tblPr>
              <a:tblGrid>
                <a:gridCol w="2166663"/>
                <a:gridCol w="8486096"/>
              </a:tblGrid>
              <a:tr h="406908">
                <a:tc>
                  <a:txBody>
                    <a:bodyPr/>
                    <a:lstStyle/>
                    <a:p>
                      <a:pPr>
                        <a:defRPr sz="1700" b="1">
                          <a:solidFill>
                            <a:srgbClr val="FFFFFF"/>
                          </a:solidFill>
                        </a:defRPr>
                      </a:pPr>
                    </a:p>
                  </a:txBody>
                  <a:tcPr anchor="ctr">
                    <a:solidFill>
                      <a:srgbClr val="102545"/>
                    </a:solidFill>
                  </a:tcPr>
                </a:tc>
                <a:tc>
                  <a:txBody>
                    <a:bodyPr/>
                    <a:lstStyle/>
                    <a:p>
                      <a:pPr>
                        <a:defRPr sz="1700" b="1">
                          <a:solidFill>
                            <a:srgbClr val="FFFFFF"/>
                          </a:solidFill>
                        </a:defRPr>
                      </a:pPr>
                      <a:r>
                        <a:t>Aturan</a:t>
                      </a:r>
                    </a:p>
                  </a:txBody>
                  <a:tcPr anchor="ctr">
                    <a:solidFill>
                      <a:srgbClr val="102545"/>
                    </a:solidFill>
                  </a:tcPr>
                </a:tc>
              </a:tr>
              <a:tr h="406908">
                <a:tc>
                  <a:txBody>
                    <a:bodyPr/>
                    <a:lstStyle/>
                    <a:p>
                      <a:pPr>
                        <a:defRPr sz="1700" b="1">
                          <a:solidFill>
                            <a:srgbClr val="102545"/>
                          </a:solidFill>
                        </a:defRPr>
                      </a:pPr>
                      <a:r>
                        <a:t>BOLEH</a:t>
                      </a:r>
                    </a:p>
                  </a:txBody>
                  <a:tcPr anchor="ctr">
                    <a:solidFill>
                      <a:srgbClr val="F5F7FA"/>
                    </a:solidFill>
                  </a:tcPr>
                </a:tc>
                <a:tc>
                  <a:txBody>
                    <a:bodyPr/>
                    <a:lstStyle/>
                    <a:p>
                      <a:pPr>
                        <a:defRPr sz="1700" b="0">
                          <a:solidFill>
                            <a:srgbClr val="1A1F2B"/>
                          </a:solidFill>
                        </a:defRPr>
                      </a:pPr>
                      <a:r>
                        <a:t>Boilerplate kode · debugging pesan error · menjelaskan konsep · merapikan bahasa laporan</a:t>
                      </a:r>
                    </a:p>
                  </a:txBody>
                  <a:tcPr anchor="ctr">
                    <a:solidFill>
                      <a:srgbClr val="F5F7FA"/>
                    </a:solidFill>
                  </a:tcPr>
                </a:tc>
              </a:tr>
              <a:tr h="406908">
                <a:tc>
                  <a:txBody>
                    <a:bodyPr/>
                    <a:lstStyle/>
                    <a:p>
                      <a:pPr>
                        <a:defRPr sz="1700" b="1">
                          <a:solidFill>
                            <a:srgbClr val="102545"/>
                          </a:solidFill>
                        </a:defRPr>
                      </a:pPr>
                      <a:r>
                        <a:t>TIDAK BOLEH</a:t>
                      </a:r>
                    </a:p>
                  </a:txBody>
                  <a:tcPr anchor="ctr">
                    <a:solidFill>
                      <a:srgbClr val="FFFFFF"/>
                    </a:solidFill>
                  </a:tcPr>
                </a:tc>
                <a:tc>
                  <a:txBody>
                    <a:bodyPr/>
                    <a:lstStyle/>
                    <a:p>
                      <a:pPr>
                        <a:defRPr sz="1700" b="0">
                          <a:solidFill>
                            <a:srgbClr val="1A1F2B"/>
                          </a:solidFill>
                        </a:defRPr>
                      </a:pPr>
                      <a:r>
                        <a:t>Menulis analisis / insight / kesimpulan otomatis tanpa Anda verifikasi;  menyerahkan kode yang belum pernah Anda jalankan</a:t>
                      </a:r>
                    </a:p>
                  </a:txBody>
                  <a:tcPr anchor="ctr">
                    <a:solidFill>
                      <a:srgbClr val="FFFFFF"/>
                    </a:solidFill>
                  </a:tcPr>
                </a:tc>
              </a:tr>
              <a:tr h="406908">
                <a:tc>
                  <a:txBody>
                    <a:bodyPr/>
                    <a:lstStyle/>
                    <a:p>
                      <a:pPr>
                        <a:defRPr sz="1700" b="1">
                          <a:solidFill>
                            <a:srgbClr val="102545"/>
                          </a:solidFill>
                        </a:defRPr>
                      </a:pPr>
                      <a:r>
                        <a:t>WAJIB</a:t>
                      </a:r>
                    </a:p>
                  </a:txBody>
                  <a:tcPr anchor="ctr">
                    <a:solidFill>
                      <a:srgbClr val="F5F7FA"/>
                    </a:solidFill>
                  </a:tcPr>
                </a:tc>
                <a:tc>
                  <a:txBody>
                    <a:bodyPr/>
                    <a:lstStyle/>
                    <a:p>
                      <a:pPr>
                        <a:defRPr sz="1700" b="0">
                          <a:solidFill>
                            <a:srgbClr val="1A1F2B"/>
                          </a:solidFill>
                        </a:defRPr>
                      </a:pPr>
                      <a:r>
                        <a:t>Disclosure di akhir notebook: alat apa, untuk bagian mana. Satu paragraf cukup</a:t>
                      </a:r>
                    </a:p>
                  </a:txBody>
                  <a:tcPr anchor="ctr">
                    <a:solidFill>
                      <a:srgbClr val="F5F7FA"/>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B32D2D"/>
                </a:solidFill>
              </a:defRPr>
            </a:pPr>
            <a:r>
              <a:t>Yang rusak dari AI biasanya bukan kodenya.</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Kode yang salah gagal jalan dan langsung ketahuan. Yang berbahaya adalah kalimat yang terdengar benar padahal isinya karangan — metode yang tidak sesuai sumbernya, angka yang bukan dari eksperimen Anda, rujukan yang tidak pernah ada.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102545"/>
                </a:solidFill>
              </a:defRPr>
            </a:pPr>
            <a:r>
              <a:t>Kalau AI-nya dimatikan sekarang,</a:t>
            </a:r>
            <a:br/>
            <a:r>
              <a:t>apakah Anda masih bisa menjelaskan pekerjaan Anda?</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Kalau tidak, Anda belum belajar — Anda baru menyalin. Itu satu-satunya uji yang perlu Anda ingat, dan itu juga yang akan saya tanyakan saat menilai.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Komunikasi</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Pertanyaan teknis diarahkan ke forum, bukan japri — satu jawaban menolong banyak orang.</a:t>
            </a:r>
          </a:p>
        </p:txBody>
      </p:sp>
      <p:graphicFrame>
        <p:nvGraphicFramePr>
          <p:cNvPr id="6" name="Table 5"/>
          <p:cNvGraphicFramePr>
            <a:graphicFrameLocks noGrp="1"/>
          </p:cNvGraphicFramePr>
          <p:nvPr/>
        </p:nvGraphicFramePr>
        <p:xfrm>
          <a:off x="777240" y="1783080"/>
          <a:ext cx="10652758" cy="1993392"/>
        </p:xfrm>
        <a:graphic>
          <a:graphicData uri="http://schemas.openxmlformats.org/drawingml/2006/table">
            <a:tbl>
              <a:tblPr firstRow="1" bandRow="1">
                <a:tableStyleId>{5C22544A-7EE6-4342-B048-85BDC9FD1C3A}</a:tableStyleId>
              </a:tblPr>
              <a:tblGrid>
                <a:gridCol w="2571355"/>
                <a:gridCol w="5693716"/>
                <a:gridCol w="2387687"/>
              </a:tblGrid>
              <a:tr h="398678">
                <a:tc>
                  <a:txBody>
                    <a:bodyPr/>
                    <a:lstStyle/>
                    <a:p>
                      <a:pPr>
                        <a:defRPr sz="1800" b="1">
                          <a:solidFill>
                            <a:srgbClr val="FFFFFF"/>
                          </a:solidFill>
                        </a:defRPr>
                      </a:pPr>
                      <a:r>
                        <a:t>Saluran</a:t>
                      </a:r>
                    </a:p>
                  </a:txBody>
                  <a:tcPr anchor="ctr">
                    <a:solidFill>
                      <a:srgbClr val="102545"/>
                    </a:solidFill>
                  </a:tcPr>
                </a:tc>
                <a:tc>
                  <a:txBody>
                    <a:bodyPr/>
                    <a:lstStyle/>
                    <a:p>
                      <a:pPr>
                        <a:defRPr sz="1800" b="1">
                          <a:solidFill>
                            <a:srgbClr val="FFFFFF"/>
                          </a:solidFill>
                        </a:defRPr>
                      </a:pPr>
                      <a:r>
                        <a:t>Untuk apa</a:t>
                      </a:r>
                    </a:p>
                  </a:txBody>
                  <a:tcPr anchor="ctr">
                    <a:solidFill>
                      <a:srgbClr val="102545"/>
                    </a:solidFill>
                  </a:tcPr>
                </a:tc>
                <a:tc>
                  <a:txBody>
                    <a:bodyPr/>
                    <a:lstStyle/>
                    <a:p>
                      <a:pPr>
                        <a:defRPr sz="1800" b="1">
                          <a:solidFill>
                            <a:srgbClr val="FFFFFF"/>
                          </a:solidFill>
                        </a:defRPr>
                      </a:pPr>
                      <a:r>
                        <a:t>Waktu tanggap</a:t>
                      </a:r>
                    </a:p>
                  </a:txBody>
                  <a:tcPr anchor="ctr">
                    <a:solidFill>
                      <a:srgbClr val="102545"/>
                    </a:solidFill>
                  </a:tcPr>
                </a:tc>
              </a:tr>
              <a:tr h="398678">
                <a:tc>
                  <a:txBody>
                    <a:bodyPr/>
                    <a:lstStyle/>
                    <a:p>
                      <a:pPr>
                        <a:defRPr sz="1800" b="1">
                          <a:solidFill>
                            <a:srgbClr val="102545"/>
                          </a:solidFill>
                        </a:defRPr>
                      </a:pPr>
                      <a:r>
                        <a:t>Forum eBelajar</a:t>
                      </a:r>
                    </a:p>
                  </a:txBody>
                  <a:tcPr anchor="ctr">
                    <a:solidFill>
                      <a:srgbClr val="F5F7FA"/>
                    </a:solidFill>
                  </a:tcPr>
                </a:tc>
                <a:tc>
                  <a:txBody>
                    <a:bodyPr/>
                    <a:lstStyle/>
                    <a:p>
                      <a:pPr>
                        <a:defRPr sz="1800" b="0">
                          <a:solidFill>
                            <a:srgbClr val="1A1F2B"/>
                          </a:solidFill>
                        </a:defRPr>
                      </a:pPr>
                      <a:r>
                        <a:t>Pertanyaan teknis &amp; materi</a:t>
                      </a:r>
                    </a:p>
                  </a:txBody>
                  <a:tcPr anchor="ctr">
                    <a:solidFill>
                      <a:srgbClr val="F5F7FA"/>
                    </a:solidFill>
                  </a:tcPr>
                </a:tc>
                <a:tc>
                  <a:txBody>
                    <a:bodyPr/>
                    <a:lstStyle/>
                    <a:p>
                      <a:pPr>
                        <a:defRPr sz="1800" b="0">
                          <a:solidFill>
                            <a:srgbClr val="1A1F2B"/>
                          </a:solidFill>
                        </a:defRPr>
                      </a:pPr>
                      <a:r>
                        <a:t>Hari kerja, ≤ 1×24 jam</a:t>
                      </a:r>
                    </a:p>
                  </a:txBody>
                  <a:tcPr anchor="ctr">
                    <a:solidFill>
                      <a:srgbClr val="F5F7FA"/>
                    </a:solidFill>
                  </a:tcPr>
                </a:tc>
              </a:tr>
              <a:tr h="398678">
                <a:tc>
                  <a:txBody>
                    <a:bodyPr/>
                    <a:lstStyle/>
                    <a:p>
                      <a:pPr>
                        <a:defRPr sz="1800" b="1">
                          <a:solidFill>
                            <a:srgbClr val="102545"/>
                          </a:solidFill>
                        </a:defRPr>
                      </a:pPr>
                      <a:r>
                        <a:t>Grup WhatsApp</a:t>
                      </a:r>
                    </a:p>
                  </a:txBody>
                  <a:tcPr anchor="ctr">
                    <a:solidFill>
                      <a:srgbClr val="FFFFFF"/>
                    </a:solidFill>
                  </a:tcPr>
                </a:tc>
                <a:tc>
                  <a:txBody>
                    <a:bodyPr/>
                    <a:lstStyle/>
                    <a:p>
                      <a:pPr>
                        <a:defRPr sz="1800" b="0">
                          <a:solidFill>
                            <a:srgbClr val="1A1F2B"/>
                          </a:solidFill>
                        </a:defRPr>
                      </a:pPr>
                      <a:r>
                        <a:t>Pengumuman mendadak, koordinasi</a:t>
                      </a:r>
                    </a:p>
                  </a:txBody>
                  <a:tcPr anchor="ctr">
                    <a:solidFill>
                      <a:srgbClr val="FFFFFF"/>
                    </a:solidFill>
                  </a:tcPr>
                </a:tc>
                <a:tc>
                  <a:txBody>
                    <a:bodyPr/>
                    <a:lstStyle/>
                    <a:p>
                      <a:pPr>
                        <a:defRPr sz="1800" b="0">
                          <a:solidFill>
                            <a:srgbClr val="1A1F2B"/>
                          </a:solidFill>
                        </a:defRPr>
                      </a:pPr>
                      <a:r>
                        <a:t>—</a:t>
                      </a:r>
                    </a:p>
                  </a:txBody>
                  <a:tcPr anchor="ctr">
                    <a:solidFill>
                      <a:srgbClr val="FFFFFF"/>
                    </a:solidFill>
                  </a:tcPr>
                </a:tc>
              </a:tr>
              <a:tr h="398678">
                <a:tc>
                  <a:txBody>
                    <a:bodyPr/>
                    <a:lstStyle/>
                    <a:p>
                      <a:pPr>
                        <a:defRPr sz="1800" b="1">
                          <a:solidFill>
                            <a:srgbClr val="102545"/>
                          </a:solidFill>
                        </a:defRPr>
                      </a:pPr>
                      <a:r>
                        <a:t>Forum Pengumuman</a:t>
                      </a:r>
                    </a:p>
                  </a:txBody>
                  <a:tcPr anchor="ctr">
                    <a:solidFill>
                      <a:srgbClr val="F5F7FA"/>
                    </a:solidFill>
                  </a:tcPr>
                </a:tc>
                <a:tc>
                  <a:txBody>
                    <a:bodyPr/>
                    <a:lstStyle/>
                    <a:p>
                      <a:pPr>
                        <a:defRPr sz="1800" b="0">
                          <a:solidFill>
                            <a:srgbClr val="1A1F2B"/>
                          </a:solidFill>
                        </a:defRPr>
                      </a:pPr>
                      <a:r>
                        <a:t>Perubahan jadwal, informasi resmi</a:t>
                      </a:r>
                    </a:p>
                  </a:txBody>
                  <a:tcPr anchor="ctr">
                    <a:solidFill>
                      <a:srgbClr val="F5F7FA"/>
                    </a:solidFill>
                  </a:tcPr>
                </a:tc>
                <a:tc>
                  <a:txBody>
                    <a:bodyPr/>
                    <a:lstStyle/>
                    <a:p>
                      <a:pPr>
                        <a:defRPr sz="1800" b="0">
                          <a:solidFill>
                            <a:srgbClr val="1A1F2B"/>
                          </a:solidFill>
                        </a:defRPr>
                      </a:pPr>
                      <a:r>
                        <a:t>—</a:t>
                      </a:r>
                    </a:p>
                  </a:txBody>
                  <a:tcPr anchor="ctr">
                    <a:solidFill>
                      <a:srgbClr val="F5F7FA"/>
                    </a:solidFill>
                  </a:tcPr>
                </a:tc>
              </a:tr>
              <a:tr h="398680">
                <a:tc>
                  <a:txBody>
                    <a:bodyPr/>
                    <a:lstStyle/>
                    <a:p>
                      <a:pPr>
                        <a:defRPr sz="1800" b="1">
                          <a:solidFill>
                            <a:srgbClr val="102545"/>
                          </a:solidFill>
                        </a:defRPr>
                      </a:pPr>
                      <a:r>
                        <a:t>Konsultasi daring</a:t>
                      </a:r>
                    </a:p>
                  </a:txBody>
                  <a:tcPr anchor="ctr">
                    <a:solidFill>
                      <a:srgbClr val="FFFFFF"/>
                    </a:solidFill>
                  </a:tcPr>
                </a:tc>
                <a:tc>
                  <a:txBody>
                    <a:bodyPr/>
                    <a:lstStyle/>
                    <a:p>
                      <a:pPr>
                        <a:defRPr sz="1800" b="0">
                          <a:solidFill>
                            <a:srgbClr val="1A1F2B"/>
                          </a:solidFill>
                        </a:defRPr>
                      </a:pPr>
                      <a:r>
                        <a:t>Konsultasi proyek — ajukan lewat forum</a:t>
                      </a:r>
                    </a:p>
                  </a:txBody>
                  <a:tcPr anchor="ctr">
                    <a:solidFill>
                      <a:srgbClr val="FFFFFF"/>
                    </a:solidFill>
                  </a:tcPr>
                </a:tc>
                <a:tc>
                  <a:txBody>
                    <a:bodyPr/>
                    <a:lstStyle/>
                    <a:p>
                      <a:pPr>
                        <a:defRPr sz="1800" b="0">
                          <a:solidFill>
                            <a:srgbClr val="1A1F2B"/>
                          </a:solidFill>
                        </a:defRPr>
                      </a:pPr>
                      <a:r>
                        <a:t>—</a:t>
                      </a:r>
                    </a:p>
                  </a:txBody>
                  <a:tcPr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Referensi</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1900">
                <a:solidFill>
                  <a:srgbClr val="1A1F2B"/>
                </a:solidFill>
              </a:rPr>
              <a:t>•  </a:t>
            </a:r>
            <a:r>
              <a:rPr sz="1900" b="1">
                <a:solidFill>
                  <a:srgbClr val="102545"/>
                </a:solidFill>
              </a:rPr>
              <a:t>Jurafsky &amp; Martin</a:t>
            </a:r>
            <a:r>
              <a:rPr sz="1900">
                <a:solidFill>
                  <a:srgbClr val="1A1F2B"/>
                </a:solidFill>
              </a:rPr>
              <a:t> — </a:t>
            </a:r>
            <a:r>
              <a:rPr sz="1900" i="1">
                <a:solidFill>
                  <a:srgbClr val="1A1F2B"/>
                </a:solidFill>
              </a:rPr>
              <a:t>Speech and Language Processing</a:t>
            </a:r>
            <a:r>
              <a:rPr sz="1900">
                <a:solidFill>
                  <a:srgbClr val="1A1F2B"/>
                </a:solidFill>
              </a:rPr>
              <a:t> (edisi ke-3 draft gratis di web.stanford.edu)</a:t>
            </a:r>
          </a:p>
          <a:p>
            <a:pPr lvl="1">
              <a:spcBef>
                <a:spcPts val="300"/>
              </a:spcBef>
            </a:pPr>
            <a:r>
              <a:rPr sz="1600">
                <a:solidFill>
                  <a:srgbClr val="5A6372"/>
                </a:solidFill>
              </a:rPr>
              <a:t>–  rujukan utama untuk teori</a:t>
            </a:r>
          </a:p>
          <a:p>
            <a:pPr>
              <a:spcBef>
                <a:spcPts val="1100"/>
              </a:spcBef>
            </a:pPr>
            <a:r>
              <a:rPr sz="1900">
                <a:solidFill>
                  <a:srgbClr val="1A1F2B"/>
                </a:solidFill>
              </a:rPr>
              <a:t>•  </a:t>
            </a:r>
            <a:r>
              <a:rPr sz="1900" b="1">
                <a:solidFill>
                  <a:srgbClr val="102545"/>
                </a:solidFill>
              </a:rPr>
              <a:t>Bird, Klein &amp; Loper</a:t>
            </a:r>
            <a:r>
              <a:rPr sz="1900">
                <a:solidFill>
                  <a:srgbClr val="1A1F2B"/>
                </a:solidFill>
              </a:rPr>
              <a:t> — </a:t>
            </a:r>
            <a:r>
              <a:rPr sz="1900" i="1">
                <a:solidFill>
                  <a:srgbClr val="1A1F2B"/>
                </a:solidFill>
              </a:rPr>
              <a:t>Natural Language Processing with Python</a:t>
            </a:r>
            <a:r>
              <a:rPr sz="1900">
                <a:solidFill>
                  <a:srgbClr val="1A1F2B"/>
                </a:solidFill>
              </a:rPr>
              <a:t> (NLTK; gratis di nltk.org/book)</a:t>
            </a:r>
          </a:p>
          <a:p>
            <a:pPr lvl="1">
              <a:spcBef>
                <a:spcPts val="300"/>
              </a:spcBef>
            </a:pPr>
            <a:r>
              <a:rPr sz="1600">
                <a:solidFill>
                  <a:srgbClr val="5A6372"/>
                </a:solidFill>
              </a:rPr>
              <a:t>–  rujukan utama untuk praktik — ini yang paling sering kita pakai</a:t>
            </a:r>
          </a:p>
          <a:p>
            <a:pPr>
              <a:spcBef>
                <a:spcPts val="1100"/>
              </a:spcBef>
            </a:pPr>
            <a:r>
              <a:rPr sz="1900">
                <a:solidFill>
                  <a:srgbClr val="1A1F2B"/>
                </a:solidFill>
              </a:rPr>
              <a:t>•  </a:t>
            </a:r>
            <a:r>
              <a:rPr sz="1900" b="1">
                <a:solidFill>
                  <a:srgbClr val="102545"/>
                </a:solidFill>
              </a:rPr>
              <a:t>Eisenstein</a:t>
            </a:r>
            <a:r>
              <a:rPr sz="1900">
                <a:solidFill>
                  <a:srgbClr val="1A1F2B"/>
                </a:solidFill>
              </a:rPr>
              <a:t> — </a:t>
            </a:r>
            <a:r>
              <a:rPr sz="1900" i="1">
                <a:solidFill>
                  <a:srgbClr val="1A1F2B"/>
                </a:solidFill>
              </a:rPr>
              <a:t>Introduction to Natural Language Processing</a:t>
            </a:r>
          </a:p>
          <a:p>
            <a:pPr>
              <a:spcBef>
                <a:spcPts val="1100"/>
              </a:spcBef>
            </a:pPr>
          </a:p>
          <a:p>
            <a:pPr>
              <a:spcBef>
                <a:spcPts val="1100"/>
              </a:spcBef>
            </a:pPr>
            <a:r>
              <a:rPr sz="1900">
                <a:solidFill>
                  <a:srgbClr val="1A1F2B"/>
                </a:solidFill>
              </a:rPr>
              <a:t>•  Pendukung: Ganegedara, </a:t>
            </a:r>
            <a:r>
              <a:rPr sz="1900" i="1">
                <a:solidFill>
                  <a:srgbClr val="1A1F2B"/>
                </a:solidFill>
              </a:rPr>
              <a:t>NLP: A Textbook with Python, TensorFlow, and Transformers</a:t>
            </a:r>
            <a:r>
              <a:rPr sz="1900">
                <a:solidFill>
                  <a:srgbClr val="1A1F2B"/>
                </a:solidFill>
              </a:rPr>
              <a:t> · Ghosh &amp; Sarkar, </a:t>
            </a:r>
            <a:r>
              <a:rPr sz="1900" i="1">
                <a:solidFill>
                  <a:srgbClr val="1A1F2B"/>
                </a:solidFill>
              </a:rPr>
              <a:t>NLP Fundamentals</a:t>
            </a:r>
            <a:r>
              <a:rPr sz="1900">
                <a:solidFill>
                  <a:srgbClr val="1A1F2B"/>
                </a:solidFill>
              </a:rPr>
              <a:t> · dokumentasi Hugging Face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788920"/>
            <a:ext cx="1463040" cy="9144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241280" cy="731520"/>
          </a:xfrm>
          <a:prstGeom prst="rect">
            <a:avLst/>
          </a:prstGeom>
          <a:noFill/>
        </p:spPr>
        <p:txBody>
          <a:bodyPr wrap="square">
            <a:spAutoFit/>
          </a:bodyPr>
          <a:lstStyle/>
          <a:p>
            <a:pPr>
              <a:defRPr sz="2000" b="1">
                <a:solidFill>
                  <a:srgbClr val="E6A023"/>
                </a:solidFill>
              </a:defRPr>
            </a:pPr>
            <a:r>
              <a:t>BAGIAN 2</a:t>
            </a:r>
          </a:p>
        </p:txBody>
      </p:sp>
      <p:sp>
        <p:nvSpPr>
          <p:cNvPr id="5" name="TextBox 4"/>
          <p:cNvSpPr txBox="1"/>
          <p:nvPr/>
        </p:nvSpPr>
        <p:spPr>
          <a:xfrm>
            <a:off x="1005840" y="3063240"/>
            <a:ext cx="10241280" cy="1280160"/>
          </a:xfrm>
          <a:prstGeom prst="rect">
            <a:avLst/>
          </a:prstGeom>
          <a:noFill/>
        </p:spPr>
        <p:txBody>
          <a:bodyPr wrap="square">
            <a:spAutoFit/>
          </a:bodyPr>
          <a:lstStyle/>
          <a:p>
            <a:pPr>
              <a:defRPr sz="4400" b="1">
                <a:solidFill>
                  <a:srgbClr val="FFFFFF"/>
                </a:solidFill>
              </a:defRPr>
            </a:pPr>
            <a:r>
              <a:t>Pengantar NLP</a:t>
            </a:r>
          </a:p>
        </p:txBody>
      </p:sp>
      <p:sp>
        <p:nvSpPr>
          <p:cNvPr id="6" name="TextBox 5"/>
          <p:cNvSpPr txBox="1"/>
          <p:nvPr/>
        </p:nvSpPr>
        <p:spPr>
          <a:xfrm>
            <a:off x="1005840" y="4297680"/>
            <a:ext cx="10241280" cy="914400"/>
          </a:xfrm>
          <a:prstGeom prst="rect">
            <a:avLst/>
          </a:prstGeom>
          <a:noFill/>
        </p:spPr>
        <p:txBody>
          <a:bodyPr wrap="square">
            <a:spAutoFit/>
          </a:bodyPr>
          <a:lstStyle/>
          <a:p>
            <a:pPr>
              <a:defRPr sz="2200">
                <a:solidFill>
                  <a:srgbClr val="C8D4E6"/>
                </a:solidFill>
              </a:defRPr>
            </a:pPr>
            <a:r>
              <a:t>Definisi, sejarah, dan aplikasi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102545"/>
                </a:solidFill>
              </a:defRPr>
            </a:pPr>
            <a:r>
              <a:t>"Ular itu bisa berbisa."</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Anda paham kalimat ini dalam sepersekian detik — dua kata 'bisa' yang ditulis identik tapi berarti sama sekali berbeda. Komputer tidak. Seluruh mata kuliah ini adalah usaha menutup jarak itu.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Apa itu Natural Language Processing?</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100">
                <a:solidFill>
                  <a:srgbClr val="1A1F2B"/>
                </a:solidFill>
              </a:rPr>
              <a:t>•  Cabang </a:t>
            </a:r>
            <a:r>
              <a:rPr sz="2100" b="1">
                <a:solidFill>
                  <a:srgbClr val="102545"/>
                </a:solidFill>
              </a:rPr>
              <a:t>kecerdasan buatan</a:t>
            </a:r>
            <a:r>
              <a:rPr sz="2100">
                <a:solidFill>
                  <a:srgbClr val="1A1F2B"/>
                </a:solidFill>
              </a:rPr>
              <a:t> yang berfokus pada interaksi antara </a:t>
            </a:r>
            <a:r>
              <a:rPr sz="2100" b="1">
                <a:solidFill>
                  <a:srgbClr val="102545"/>
                </a:solidFill>
              </a:rPr>
              <a:t>komputer dan bahasa manusia</a:t>
            </a:r>
          </a:p>
          <a:p>
            <a:pPr>
              <a:spcBef>
                <a:spcPts val="1100"/>
              </a:spcBef>
            </a:pPr>
            <a:r>
              <a:rPr sz="2100">
                <a:solidFill>
                  <a:srgbClr val="1A1F2B"/>
                </a:solidFill>
              </a:rPr>
              <a:t>•  Tujuannya: membuat komputer mampu </a:t>
            </a:r>
            <a:r>
              <a:rPr sz="2100" b="1">
                <a:solidFill>
                  <a:srgbClr val="102545"/>
                </a:solidFill>
              </a:rPr>
              <a:t>memahami, menafsirkan, dan menghasilkan</a:t>
            </a:r>
            <a:r>
              <a:rPr sz="2100">
                <a:solidFill>
                  <a:srgbClr val="1A1F2B"/>
                </a:solidFill>
              </a:rPr>
              <a:t> bahasa manusia secara bernilai</a:t>
            </a:r>
          </a:p>
          <a:p>
            <a:pPr>
              <a:spcBef>
                <a:spcPts val="1100"/>
              </a:spcBef>
            </a:pPr>
          </a:p>
          <a:p>
            <a:pPr>
              <a:spcBef>
                <a:spcPts val="1100"/>
              </a:spcBef>
            </a:pPr>
            <a:r>
              <a:rPr sz="2100">
                <a:solidFill>
                  <a:srgbClr val="1A1F2B"/>
                </a:solidFill>
              </a:rPr>
              <a:t>•  Masalah intinya satu: </a:t>
            </a:r>
            <a:r>
              <a:rPr sz="2100" b="1">
                <a:solidFill>
                  <a:srgbClr val="102545"/>
                </a:solidFill>
              </a:rPr>
              <a:t>komputer hanya bisa menghitung angka, sedangkan bahasa itu simbol.</a:t>
            </a:r>
          </a:p>
          <a:p>
            <a:pPr>
              <a:spcBef>
                <a:spcPts val="1100"/>
              </a:spcBef>
            </a:pPr>
            <a:r>
              <a:rPr sz="2100">
                <a:solidFill>
                  <a:srgbClr val="1A1F2B"/>
                </a:solidFill>
              </a:rPr>
              <a:t>•  Sebagian besar pekerjaan NLP adalah </a:t>
            </a:r>
            <a:r>
              <a:rPr sz="2100" b="1">
                <a:solidFill>
                  <a:srgbClr val="102545"/>
                </a:solidFill>
              </a:rPr>
              <a:t>mengubah teks menjadi angka</a:t>
            </a:r>
            <a:r>
              <a:rPr sz="2100">
                <a:solidFill>
                  <a:srgbClr val="1A1F2B"/>
                </a:solidFill>
              </a:rPr>
              <a:t> tanpa kehilangan maknanya —</a:t>
            </a:r>
          </a:p>
          <a:p>
            <a:pPr lvl="1">
              <a:spcBef>
                <a:spcPts val="300"/>
              </a:spcBef>
            </a:pPr>
            <a:r>
              <a:rPr sz="1800">
                <a:solidFill>
                  <a:srgbClr val="5A6372"/>
                </a:solidFill>
              </a:rPr>
              <a:t>–  dan itulah isi Pertemuan 2 sampai 5 kelas ini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Kenapa bahasa itu sulit untuk komputer</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1900">
                <a:solidFill>
                  <a:srgbClr val="1A1F2B"/>
                </a:solidFill>
              </a:rPr>
              <a:t>•  </a:t>
            </a:r>
            <a:r>
              <a:rPr sz="1900" b="1">
                <a:solidFill>
                  <a:srgbClr val="102545"/>
                </a:solidFill>
              </a:rPr>
              <a:t>Ambiguitas makna</a:t>
            </a:r>
            <a:r>
              <a:rPr sz="1900">
                <a:solidFill>
                  <a:srgbClr val="1A1F2B"/>
                </a:solidFill>
              </a:rPr>
              <a:t> — </a:t>
            </a:r>
            <a:r>
              <a:rPr sz="1900" i="1">
                <a:solidFill>
                  <a:srgbClr val="1A1F2B"/>
                </a:solidFill>
              </a:rPr>
              <a:t>"bisa"</a:t>
            </a:r>
            <a:r>
              <a:rPr sz="1900">
                <a:solidFill>
                  <a:srgbClr val="1A1F2B"/>
                </a:solidFill>
              </a:rPr>
              <a:t>: racun ular, atau mampu?</a:t>
            </a:r>
          </a:p>
          <a:p>
            <a:pPr>
              <a:spcBef>
                <a:spcPts val="1100"/>
              </a:spcBef>
            </a:pPr>
            <a:r>
              <a:rPr sz="1900">
                <a:solidFill>
                  <a:srgbClr val="1A1F2B"/>
                </a:solidFill>
              </a:rPr>
              <a:t>•  </a:t>
            </a:r>
            <a:r>
              <a:rPr sz="1900" b="1">
                <a:solidFill>
                  <a:srgbClr val="102545"/>
                </a:solidFill>
              </a:rPr>
              <a:t>Ambiguitas struktur</a:t>
            </a:r>
            <a:r>
              <a:rPr sz="1900">
                <a:solidFill>
                  <a:srgbClr val="1A1F2B"/>
                </a:solidFill>
              </a:rPr>
              <a:t> — </a:t>
            </a:r>
            <a:r>
              <a:rPr sz="1900" i="1">
                <a:solidFill>
                  <a:srgbClr val="1A1F2B"/>
                </a:solidFill>
              </a:rPr>
              <a:t>"Saya melihat orang itu dengan teropong"</a:t>
            </a:r>
            <a:r>
              <a:rPr sz="1900">
                <a:solidFill>
                  <a:srgbClr val="1A1F2B"/>
                </a:solidFill>
              </a:rPr>
              <a:t>: siapa yang memakai teropong?</a:t>
            </a:r>
          </a:p>
          <a:p>
            <a:pPr>
              <a:spcBef>
                <a:spcPts val="1100"/>
              </a:spcBef>
            </a:pPr>
            <a:r>
              <a:rPr sz="1900">
                <a:solidFill>
                  <a:srgbClr val="1A1F2B"/>
                </a:solidFill>
              </a:rPr>
              <a:t>•  </a:t>
            </a:r>
            <a:r>
              <a:rPr sz="1900" b="1">
                <a:solidFill>
                  <a:srgbClr val="102545"/>
                </a:solidFill>
              </a:rPr>
              <a:t>Urutan menentukan makna</a:t>
            </a:r>
            <a:r>
              <a:rPr sz="1900">
                <a:solidFill>
                  <a:srgbClr val="1A1F2B"/>
                </a:solidFill>
              </a:rPr>
              <a:t> — </a:t>
            </a:r>
            <a:r>
              <a:rPr sz="1900" i="1">
                <a:solidFill>
                  <a:srgbClr val="1A1F2B"/>
                </a:solidFill>
              </a:rPr>
              <a:t>"kucing makan ikan"</a:t>
            </a:r>
            <a:r>
              <a:rPr sz="1900">
                <a:solidFill>
                  <a:srgbClr val="1A1F2B"/>
                </a:solidFill>
              </a:rPr>
              <a:t> ≠ </a:t>
            </a:r>
            <a:r>
              <a:rPr sz="1900" i="1">
                <a:solidFill>
                  <a:srgbClr val="1A1F2B"/>
                </a:solidFill>
              </a:rPr>
              <a:t>"ikan makan kucing"</a:t>
            </a:r>
            <a:r>
              <a:rPr sz="1900">
                <a:solidFill>
                  <a:srgbClr val="1A1F2B"/>
                </a:solidFill>
              </a:rPr>
              <a:t>, padahal katanya sama persis</a:t>
            </a:r>
          </a:p>
          <a:p>
            <a:pPr>
              <a:spcBef>
                <a:spcPts val="1100"/>
              </a:spcBef>
            </a:pPr>
            <a:r>
              <a:rPr sz="1900">
                <a:solidFill>
                  <a:srgbClr val="1A1F2B"/>
                </a:solidFill>
              </a:rPr>
              <a:t>•  </a:t>
            </a:r>
            <a:r>
              <a:rPr sz="1900" b="1">
                <a:solidFill>
                  <a:srgbClr val="102545"/>
                </a:solidFill>
              </a:rPr>
              <a:t>Bentuk kata berubah-ubah</a:t>
            </a:r>
            <a:r>
              <a:rPr sz="1900">
                <a:solidFill>
                  <a:srgbClr val="1A1F2B"/>
                </a:solidFill>
              </a:rPr>
              <a:t> — </a:t>
            </a:r>
            <a:r>
              <a:rPr sz="1900" i="1">
                <a:solidFill>
                  <a:srgbClr val="1A1F2B"/>
                </a:solidFill>
              </a:rPr>
              <a:t>makan, memakan, dimakan, pemakan, termakan</a:t>
            </a:r>
            <a:r>
              <a:rPr sz="1900">
                <a:solidFill>
                  <a:srgbClr val="1A1F2B"/>
                </a:solidFill>
              </a:rPr>
              <a:t> → satu akar kata</a:t>
            </a:r>
          </a:p>
          <a:p>
            <a:pPr>
              <a:spcBef>
                <a:spcPts val="1100"/>
              </a:spcBef>
            </a:pPr>
            <a:r>
              <a:rPr sz="1900">
                <a:solidFill>
                  <a:srgbClr val="1A1F2B"/>
                </a:solidFill>
              </a:rPr>
              <a:t>•  </a:t>
            </a:r>
            <a:r>
              <a:rPr sz="1900" b="1">
                <a:solidFill>
                  <a:srgbClr val="102545"/>
                </a:solidFill>
              </a:rPr>
              <a:t>Konteks di luar kalimat</a:t>
            </a:r>
            <a:r>
              <a:rPr sz="1900">
                <a:solidFill>
                  <a:srgbClr val="1A1F2B"/>
                </a:solidFill>
              </a:rPr>
              <a:t> — </a:t>
            </a:r>
            <a:r>
              <a:rPr sz="1900" i="1">
                <a:solidFill>
                  <a:srgbClr val="1A1F2B"/>
                </a:solidFill>
              </a:rPr>
              <a:t>"dia sudah pergi"</a:t>
            </a:r>
            <a:r>
              <a:rPr sz="1900">
                <a:solidFill>
                  <a:srgbClr val="1A1F2B"/>
                </a:solidFill>
              </a:rPr>
              <a:t>: siapa </a:t>
            </a:r>
            <a:r>
              <a:rPr sz="1900" i="1">
                <a:solidFill>
                  <a:srgbClr val="1A1F2B"/>
                </a:solidFill>
              </a:rPr>
              <a:t>dia</a:t>
            </a:r>
            <a:r>
              <a:rPr sz="1900">
                <a:solidFill>
                  <a:srgbClr val="1A1F2B"/>
                </a:solidFill>
              </a:rPr>
              <a:t>? kapan </a:t>
            </a:r>
            <a:r>
              <a:rPr sz="1900" i="1">
                <a:solidFill>
                  <a:srgbClr val="1A1F2B"/>
                </a:solidFill>
              </a:rPr>
              <a:t>sudah</a:t>
            </a:r>
            <a:r>
              <a:rPr sz="1900">
                <a:solidFill>
                  <a:srgbClr val="1A1F2B"/>
                </a:solidFill>
              </a:rPr>
              <a:t>?</a:t>
            </a:r>
          </a:p>
          <a:p>
            <a:pPr>
              <a:spcBef>
                <a:spcPts val="1100"/>
              </a:spcBef>
            </a:pPr>
          </a:p>
          <a:p>
            <a:pPr>
              <a:spcBef>
                <a:spcPts val="1100"/>
              </a:spcBef>
            </a:pPr>
            <a:r>
              <a:rPr sz="1900">
                <a:solidFill>
                  <a:srgbClr val="1A1F2B"/>
                </a:solidFill>
              </a:rPr>
              <a:t>•  Bahasa Indonesia menambah tantangannya sendiri: imbuhan yang produktif, kata ulang, dan campur kode dengan bahasa daerah.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Sejarah singkat: empat gelombang</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Pemicu lompatan terakhir bukan cuma algoritma — tapi daya komputasi dan tersedianya teks dalam jumlah sangat besar.</a:t>
            </a:r>
          </a:p>
        </p:txBody>
      </p:sp>
      <p:graphicFrame>
        <p:nvGraphicFramePr>
          <p:cNvPr id="6" name="Table 5"/>
          <p:cNvGraphicFramePr>
            <a:graphicFrameLocks noGrp="1"/>
          </p:cNvGraphicFramePr>
          <p:nvPr/>
        </p:nvGraphicFramePr>
        <p:xfrm>
          <a:off x="777240" y="1783080"/>
          <a:ext cx="10652759" cy="1993392"/>
        </p:xfrm>
        <a:graphic>
          <a:graphicData uri="http://schemas.openxmlformats.org/drawingml/2006/table">
            <a:tbl>
              <a:tblPr firstRow="1" bandRow="1">
                <a:tableStyleId>{5C22544A-7EE6-4342-B048-85BDC9FD1C3A}</a:tableStyleId>
              </a:tblPr>
              <a:tblGrid>
                <a:gridCol w="1469346"/>
                <a:gridCol w="2755024"/>
                <a:gridCol w="6428389"/>
              </a:tblGrid>
              <a:tr h="398678">
                <a:tc>
                  <a:txBody>
                    <a:bodyPr/>
                    <a:lstStyle/>
                    <a:p>
                      <a:pPr>
                        <a:defRPr sz="1700" b="1">
                          <a:solidFill>
                            <a:srgbClr val="FFFFFF"/>
                          </a:solidFill>
                        </a:defRPr>
                      </a:pPr>
                      <a:r>
                        <a:t>Era</a:t>
                      </a:r>
                    </a:p>
                  </a:txBody>
                  <a:tcPr anchor="ctr">
                    <a:solidFill>
                      <a:srgbClr val="102545"/>
                    </a:solidFill>
                  </a:tcPr>
                </a:tc>
                <a:tc>
                  <a:txBody>
                    <a:bodyPr/>
                    <a:lstStyle/>
                    <a:p>
                      <a:pPr>
                        <a:defRPr sz="1700" b="1">
                          <a:solidFill>
                            <a:srgbClr val="FFFFFF"/>
                          </a:solidFill>
                        </a:defRPr>
                      </a:pPr>
                      <a:r>
                        <a:t>Pendekatan</a:t>
                      </a:r>
                    </a:p>
                  </a:txBody>
                  <a:tcPr anchor="ctr">
                    <a:solidFill>
                      <a:srgbClr val="102545"/>
                    </a:solidFill>
                  </a:tcPr>
                </a:tc>
                <a:tc>
                  <a:txBody>
                    <a:bodyPr/>
                    <a:lstStyle/>
                    <a:p>
                      <a:pPr>
                        <a:defRPr sz="1700" b="1">
                          <a:solidFill>
                            <a:srgbClr val="FFFFFF"/>
                          </a:solidFill>
                        </a:defRPr>
                      </a:pPr>
                      <a:r>
                        <a:t>Penanda</a:t>
                      </a:r>
                    </a:p>
                  </a:txBody>
                  <a:tcPr anchor="ctr">
                    <a:solidFill>
                      <a:srgbClr val="102545"/>
                    </a:solidFill>
                  </a:tcPr>
                </a:tc>
              </a:tr>
              <a:tr h="398678">
                <a:tc>
                  <a:txBody>
                    <a:bodyPr/>
                    <a:lstStyle/>
                    <a:p>
                      <a:pPr>
                        <a:defRPr sz="1700" b="1">
                          <a:solidFill>
                            <a:srgbClr val="102545"/>
                          </a:solidFill>
                        </a:defRPr>
                      </a:pPr>
                      <a:r>
                        <a:t>1950-an</a:t>
                      </a:r>
                    </a:p>
                  </a:txBody>
                  <a:tcPr anchor="ctr">
                    <a:solidFill>
                      <a:srgbClr val="F5F7FA"/>
                    </a:solidFill>
                  </a:tcPr>
                </a:tc>
                <a:tc>
                  <a:txBody>
                    <a:bodyPr/>
                    <a:lstStyle/>
                    <a:p>
                      <a:pPr>
                        <a:defRPr sz="1700" b="0">
                          <a:solidFill>
                            <a:srgbClr val="1A1F2B"/>
                          </a:solidFill>
                        </a:defRPr>
                      </a:pPr>
                      <a:r>
                        <a:t>Terjemahan mesin berbasis aturan</a:t>
                      </a:r>
                    </a:p>
                  </a:txBody>
                  <a:tcPr anchor="ctr">
                    <a:solidFill>
                      <a:srgbClr val="F5F7FA"/>
                    </a:solidFill>
                  </a:tcPr>
                </a:tc>
                <a:tc>
                  <a:txBody>
                    <a:bodyPr/>
                    <a:lstStyle/>
                    <a:p>
                      <a:pPr>
                        <a:defRPr sz="1700" b="0">
                          <a:solidFill>
                            <a:srgbClr val="1A1F2B"/>
                          </a:solidFill>
                        </a:defRPr>
                      </a:pPr>
                      <a:r>
                        <a:t>Eksperimen terjemahan pertama; optimisme besar, hasil mengecewakan</a:t>
                      </a:r>
                    </a:p>
                  </a:txBody>
                  <a:tcPr anchor="ctr">
                    <a:solidFill>
                      <a:srgbClr val="F5F7FA"/>
                    </a:solidFill>
                  </a:tcPr>
                </a:tc>
              </a:tr>
              <a:tr h="398678">
                <a:tc>
                  <a:txBody>
                    <a:bodyPr/>
                    <a:lstStyle/>
                    <a:p>
                      <a:pPr>
                        <a:defRPr sz="1700" b="1">
                          <a:solidFill>
                            <a:srgbClr val="102545"/>
                          </a:solidFill>
                        </a:defRPr>
                      </a:pPr>
                      <a:r>
                        <a:t>1990-an</a:t>
                      </a:r>
                    </a:p>
                  </a:txBody>
                  <a:tcPr anchor="ctr">
                    <a:solidFill>
                      <a:srgbClr val="FFFFFF"/>
                    </a:solidFill>
                  </a:tcPr>
                </a:tc>
                <a:tc>
                  <a:txBody>
                    <a:bodyPr/>
                    <a:lstStyle/>
                    <a:p>
                      <a:pPr>
                        <a:defRPr sz="1700" b="0">
                          <a:solidFill>
                            <a:srgbClr val="1A1F2B"/>
                          </a:solidFill>
                        </a:defRPr>
                      </a:pPr>
                      <a:r>
                        <a:t>Statistik &amp; korpus besar</a:t>
                      </a:r>
                    </a:p>
                  </a:txBody>
                  <a:tcPr anchor="ctr">
                    <a:solidFill>
                      <a:srgbClr val="FFFFFF"/>
                    </a:solidFill>
                  </a:tcPr>
                </a:tc>
                <a:tc>
                  <a:txBody>
                    <a:bodyPr/>
                    <a:lstStyle/>
                    <a:p>
                      <a:pPr>
                        <a:defRPr sz="1700" b="0">
                          <a:solidFill>
                            <a:srgbClr val="1A1F2B"/>
                          </a:solidFill>
                        </a:defRPr>
                      </a:pPr>
                      <a:r>
                        <a:t>Bahasa diperlakukan sebagai peluang, bukan aturan</a:t>
                      </a:r>
                    </a:p>
                  </a:txBody>
                  <a:tcPr anchor="ctr">
                    <a:solidFill>
                      <a:srgbClr val="FFFFFF"/>
                    </a:solidFill>
                  </a:tcPr>
                </a:tc>
              </a:tr>
              <a:tr h="398678">
                <a:tc>
                  <a:txBody>
                    <a:bodyPr/>
                    <a:lstStyle/>
                    <a:p>
                      <a:pPr>
                        <a:defRPr sz="1700" b="1">
                          <a:solidFill>
                            <a:srgbClr val="102545"/>
                          </a:solidFill>
                        </a:defRPr>
                      </a:pPr>
                      <a:r>
                        <a:t>2013-an</a:t>
                      </a:r>
                    </a:p>
                  </a:txBody>
                  <a:tcPr anchor="ctr">
                    <a:solidFill>
                      <a:srgbClr val="F5F7FA"/>
                    </a:solidFill>
                  </a:tcPr>
                </a:tc>
                <a:tc>
                  <a:txBody>
                    <a:bodyPr/>
                    <a:lstStyle/>
                    <a:p>
                      <a:pPr>
                        <a:defRPr sz="1700" b="0">
                          <a:solidFill>
                            <a:srgbClr val="1A1F2B"/>
                          </a:solidFill>
                        </a:defRPr>
                      </a:pPr>
                      <a:r>
                        <a:t>Neural &amp; word embeddings</a:t>
                      </a:r>
                    </a:p>
                  </a:txBody>
                  <a:tcPr anchor="ctr">
                    <a:solidFill>
                      <a:srgbClr val="F5F7FA"/>
                    </a:solidFill>
                  </a:tcPr>
                </a:tc>
                <a:tc>
                  <a:txBody>
                    <a:bodyPr/>
                    <a:lstStyle/>
                    <a:p>
                      <a:pPr>
                        <a:defRPr sz="1700" b="0">
                          <a:solidFill>
                            <a:srgbClr val="1A1F2B"/>
                          </a:solidFill>
                        </a:defRPr>
                      </a:pPr>
                      <a:r>
                        <a:t>Word2Vec, GloVe — kata menjadi vektor bermakna</a:t>
                      </a:r>
                    </a:p>
                  </a:txBody>
                  <a:tcPr anchor="ctr">
                    <a:solidFill>
                      <a:srgbClr val="F5F7FA"/>
                    </a:solidFill>
                  </a:tcPr>
                </a:tc>
              </a:tr>
              <a:tr h="398680">
                <a:tc>
                  <a:txBody>
                    <a:bodyPr/>
                    <a:lstStyle/>
                    <a:p>
                      <a:pPr>
                        <a:defRPr sz="1700" b="1">
                          <a:solidFill>
                            <a:srgbClr val="102545"/>
                          </a:solidFill>
                        </a:defRPr>
                      </a:pPr>
                      <a:r>
                        <a:t>2017 →</a:t>
                      </a:r>
                    </a:p>
                  </a:txBody>
                  <a:tcPr anchor="ctr">
                    <a:solidFill>
                      <a:srgbClr val="FFFFFF"/>
                    </a:solidFill>
                  </a:tcPr>
                </a:tc>
                <a:tc>
                  <a:txBody>
                    <a:bodyPr/>
                    <a:lstStyle/>
                    <a:p>
                      <a:pPr>
                        <a:defRPr sz="1700" b="0">
                          <a:solidFill>
                            <a:srgbClr val="1A1F2B"/>
                          </a:solidFill>
                        </a:defRPr>
                      </a:pPr>
                      <a:r>
                        <a:t>Transformer &amp; attention</a:t>
                      </a:r>
                    </a:p>
                  </a:txBody>
                  <a:tcPr anchor="ctr">
                    <a:solidFill>
                      <a:srgbClr val="FFFFFF"/>
                    </a:solidFill>
                  </a:tcPr>
                </a:tc>
                <a:tc>
                  <a:txBody>
                    <a:bodyPr/>
                    <a:lstStyle/>
                    <a:p>
                      <a:pPr>
                        <a:defRPr sz="1700" b="0">
                          <a:solidFill>
                            <a:srgbClr val="1A1F2B"/>
                          </a:solidFill>
                        </a:defRPr>
                      </a:pPr>
                      <a:r>
                        <a:t>"Attention is All You Need" → BERT, GPT, dan LLM hari ini</a:t>
                      </a:r>
                    </a:p>
                  </a:txBody>
                  <a:tcPr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Aplikasi NLP yang Anda pakai hari ini</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Terjemahan mesin</a:t>
            </a:r>
            <a:r>
              <a:rPr sz="2000">
                <a:solidFill>
                  <a:srgbClr val="1A1F2B"/>
                </a:solidFill>
              </a:rPr>
              <a:t> — Google Translate, DeepL</a:t>
            </a:r>
          </a:p>
          <a:p>
            <a:pPr>
              <a:spcBef>
                <a:spcPts val="1100"/>
              </a:spcBef>
            </a:pPr>
            <a:r>
              <a:rPr sz="2000">
                <a:solidFill>
                  <a:srgbClr val="1A1F2B"/>
                </a:solidFill>
              </a:rPr>
              <a:t>•  </a:t>
            </a:r>
            <a:r>
              <a:rPr sz="2000" b="1">
                <a:solidFill>
                  <a:srgbClr val="102545"/>
                </a:solidFill>
              </a:rPr>
              <a:t>Asisten virtual</a:t>
            </a:r>
            <a:r>
              <a:rPr sz="2000">
                <a:solidFill>
                  <a:srgbClr val="1A1F2B"/>
                </a:solidFill>
              </a:rPr>
              <a:t> — Siri, Google Assistant, Alexa</a:t>
            </a:r>
          </a:p>
          <a:p>
            <a:pPr>
              <a:spcBef>
                <a:spcPts val="1100"/>
              </a:spcBef>
            </a:pPr>
            <a:r>
              <a:rPr sz="2000">
                <a:solidFill>
                  <a:srgbClr val="1A1F2B"/>
                </a:solidFill>
              </a:rPr>
              <a:t>•  </a:t>
            </a:r>
            <a:r>
              <a:rPr sz="2000" b="1">
                <a:solidFill>
                  <a:srgbClr val="102545"/>
                </a:solidFill>
              </a:rPr>
              <a:t>Analisis sentimen</a:t>
            </a:r>
            <a:r>
              <a:rPr sz="2000">
                <a:solidFill>
                  <a:srgbClr val="1A1F2B"/>
                </a:solidFill>
              </a:rPr>
              <a:t> — memantau opini publik terhadap produk atau isu</a:t>
            </a:r>
          </a:p>
          <a:p>
            <a:pPr>
              <a:spcBef>
                <a:spcPts val="1100"/>
              </a:spcBef>
            </a:pPr>
            <a:r>
              <a:rPr sz="2000">
                <a:solidFill>
                  <a:srgbClr val="1A1F2B"/>
                </a:solidFill>
              </a:rPr>
              <a:t>•  </a:t>
            </a:r>
            <a:r>
              <a:rPr sz="2000" b="1">
                <a:solidFill>
                  <a:srgbClr val="102545"/>
                </a:solidFill>
              </a:rPr>
              <a:t>Pemeriksa ejaan &amp; tata bahasa</a:t>
            </a:r>
            <a:r>
              <a:rPr sz="2000">
                <a:solidFill>
                  <a:srgbClr val="1A1F2B"/>
                </a:solidFill>
              </a:rPr>
              <a:t> — Grammarly, autocorrect di ponsel Anda</a:t>
            </a:r>
          </a:p>
          <a:p>
            <a:pPr>
              <a:spcBef>
                <a:spcPts val="1100"/>
              </a:spcBef>
            </a:pPr>
            <a:r>
              <a:rPr sz="2000">
                <a:solidFill>
                  <a:srgbClr val="1A1F2B"/>
                </a:solidFill>
              </a:rPr>
              <a:t>•  </a:t>
            </a:r>
            <a:r>
              <a:rPr sz="2000" b="1">
                <a:solidFill>
                  <a:srgbClr val="102545"/>
                </a:solidFill>
              </a:rPr>
              <a:t>Chatbot layanan pelanggan</a:t>
            </a:r>
            <a:r>
              <a:rPr sz="2000">
                <a:solidFill>
                  <a:srgbClr val="1A1F2B"/>
                </a:solidFill>
              </a:rPr>
              <a:t> — dan, tentu saja, </a:t>
            </a:r>
            <a:r>
              <a:rPr sz="2000" b="1">
                <a:solidFill>
                  <a:srgbClr val="102545"/>
                </a:solidFill>
              </a:rPr>
              <a:t>model bahasa besar</a:t>
            </a:r>
            <a:r>
              <a:rPr sz="2000">
                <a:solidFill>
                  <a:srgbClr val="1A1F2B"/>
                </a:solidFill>
              </a:rPr>
              <a:t> seperti ChatGPT</a:t>
            </a:r>
          </a:p>
          <a:p>
            <a:pPr>
              <a:spcBef>
                <a:spcPts val="1100"/>
              </a:spcBef>
            </a:pPr>
          </a:p>
          <a:p>
            <a:pPr>
              <a:spcBef>
                <a:spcPts val="1100"/>
              </a:spcBef>
            </a:pPr>
            <a:r>
              <a:rPr sz="2000">
                <a:solidFill>
                  <a:srgbClr val="1A1F2B"/>
                </a:solidFill>
              </a:rPr>
              <a:t>•  Semua itu berdiri di atas rantai yang sama, dan rantai itulah yang kita bongkar satu per satu semester ini.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Rantai kerja NLP — peta seluruh semester</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1900">
                <a:solidFill>
                  <a:srgbClr val="1A1F2B"/>
                </a:solidFill>
              </a:rPr>
              <a:t>•  </a:t>
            </a:r>
            <a:r>
              <a:rPr sz="1900" b="1">
                <a:solidFill>
                  <a:srgbClr val="102545"/>
                </a:solidFill>
              </a:rPr>
              <a:t>1. Teks mentah</a:t>
            </a:r>
            <a:r>
              <a:rPr sz="1900">
                <a:solidFill>
                  <a:srgbClr val="1A1F2B"/>
                </a:solidFill>
              </a:rPr>
              <a:t> — komentar, ulasan, dokumen, transkrip</a:t>
            </a:r>
          </a:p>
          <a:p>
            <a:pPr>
              <a:spcBef>
                <a:spcPts val="1100"/>
              </a:spcBef>
            </a:pPr>
            <a:r>
              <a:rPr sz="1900">
                <a:solidFill>
                  <a:srgbClr val="1A1F2B"/>
                </a:solidFill>
              </a:rPr>
              <a:t>•  </a:t>
            </a:r>
            <a:r>
              <a:rPr sz="1900" b="1">
                <a:solidFill>
                  <a:srgbClr val="102545"/>
                </a:solidFill>
              </a:rPr>
              <a:t>2. Preprocessing</a:t>
            </a:r>
            <a:r>
              <a:rPr sz="1900">
                <a:solidFill>
                  <a:srgbClr val="1A1F2B"/>
                </a:solidFill>
              </a:rPr>
              <a:t> — tokenisasi, stopwords, stemming/lemmatization  </a:t>
            </a:r>
            <a:r>
              <a:rPr sz="1900" i="1">
                <a:solidFill>
                  <a:srgbClr val="1A1F2B"/>
                </a:solidFill>
              </a:rPr>
              <a:t>(P2–P3)</a:t>
            </a:r>
          </a:p>
          <a:p>
            <a:pPr>
              <a:spcBef>
                <a:spcPts val="1100"/>
              </a:spcBef>
            </a:pPr>
            <a:r>
              <a:rPr sz="1900">
                <a:solidFill>
                  <a:srgbClr val="1A1F2B"/>
                </a:solidFill>
              </a:rPr>
              <a:t>•  </a:t>
            </a:r>
            <a:r>
              <a:rPr sz="1900" b="1">
                <a:solidFill>
                  <a:srgbClr val="102545"/>
                </a:solidFill>
              </a:rPr>
              <a:t>3. Representasi</a:t>
            </a:r>
            <a:r>
              <a:rPr sz="1900">
                <a:solidFill>
                  <a:srgbClr val="1A1F2B"/>
                </a:solidFill>
              </a:rPr>
              <a:t> — BoW, TF-IDF, word embeddings  </a:t>
            </a:r>
            <a:r>
              <a:rPr sz="1900" i="1">
                <a:solidFill>
                  <a:srgbClr val="1A1F2B"/>
                </a:solidFill>
              </a:rPr>
              <a:t>(P4–P5)</a:t>
            </a:r>
          </a:p>
          <a:p>
            <a:pPr>
              <a:spcBef>
                <a:spcPts val="1100"/>
              </a:spcBef>
            </a:pPr>
            <a:r>
              <a:rPr sz="1900">
                <a:solidFill>
                  <a:srgbClr val="1A1F2B"/>
                </a:solidFill>
              </a:rPr>
              <a:t>•  </a:t>
            </a:r>
            <a:r>
              <a:rPr sz="1900" b="1">
                <a:solidFill>
                  <a:srgbClr val="102545"/>
                </a:solidFill>
              </a:rPr>
              <a:t>4. Pipeline otomatis</a:t>
            </a:r>
            <a:r>
              <a:rPr sz="1900">
                <a:solidFill>
                  <a:srgbClr val="1A1F2B"/>
                </a:solidFill>
              </a:rPr>
              <a:t> — merangkai langkah 2–3 supaya bisa diulang  </a:t>
            </a:r>
            <a:r>
              <a:rPr sz="1900" i="1">
                <a:solidFill>
                  <a:srgbClr val="1A1F2B"/>
                </a:solidFill>
              </a:rPr>
              <a:t>(P6–P7)</a:t>
            </a:r>
          </a:p>
          <a:p>
            <a:pPr>
              <a:spcBef>
                <a:spcPts val="1100"/>
              </a:spcBef>
            </a:pPr>
            <a:r>
              <a:rPr sz="1900">
                <a:solidFill>
                  <a:srgbClr val="1A1F2B"/>
                </a:solidFill>
              </a:rPr>
              <a:t>•  </a:t>
            </a:r>
            <a:r>
              <a:rPr sz="1900" b="1">
                <a:solidFill>
                  <a:srgbClr val="102545"/>
                </a:solidFill>
              </a:rPr>
              <a:t>5. Model</a:t>
            </a:r>
            <a:r>
              <a:rPr sz="1900">
                <a:solidFill>
                  <a:srgbClr val="1A1F2B"/>
                </a:solidFill>
              </a:rPr>
              <a:t> — Naive Bayes → RNN/LSTM → Transformer  </a:t>
            </a:r>
            <a:r>
              <a:rPr sz="1900" i="1">
                <a:solidFill>
                  <a:srgbClr val="1A1F2B"/>
                </a:solidFill>
              </a:rPr>
              <a:t>(P9–P12)</a:t>
            </a:r>
          </a:p>
          <a:p>
            <a:pPr>
              <a:spcBef>
                <a:spcPts val="1100"/>
              </a:spcBef>
            </a:pPr>
            <a:r>
              <a:rPr sz="1900">
                <a:solidFill>
                  <a:srgbClr val="1A1F2B"/>
                </a:solidFill>
              </a:rPr>
              <a:t>•  </a:t>
            </a:r>
            <a:r>
              <a:rPr sz="1900" b="1">
                <a:solidFill>
                  <a:srgbClr val="102545"/>
                </a:solidFill>
              </a:rPr>
              <a:t>6. Evaluasi &amp; etika</a:t>
            </a:r>
            <a:r>
              <a:rPr sz="1900">
                <a:solidFill>
                  <a:srgbClr val="1A1F2B"/>
                </a:solidFill>
              </a:rPr>
              <a:t> — akurasi saja tidak cukup; bias dan privasi  </a:t>
            </a:r>
            <a:r>
              <a:rPr sz="1900" i="1">
                <a:solidFill>
                  <a:srgbClr val="1A1F2B"/>
                </a:solidFill>
              </a:rPr>
              <a:t>(P13)</a:t>
            </a:r>
          </a:p>
          <a:p>
            <a:pPr>
              <a:spcBef>
                <a:spcPts val="1100"/>
              </a:spcBef>
            </a:pPr>
            <a:r>
              <a:rPr sz="1900">
                <a:solidFill>
                  <a:srgbClr val="1A1F2B"/>
                </a:solidFill>
              </a:rPr>
              <a:t>•  </a:t>
            </a:r>
            <a:r>
              <a:rPr sz="1900" b="1">
                <a:solidFill>
                  <a:srgbClr val="102545"/>
                </a:solidFill>
              </a:rPr>
              <a:t>7. Integrasi</a:t>
            </a:r>
            <a:r>
              <a:rPr sz="1900">
                <a:solidFill>
                  <a:srgbClr val="1A1F2B"/>
                </a:solidFill>
              </a:rPr>
              <a:t> — satu studi kasus utuh  </a:t>
            </a:r>
            <a:r>
              <a:rPr sz="1900" i="1">
                <a:solidFill>
                  <a:srgbClr val="1A1F2B"/>
                </a:solidFill>
              </a:rPr>
              <a:t>(P14–P16)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240280"/>
            <a:ext cx="128016" cy="201168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2148840"/>
            <a:ext cx="9966960" cy="2103120"/>
          </a:xfrm>
          <a:prstGeom prst="rect">
            <a:avLst/>
          </a:prstGeom>
          <a:noFill/>
        </p:spPr>
        <p:txBody>
          <a:bodyPr wrap="square">
            <a:spAutoFit/>
          </a:bodyPr>
          <a:lstStyle/>
          <a:p>
            <a:pPr>
              <a:defRPr sz="3800" b="1">
                <a:solidFill>
                  <a:srgbClr val="102545"/>
                </a:solidFill>
              </a:defRPr>
            </a:pPr>
            <a:r>
              <a:t>Model bahasa terbaik pun tetap berdiri di atas teks yang Anda siapkan.</a:t>
            </a:r>
          </a:p>
        </p:txBody>
      </p:sp>
      <p:sp>
        <p:nvSpPr>
          <p:cNvPr id="5" name="TextBox 4"/>
          <p:cNvSpPr txBox="1"/>
          <p:nvPr/>
        </p:nvSpPr>
        <p:spPr>
          <a:xfrm>
            <a:off x="1234440" y="4434840"/>
            <a:ext cx="9966960" cy="1371600"/>
          </a:xfrm>
          <a:prstGeom prst="rect">
            <a:avLst/>
          </a:prstGeom>
          <a:noFill/>
        </p:spPr>
        <p:txBody>
          <a:bodyPr wrap="square">
            <a:spAutoFit/>
          </a:bodyPr>
          <a:lstStyle/>
          <a:p>
            <a:pPr>
              <a:defRPr sz="2100">
                <a:solidFill>
                  <a:srgbClr val="5A6372"/>
                </a:solidFill>
              </a:defRPr>
            </a:pPr>
            <a:r>
              <a:t>Itu sebabnya tujuh pertemuan pertama kelas ini tidak menyentuh Transformer sama sekali — melainkan mengajari Anda memperlakukan teks dengan benar.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Tugas refleksi Pertemuan 1</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1900">
                <a:solidFill>
                  <a:srgbClr val="1A1F2B"/>
                </a:solidFill>
              </a:rPr>
              <a:t>•  Buka forum </a:t>
            </a:r>
            <a:r>
              <a:rPr sz="1900" b="1" u="sng">
                <a:hlinkClick r:id="rId2"/>
              </a:rPr>
              <a:t>Diskusi: Aplikasi NLP di Sekitar Kita</a:t>
            </a:r>
            <a:r>
              <a:rPr sz="1900">
                <a:solidFill>
                  <a:srgbClr val="1A1F2B"/>
                </a:solidFill>
              </a:rPr>
              <a:t> di eBelajar</a:t>
            </a:r>
          </a:p>
          <a:p>
            <a:pPr>
              <a:spcBef>
                <a:spcPts val="1100"/>
              </a:spcBef>
            </a:pPr>
            <a:r>
              <a:rPr sz="1900">
                <a:solidFill>
                  <a:srgbClr val="1A1F2B"/>
                </a:solidFill>
              </a:rPr>
              <a:t>•  Tuliskan </a:t>
            </a:r>
            <a:r>
              <a:rPr sz="1900" b="1">
                <a:solidFill>
                  <a:srgbClr val="102545"/>
                </a:solidFill>
              </a:rPr>
              <a:t>satu aplikasi NLP</a:t>
            </a:r>
            <a:r>
              <a:rPr sz="1900">
                <a:solidFill>
                  <a:srgbClr val="1A1F2B"/>
                </a:solidFill>
              </a:rPr>
              <a:t> yang benar-benar Anda pakai, dan jawab tiga hal:</a:t>
            </a:r>
          </a:p>
          <a:p>
            <a:pPr lvl="1">
              <a:spcBef>
                <a:spcPts val="300"/>
              </a:spcBef>
            </a:pPr>
            <a:r>
              <a:rPr sz="1600">
                <a:solidFill>
                  <a:srgbClr val="5A6372"/>
                </a:solidFill>
              </a:rPr>
              <a:t>–  </a:t>
            </a:r>
            <a:r>
              <a:rPr sz="1600" b="1">
                <a:solidFill>
                  <a:srgbClr val="102545"/>
                </a:solidFill>
              </a:rPr>
              <a:t>Apa input teksnya?</a:t>
            </a:r>
            <a:r>
              <a:rPr sz="1600">
                <a:solidFill>
                  <a:srgbClr val="5A6372"/>
                </a:solidFill>
              </a:rPr>
              <a:t>  Dari mana teks itu datang?</a:t>
            </a:r>
          </a:p>
          <a:p>
            <a:pPr lvl="1">
              <a:spcBef>
                <a:spcPts val="300"/>
              </a:spcBef>
            </a:pPr>
            <a:r>
              <a:rPr sz="1600">
                <a:solidFill>
                  <a:srgbClr val="5A6372"/>
                </a:solidFill>
              </a:rPr>
              <a:t>–  </a:t>
            </a:r>
            <a:r>
              <a:rPr sz="1600" b="1">
                <a:solidFill>
                  <a:srgbClr val="102545"/>
                </a:solidFill>
              </a:rPr>
              <a:t>Apa outputnya?</a:t>
            </a:r>
            <a:r>
              <a:rPr sz="1600">
                <a:solidFill>
                  <a:srgbClr val="5A6372"/>
                </a:solidFill>
              </a:rPr>
              <a:t>  Label, teks baru, angka, atau tindakan?</a:t>
            </a:r>
          </a:p>
          <a:p>
            <a:pPr lvl="1">
              <a:spcBef>
                <a:spcPts val="300"/>
              </a:spcBef>
            </a:pPr>
            <a:r>
              <a:rPr sz="1600">
                <a:solidFill>
                  <a:srgbClr val="5A6372"/>
                </a:solidFill>
              </a:rPr>
              <a:t>–  </a:t>
            </a:r>
            <a:r>
              <a:rPr sz="1600" b="1">
                <a:solidFill>
                  <a:srgbClr val="102545"/>
                </a:solidFill>
              </a:rPr>
              <a:t>Apa akibatnya kalau salah?</a:t>
            </a:r>
            <a:r>
              <a:rPr sz="1600">
                <a:solidFill>
                  <a:srgbClr val="5A6372"/>
                </a:solidFill>
              </a:rPr>
              <a:t>  Siapa yang dirugikan, dan seberapa parah?</a:t>
            </a:r>
          </a:p>
          <a:p>
            <a:pPr>
              <a:spcBef>
                <a:spcPts val="1100"/>
              </a:spcBef>
            </a:pPr>
            <a:r>
              <a:rPr sz="1900">
                <a:solidFill>
                  <a:srgbClr val="1A1F2B"/>
                </a:solidFill>
              </a:rPr>
              <a:t>•  Balas </a:t>
            </a:r>
            <a:r>
              <a:rPr sz="1900" b="1">
                <a:solidFill>
                  <a:srgbClr val="102545"/>
                </a:solidFill>
              </a:rPr>
              <a:t>minimal satu</a:t>
            </a:r>
            <a:r>
              <a:rPr sz="1900">
                <a:solidFill>
                  <a:srgbClr val="1A1F2B"/>
                </a:solidFill>
              </a:rPr>
              <a:t> tulisan teman — sebutkan satu hal yang belum ia pertimbangkan</a:t>
            </a:r>
          </a:p>
          <a:p>
            <a:pPr>
              <a:spcBef>
                <a:spcPts val="1100"/>
              </a:spcBef>
            </a:pPr>
          </a:p>
          <a:p>
            <a:pPr>
              <a:spcBef>
                <a:spcPts val="1100"/>
              </a:spcBef>
            </a:pPr>
            <a:r>
              <a:rPr sz="1900">
                <a:solidFill>
                  <a:srgbClr val="1A1F2B"/>
                </a:solidFill>
              </a:rPr>
              <a:t>•  Pertanyaan ketiga yang paling penting: itu bahan Pertemuan 13 tentang bias dan privasi.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Siapkan sebelum Pertemuan 2</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Pasang </a:t>
            </a:r>
            <a:r>
              <a:rPr sz="2000" b="1">
                <a:solidFill>
                  <a:srgbClr val="102545"/>
                </a:solidFill>
              </a:rPr>
              <a:t>Python 3.10+</a:t>
            </a:r>
            <a:r>
              <a:rPr sz="2000">
                <a:solidFill>
                  <a:srgbClr val="1A1F2B"/>
                </a:solidFill>
              </a:rPr>
              <a:t> + Jupyter/VS Code</a:t>
            </a:r>
          </a:p>
          <a:p>
            <a:pPr>
              <a:spcBef>
                <a:spcPts val="1100"/>
              </a:spcBef>
            </a:pPr>
            <a:r>
              <a:rPr sz="2000">
                <a:solidFill>
                  <a:srgbClr val="1A1F2B"/>
                </a:solidFill>
              </a:rPr>
              <a:t>•  Pasang pustaka: </a:t>
            </a:r>
            <a:r>
              <a:rPr sz="2000" b="1">
                <a:solidFill>
                  <a:srgbClr val="102545"/>
                </a:solidFill>
              </a:rPr>
              <a:t>NLTK</a:t>
            </a:r>
            <a:r>
              <a:rPr sz="2000">
                <a:solidFill>
                  <a:srgbClr val="1A1F2B"/>
                </a:solidFill>
              </a:rPr>
              <a:t> dan/atau </a:t>
            </a:r>
            <a:r>
              <a:rPr sz="2000" b="1">
                <a:solidFill>
                  <a:srgbClr val="102545"/>
                </a:solidFill>
              </a:rPr>
              <a:t>spaCy</a:t>
            </a:r>
            <a:r>
              <a:rPr sz="2000">
                <a:solidFill>
                  <a:srgbClr val="1A1F2B"/>
                </a:solidFill>
              </a:rPr>
              <a:t>, plus `pandas` dan `scikit-learn`</a:t>
            </a:r>
          </a:p>
          <a:p>
            <a:pPr lvl="1">
              <a:spcBef>
                <a:spcPts val="300"/>
              </a:spcBef>
            </a:pPr>
            <a:r>
              <a:rPr sz="1700">
                <a:solidFill>
                  <a:srgbClr val="5A6372"/>
                </a:solidFill>
              </a:rPr>
              <a:t>–  NLTK perlu unduh data tambahan — siapkan sejak awal</a:t>
            </a:r>
          </a:p>
          <a:p>
            <a:pPr>
              <a:spcBef>
                <a:spcPts val="1100"/>
              </a:spcBef>
            </a:pPr>
            <a:r>
              <a:rPr sz="2000">
                <a:solidFill>
                  <a:srgbClr val="1A1F2B"/>
                </a:solidFill>
              </a:rPr>
              <a:t>•  Kendala instalasi → tanyakan di </a:t>
            </a:r>
            <a:r>
              <a:rPr sz="2000" b="1">
                <a:solidFill>
                  <a:srgbClr val="102545"/>
                </a:solidFill>
              </a:rPr>
              <a:t>forum Diskusi Umum</a:t>
            </a:r>
          </a:p>
          <a:p>
            <a:pPr>
              <a:spcBef>
                <a:spcPts val="1100"/>
              </a:spcBef>
            </a:pPr>
          </a:p>
          <a:p>
            <a:pPr>
              <a:spcBef>
                <a:spcPts val="1100"/>
              </a:spcBef>
            </a:pPr>
            <a:r>
              <a:rPr sz="2000">
                <a:solidFill>
                  <a:srgbClr val="1A1F2B"/>
                </a:solidFill>
              </a:rPr>
              <a:t>•  Buku pegangan utama: </a:t>
            </a:r>
            <a:r>
              <a:rPr sz="2000" b="1">
                <a:solidFill>
                  <a:srgbClr val="102545"/>
                </a:solidFill>
              </a:rPr>
              <a:t>Bird, Klein &amp; Loper, *Natural Language Processing with Python</a:t>
            </a:r>
            <a:r>
              <a:rPr sz="2000">
                <a:solidFill>
                  <a:srgbClr val="1A1F2B"/>
                </a:solidFill>
              </a:rPr>
              <a:t>* — gratis di nltk.org/book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Tautan cepat — klik langsung dari slide ini</a:t>
            </a:r>
          </a:p>
        </p:txBody>
      </p:sp>
      <p:sp>
        <p:nvSpPr>
          <p:cNvPr id="5" name="TextBox 4"/>
          <p:cNvSpPr txBox="1"/>
          <p:nvPr/>
        </p:nvSpPr>
        <p:spPr>
          <a:xfrm>
            <a:off x="777240" y="1188720"/>
            <a:ext cx="10789920" cy="457200"/>
          </a:xfrm>
          <a:prstGeom prst="rect">
            <a:avLst/>
          </a:prstGeom>
          <a:noFill/>
        </p:spPr>
        <p:txBody>
          <a:bodyPr wrap="square">
            <a:spAutoFit/>
          </a:bodyPr>
          <a:lstStyle/>
          <a:p>
            <a:pPr>
              <a:defRPr sz="1800" i="1">
                <a:solidFill>
                  <a:srgbClr val="5A6372"/>
                </a:solidFill>
              </a:defRPr>
            </a:pPr>
            <a:r>
              <a:t>Salindia ini tersimpan di Google Drive; semua tautan aktif saat dibuka di PowerPoint atau Google Slides.</a:t>
            </a:r>
          </a:p>
        </p:txBody>
      </p:sp>
      <p:sp>
        <p:nvSpPr>
          <p:cNvPr id="6" name="TextBox 5"/>
          <p:cNvSpPr txBox="1"/>
          <p:nvPr/>
        </p:nvSpPr>
        <p:spPr>
          <a:xfrm>
            <a:off x="777240" y="1783080"/>
            <a:ext cx="10789920" cy="4617720"/>
          </a:xfrm>
          <a:prstGeom prst="rect">
            <a:avLst/>
          </a:prstGeom>
          <a:noFill/>
        </p:spPr>
        <p:txBody>
          <a:bodyPr wrap="square">
            <a:spAutoFit/>
          </a:bodyPr>
          <a:lstStyle/>
          <a:p>
            <a:pPr>
              <a:spcBef>
                <a:spcPts val="1000"/>
              </a:spcBef>
            </a:pPr>
            <a:r>
              <a:rPr sz="2000" b="1">
                <a:solidFill>
                  <a:srgbClr val="E6A023"/>
                </a:solidFill>
              </a:rPr>
              <a:t>▸  </a:t>
            </a:r>
            <a:r>
              <a:rPr sz="2000" b="1" u="sng">
                <a:hlinkClick r:id="rId2"/>
              </a:rPr>
              <a:t>Kursus Natural Language Processing P di eBelajar</a:t>
            </a:r>
          </a:p>
          <a:p>
            <a:pPr>
              <a:spcBef>
                <a:spcPts val="1000"/>
              </a:spcBef>
            </a:pPr>
            <a:r>
              <a:rPr sz="2000" b="1">
                <a:solidFill>
                  <a:srgbClr val="E6A023"/>
                </a:solidFill>
              </a:rPr>
              <a:t>▸  </a:t>
            </a:r>
            <a:r>
              <a:rPr sz="2000" b="1" u="sng">
                <a:hlinkClick r:id="rId3"/>
              </a:rPr>
              <a:t>Kontrak Kuliah (versi lengkap)</a:t>
            </a:r>
          </a:p>
          <a:p>
            <a:pPr>
              <a:spcBef>
                <a:spcPts val="1000"/>
              </a:spcBef>
            </a:pPr>
            <a:r>
              <a:rPr sz="2000" b="1">
                <a:solidFill>
                  <a:srgbClr val="E6A023"/>
                </a:solidFill>
              </a:rPr>
              <a:t>▸  </a:t>
            </a:r>
            <a:r>
              <a:rPr sz="2000" b="1" u="sng">
                <a:hlinkClick r:id="rId4"/>
              </a:rPr>
              <a:t>Materi Pertemuan 1: Apa itu NLP?</a:t>
            </a:r>
          </a:p>
          <a:p>
            <a:pPr>
              <a:spcBef>
                <a:spcPts val="1000"/>
              </a:spcBef>
            </a:pPr>
            <a:r>
              <a:rPr sz="2000" b="1">
                <a:solidFill>
                  <a:srgbClr val="E6A023"/>
                </a:solidFill>
              </a:rPr>
              <a:t>▸  </a:t>
            </a:r>
            <a:r>
              <a:rPr sz="2000" b="1" u="sng">
                <a:hlinkClick r:id="rId5"/>
              </a:rPr>
              <a:t>Forum Diskusi: Aplikasi NLP di Sekitar Kita</a:t>
            </a:r>
          </a:p>
          <a:p>
            <a:pPr>
              <a:spcBef>
                <a:spcPts val="1000"/>
              </a:spcBef>
            </a:pPr>
            <a:r>
              <a:rPr sz="2000" b="1">
                <a:solidFill>
                  <a:srgbClr val="E6A023"/>
                </a:solidFill>
              </a:rPr>
              <a:t>▸  </a:t>
            </a:r>
            <a:r>
              <a:rPr sz="2000" b="1" u="sng">
                <a:hlinkClick r:id="rId6"/>
              </a:rPr>
              <a:t>Tugas 1: Tokenisasi &amp; Stopwords (Pertemuan 2)</a:t>
            </a:r>
          </a:p>
          <a:p>
            <a:pPr>
              <a:spcBef>
                <a:spcPts val="1000"/>
              </a:spcBef>
            </a:pPr>
            <a:r>
              <a:rPr sz="2000" b="1">
                <a:solidFill>
                  <a:srgbClr val="E6A023"/>
                </a:solidFill>
              </a:rPr>
              <a:t>▸  </a:t>
            </a:r>
            <a:r>
              <a:rPr sz="2000" b="1" u="sng">
                <a:hlinkClick r:id="rId7"/>
              </a:rPr>
              <a:t>Survey Awal Mahasiswa</a:t>
            </a:r>
          </a:p>
          <a:p>
            <a:pPr>
              <a:spcBef>
                <a:spcPts val="1000"/>
              </a:spcBef>
            </a:pPr>
            <a:r>
              <a:rPr sz="2000" b="1">
                <a:solidFill>
                  <a:srgbClr val="E6A023"/>
                </a:solidFill>
              </a:rPr>
              <a:t>▸  </a:t>
            </a:r>
            <a:r>
              <a:rPr sz="2000" b="1" u="sng">
                <a:hlinkClick r:id="rId8"/>
              </a:rPr>
              <a:t>Forum Diskusi Umum — tempat bertanya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 y="2788920"/>
            <a:ext cx="1463040" cy="9144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241280" cy="731520"/>
          </a:xfrm>
          <a:prstGeom prst="rect">
            <a:avLst/>
          </a:prstGeom>
          <a:noFill/>
        </p:spPr>
        <p:txBody>
          <a:bodyPr wrap="square">
            <a:spAutoFit/>
          </a:bodyPr>
          <a:lstStyle/>
          <a:p>
            <a:pPr>
              <a:defRPr sz="2000" b="1">
                <a:solidFill>
                  <a:srgbClr val="E6A023"/>
                </a:solidFill>
              </a:defRPr>
            </a:pPr>
            <a:r>
              <a:t>PENUTUP</a:t>
            </a:r>
          </a:p>
        </p:txBody>
      </p:sp>
      <p:sp>
        <p:nvSpPr>
          <p:cNvPr id="5" name="TextBox 4"/>
          <p:cNvSpPr txBox="1"/>
          <p:nvPr/>
        </p:nvSpPr>
        <p:spPr>
          <a:xfrm>
            <a:off x="1005840" y="3063240"/>
            <a:ext cx="10241280" cy="1280160"/>
          </a:xfrm>
          <a:prstGeom prst="rect">
            <a:avLst/>
          </a:prstGeom>
          <a:noFill/>
        </p:spPr>
        <p:txBody>
          <a:bodyPr wrap="square">
            <a:spAutoFit/>
          </a:bodyPr>
          <a:lstStyle/>
          <a:p>
            <a:pPr>
              <a:defRPr sz="4400" b="1">
                <a:solidFill>
                  <a:srgbClr val="FFFFFF"/>
                </a:solidFill>
              </a:defRPr>
            </a:pPr>
            <a:r>
              <a:t>Langkah Anda berikutnya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10789920" cy="914400"/>
          </a:xfrm>
          <a:prstGeom prst="rect">
            <a:avLst/>
          </a:prstGeom>
          <a:noFill/>
        </p:spPr>
        <p:txBody>
          <a:bodyPr wrap="square">
            <a:spAutoFit/>
          </a:bodyPr>
          <a:lstStyle/>
          <a:p>
            <a:pPr>
              <a:defRPr sz="3400" b="1">
                <a:solidFill>
                  <a:srgbClr val="102545"/>
                </a:solidFill>
              </a:defRPr>
            </a:pPr>
            <a:r>
              <a:t>Yang harus Anda lakukan setelah membaca ini</a:t>
            </a:r>
          </a:p>
        </p:txBody>
      </p:sp>
      <p:sp>
        <p:nvSpPr>
          <p:cNvPr id="5" name="TextBox 4"/>
          <p:cNvSpPr txBox="1"/>
          <p:nvPr/>
        </p:nvSpPr>
        <p:spPr>
          <a:xfrm>
            <a:off x="777240" y="1417320"/>
            <a:ext cx="10789920" cy="4937760"/>
          </a:xfrm>
          <a:prstGeom prst="rect">
            <a:avLst/>
          </a:prstGeom>
          <a:noFill/>
        </p:spPr>
        <p:txBody>
          <a:bodyPr wrap="square">
            <a:spAutoFit/>
          </a:bodyPr>
          <a:lstStyle/>
          <a:p>
            <a:pPr>
              <a:spcBef>
                <a:spcPts val="1100"/>
              </a:spcBef>
            </a:pPr>
            <a:r>
              <a:rPr sz="2000">
                <a:solidFill>
                  <a:srgbClr val="1A1F2B"/>
                </a:solidFill>
              </a:rPr>
              <a:t>•  </a:t>
            </a:r>
            <a:r>
              <a:rPr sz="2000" b="1">
                <a:solidFill>
                  <a:srgbClr val="102545"/>
                </a:solidFill>
              </a:rPr>
              <a:t>Buka materi Pertemuan 1 di eBelajar sampai selesai</a:t>
            </a:r>
            <a:r>
              <a:rPr sz="2000">
                <a:solidFill>
                  <a:srgbClr val="1A1F2B"/>
                </a:solidFill>
              </a:rPr>
              <a:t> — ini yang membuka Pertemuan 2</a:t>
            </a:r>
          </a:p>
          <a:p>
            <a:pPr>
              <a:spcBef>
                <a:spcPts val="1100"/>
              </a:spcBef>
            </a:pPr>
            <a:r>
              <a:rPr sz="2000">
                <a:solidFill>
                  <a:srgbClr val="1A1F2B"/>
                </a:solidFill>
              </a:rPr>
              <a:t>•  </a:t>
            </a:r>
            <a:r>
              <a:rPr sz="2000" b="1">
                <a:solidFill>
                  <a:srgbClr val="102545"/>
                </a:solidFill>
              </a:rPr>
              <a:t>Ikut forum diskusi Pertemuan 1</a:t>
            </a:r>
            <a:r>
              <a:rPr sz="2000">
                <a:solidFill>
                  <a:srgbClr val="1A1F2B"/>
                </a:solidFill>
              </a:rPr>
              <a:t> — masuk komponen partisipasi (tautannya ada di slide </a:t>
            </a:r>
            <a:r>
              <a:rPr sz="2000" i="1">
                <a:solidFill>
                  <a:srgbClr val="1A1F2B"/>
                </a:solidFill>
              </a:rPr>
              <a:t>Tautan cepat</a:t>
            </a:r>
            <a:r>
              <a:rPr sz="2000">
                <a:solidFill>
                  <a:srgbClr val="1A1F2B"/>
                </a:solidFill>
              </a:rPr>
              <a:t>)</a:t>
            </a:r>
          </a:p>
          <a:p>
            <a:pPr>
              <a:spcBef>
                <a:spcPts val="1100"/>
              </a:spcBef>
            </a:pPr>
            <a:r>
              <a:rPr sz="2000">
                <a:solidFill>
                  <a:srgbClr val="1A1F2B"/>
                </a:solidFill>
              </a:rPr>
              <a:t>•  </a:t>
            </a:r>
            <a:r>
              <a:rPr sz="2000" b="1">
                <a:solidFill>
                  <a:srgbClr val="102545"/>
                </a:solidFill>
              </a:rPr>
              <a:t>Isi Survey Awal Mahasiswa</a:t>
            </a:r>
            <a:r>
              <a:rPr sz="2000">
                <a:solidFill>
                  <a:srgbClr val="1A1F2B"/>
                </a:solidFill>
              </a:rPr>
              <a:t> di bagian General (opsional, tapi membantu saya menyesuaikan materi)</a:t>
            </a:r>
          </a:p>
          <a:p>
            <a:pPr>
              <a:spcBef>
                <a:spcPts val="1100"/>
              </a:spcBef>
            </a:pPr>
            <a:r>
              <a:rPr sz="2000">
                <a:solidFill>
                  <a:srgbClr val="1A1F2B"/>
                </a:solidFill>
              </a:rPr>
              <a:t>•  </a:t>
            </a:r>
            <a:r>
              <a:rPr sz="2000" b="1">
                <a:solidFill>
                  <a:srgbClr val="102545"/>
                </a:solidFill>
              </a:rPr>
              <a:t>Siapkan lingkungan kerja</a:t>
            </a:r>
            <a:r>
              <a:rPr sz="2000">
                <a:solidFill>
                  <a:srgbClr val="1A1F2B"/>
                </a:solidFill>
              </a:rPr>
              <a:t> sebelum masuk Pertemuan 2</a:t>
            </a:r>
          </a:p>
          <a:p>
            <a:pPr>
              <a:spcBef>
                <a:spcPts val="1100"/>
              </a:spcBef>
            </a:pPr>
          </a:p>
          <a:p>
            <a:pPr>
              <a:spcBef>
                <a:spcPts val="1100"/>
              </a:spcBef>
            </a:pPr>
            <a:r>
              <a:rPr sz="2000">
                <a:solidFill>
                  <a:srgbClr val="1A1F2B"/>
                </a:solidFill>
              </a:rPr>
              <a:t>•  Kalau ada yang macet — instalasi, materi, atau tugas — </a:t>
            </a:r>
            <a:r>
              <a:rPr sz="2000" b="1">
                <a:solidFill>
                  <a:srgbClr val="102545"/>
                </a:solidFill>
              </a:rPr>
              <a:t>tulis di forum Diskusi Umum</a:t>
            </a:r>
            <a:r>
              <a:rPr sz="2000">
                <a:solidFill>
                  <a:srgbClr val="1A1F2B"/>
                </a:solidFill>
              </a:rPr>
              <a:t>. Kelas daring bukan berarti dikerjakan sendirian.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6A0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0241280" cy="914400"/>
          </a:xfrm>
          <a:prstGeom prst="rect">
            <a:avLst/>
          </a:prstGeom>
          <a:noFill/>
        </p:spPr>
        <p:txBody>
          <a:bodyPr wrap="square">
            <a:spAutoFit/>
          </a:bodyPr>
          <a:lstStyle/>
          <a:p>
            <a:pPr>
              <a:defRPr sz="2000" b="1">
                <a:solidFill>
                  <a:srgbClr val="E6A023"/>
                </a:solidFill>
              </a:defRPr>
            </a:pPr>
            <a:r>
              <a:t>SELAMAT BELAJAR</a:t>
            </a:r>
          </a:p>
        </p:txBody>
      </p:sp>
      <p:sp>
        <p:nvSpPr>
          <p:cNvPr id="5" name="TextBox 4"/>
          <p:cNvSpPr txBox="1"/>
          <p:nvPr/>
        </p:nvSpPr>
        <p:spPr>
          <a:xfrm>
            <a:off x="1005840" y="2286000"/>
            <a:ext cx="10241280" cy="1280160"/>
          </a:xfrm>
          <a:prstGeom prst="rect">
            <a:avLst/>
          </a:prstGeom>
          <a:noFill/>
        </p:spPr>
        <p:txBody>
          <a:bodyPr wrap="square">
            <a:spAutoFit/>
          </a:bodyPr>
          <a:lstStyle/>
          <a:p>
            <a:pPr>
              <a:defRPr sz="5000" b="1">
                <a:solidFill>
                  <a:srgbClr val="FFFFFF"/>
                </a:solidFill>
              </a:defRPr>
            </a:pPr>
            <a:r>
              <a:t>Sampai jumpa di forum</a:t>
            </a:r>
          </a:p>
        </p:txBody>
      </p:sp>
      <p:sp>
        <p:nvSpPr>
          <p:cNvPr id="6" name="TextBox 5"/>
          <p:cNvSpPr txBox="1"/>
          <p:nvPr/>
        </p:nvSpPr>
        <p:spPr>
          <a:xfrm>
            <a:off x="1005840" y="4114800"/>
            <a:ext cx="10241280" cy="914400"/>
          </a:xfrm>
          <a:prstGeom prst="rect">
            <a:avLst/>
          </a:prstGeom>
          <a:noFill/>
        </p:spPr>
        <p:txBody>
          <a:bodyPr wrap="square">
            <a:spAutoFit/>
          </a:bodyPr>
          <a:lstStyle/>
          <a:p>
            <a:pPr>
              <a:defRPr sz="2400" b="0">
                <a:solidFill>
                  <a:srgbClr val="C8D4E6"/>
                </a:solidFill>
              </a:defRPr>
            </a:pPr>
            <a:r>
              <a:t>Pertanyaan dijawab pada hari kerja, ≤ 1×24 jam.</a:t>
            </a:r>
          </a:p>
        </p:txBody>
      </p:sp>
      <p:sp>
        <p:nvSpPr>
          <p:cNvPr id="7" name="TextBox 6"/>
          <p:cNvSpPr txBox="1"/>
          <p:nvPr/>
        </p:nvSpPr>
        <p:spPr>
          <a:xfrm>
            <a:off x="1005840" y="5760720"/>
            <a:ext cx="10241280" cy="914400"/>
          </a:xfrm>
          <a:prstGeom prst="rect">
            <a:avLst/>
          </a:prstGeom>
          <a:noFill/>
        </p:spPr>
        <p:txBody>
          <a:bodyPr wrap="square">
            <a:spAutoFit/>
          </a:bodyPr>
          <a:lstStyle/>
          <a:p>
            <a:pPr>
              <a:defRPr sz="1600" b="0">
                <a:solidFill>
                  <a:srgbClr val="8FA3BF"/>
                </a:solidFill>
              </a:defRPr>
            </a:pPr>
            <a:r>
              <a:t>Mukhlis Amien, M.Kom.  ·  Natural Language Processing P  ·  Ganjil 2026/2027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