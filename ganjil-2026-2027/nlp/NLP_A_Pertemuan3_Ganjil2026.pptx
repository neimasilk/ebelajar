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Rudolph bangkit: awalnya diam, kini mengisi exit P2 (Minggu malam, jawaban level lanjut) dan P1 - dua-duanya dibalas dan dinilai. Hafiz belum muncul sama sekali: nol posting, nol submission - sapa langsung hari ini. Bahrum sudah kerja semua. Forum exit-ticket tidak punya tenggat mati; yang punya tenggat mati: Tugas 1, 27 Sep.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Tiga orang, jadi tabulasinya kecil tapi personal. Sebut dua hal: (1) Tugas 1 Bahrum 78 punya catatan revisi konkret di kolom komentar tugas - tunjukkan CARA melihat komentar itu di layar; (2) Rudolph dan Hafiz masih bisa mengumpulkan sampai Minggu 27 Sep 23.55.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Kelas 3 orang - ini bukan peringatan massal, ini pesan personal ke dua orang di ruangan. Ucapkan nama mereka.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jembatan naratif dari P2 ke P3. Poin besarnya: di P2 kita belajar membuang stopwords bisa merusak negasi. Di P3 kita belajar memangkas imbuhan bisa merusak aspek/intensitas. Prinsipnya sama, korbannya beda. Pembanding: Rudolph juga mengisi exit P2 Minggu malam dan jawaban nomor 1-nya menyentuh negasi yang tersembunyi di daftar stopwords - level lanjut.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Tulis kelimanya di papan. Tanya: menurut Anda apakah ini masalah? Jawabannya: tergantung tugas. Untuk klasifikasi topik - masalah (data terpecah). Untuk analisis gaya penulisan - justru sinyal. Jangan buru-buru bilang normalisasi selalu baik.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Ingatkan: LKS di Colab bersifat read-only kalau dibuka langsung. Harus File &gt; Save a copy in Drive, kalau tidak pekerjaannya hilang.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Contoh klasik: 'studies' -&gt; stem 'studi' (bukan kata Inggris) tapi lemma 'study'. Sebaliknya 'better' -&gt; stem tetap 'better', lemma (adjektiva) 'good'. Lemmatization bisa melompat ke bentuk yang sama sekali beda.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Kesempatan menyisipkan motivasi riset. Sastrawi = Nazief-Adriani, dipublikasikan 1996, masih jadi standar de facto sampai sekarang. Itu sendiri sudah menunjukkan betapa lambatnya perkembangan alat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Jawab langsung kalau ditanya 'kenapa ganti alat lagi'. Poinnya bukan spaCy jelek; poinnya setiap alat punya cakupan bahasa yang berbeda, dan menyerahkan semuanya ke satu pustaka adalah kebiasaan buruk.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Hubungkan eksplisit ke jawaban Bahrum tentang negasi. P2: yang hilang = negasi. P3: yang hilang = aspek, kesengajaan, arah perbuatan. Prinsip besarnya identik - setiap pra-proses adalah keputusan bertrade-off.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Kunci: mempermainkan-&gt;main, berlari-lari-&gt;lari, keadilan-&gt;adil, pembelajaran-&gt;ajar. studies(v)-&gt;study, better(a)-&gt;good. Yang paling sering meleset: 'better'-&gt;'good' (lompatan leksikal, bukan pemotongan) dan 'pembelajaran'-&gt;'ajar' (dua imbuhan sekaligus).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omw-1.4 = Open Multilingual WordNet, sering terlupa dan menyebabkan error yang membingungkan saat lemmatize. averaged_perceptron_tagger dipakai pos_tag di Praktikum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hasil live dan bandingkan dengan tebakan di Uji Cepat 1. Perhatikan: stemmer.stem() menerima STRING, bisa juga seluruh kalimat sekaligus - tapi per-token lebih mudah dibaca untuk tabel komparasi.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Jebakan kapitalisasi adalah penyebab error nomor satu di kelas sebelumnya. Tulis di papan: pip install sastrawi / from Sastrawi...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terpenting di bagian ini. Tanpa POS, lemmatizer terlihat 'tidak bekerja' padahal ia bekerja sesuai instruksi. Ini juga yang menjelaskan koreksi untuk jawaban Bahrum: lemma bergantung pada komponen POS tagger, bukan pada tokenisasi.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Jalankan live. Tunjukkan 'studying VBG -&gt; study' dan 'better JJR -&gt; good'. Kalau ada waktu: hapus fungsi to_wordnet dan tunjukkan hasilnya berubah jadi tidak ternormalisasi - bukti bahwa POS-lah yang mengerjakan.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Tekankan: pakai teks yang cukup panjang (5-10 kalimat minimal). Pada teks 1 kalimat penyusutannya nyaris nol dan kesimpulannya menyesatkan. Ini juga latihan pertama membaca angka secara jujur.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Minta mereka sengaja memasukkan 1-2 baris yang salah-normalisasi. Rubrik menghargai 'contoh representatif', dan contoh yang gagal justru paling informatif untuk analisis di Produk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Ingatkan beda dengan Tugas 1: ini penugasan modul P3, tenggatnya akan diumumkan di eBelajar. Tugas 1 (tokenisasi &amp; stopwords) tenggat 27 Sep - Bahrum sudah kumpul (dinilai 78, ada catatan revisi); Rudolph dan Hafiz masih bisa mengumpulkan.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Bagian etika sering dilewati mahasiswa. Sebut satu kalimat saja tapi tegas: sumber data wajib dicantumkan, sama seperti sitasi.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Soal 1 menguji pemahaman trade-off. Soal 2 menguji hal teknis paling sering salah. Soal 3 memaksa mereka melihat angka sendiri, bukan menyalin kesimpulan modul.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drive/folders/14fspLWwgKmTOxrJnNs7d01-isrnW7oxY" TargetMode="External"/><Relationship Id="rId3" Type="http://schemas.openxmlformats.org/officeDocument/2006/relationships/hyperlink" Target="https://drive.google.com/file/d/1kjHjfnYXyVu4eY7CBaEfSb-suNmqOKex/view" TargetMode="External"/><Relationship Id="rId4" Type="http://schemas.openxmlformats.org/officeDocument/2006/relationships/hyperlink" Target="https://colab.research.google.com/drive/1BzpZ4VtrCF6YCAEw5w2RIfbufdKKKLh3" TargetMode="External"/><Relationship Id="rId5" Type="http://schemas.openxmlformats.org/officeDocument/2006/relationships/hyperlink" Target="https://drive.google.com/file/d/1r02JuqTgE7yyo-J7ni7qc-55WnNr9Ist/view" TargetMode="External"/><Relationship Id="rId6" Type="http://schemas.openxmlformats.org/officeDocument/2006/relationships/hyperlink" Target="https://ebelajar.stiki.ac.id/course/view.php?id=7226" TargetMode="External"/><Relationship Id="rId7" Type="http://schemas.openxmlformats.org/officeDocument/2006/relationships/hyperlink" Target="https://ebelajar.stiki.ac.id/mod/assign/view.php?id=491786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PERTEMUAN 3 - NATURAL LANGUAGE 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FFFFF"/>
                </a:solidFill>
              </a:defRPr>
            </a:pPr>
            <a:r>
              <a:t>Stemming &amp; Lemmatization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C8D4E6"/>
                </a:solidFill>
              </a:defRPr>
            </a:pPr>
            <a:r>
              <a:t>Normalisasi morfologi: memangkas bentuk permukaan tanpa ikut membuang makna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76072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8FA3BF"/>
                </a:solidFill>
              </a:defRPr>
            </a:pPr>
            <a:r>
              <a:t>Mukhlis Amien, M.Kom.  ·  IF24KK64  ·  Kelas A (Reguler) · Selasa 08.00-10.30 · A.2.1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Laporan feedback - Minggu 2 (14-20 Sep)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Kelas 3 orang: tidak ada yang tidak terlihat. Angka ini diambil langsung dari eBelajar, bukan perkiraan.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6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0920"/>
                <a:gridCol w="7101840"/>
              </a:tblGrid>
              <a:tr h="39319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</a:defRPr>
                      </a:pPr>
                      <a:r>
                        <a:t>Yang saya periksa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</a:defRPr>
                      </a:pPr>
                      <a:r>
                        <a:t>Hasil per 21 September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02545"/>
                          </a:solidFill>
                        </a:defRPr>
                      </a:pPr>
                      <a:r>
                        <a:t>Exit-ticket P2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02545"/>
                          </a:solidFill>
                        </a:defRPr>
                      </a:pPr>
                      <a:r>
                        <a:t>2 dari 3 mengisi - Bahrum 88, Rudolph 90 (Minggu 20 Sep). Keduanya dibalas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02545"/>
                          </a:solidFill>
                        </a:defRPr>
                      </a:pPr>
                      <a:r>
                        <a:t>Diskusi P1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02545"/>
                          </a:solidFill>
                        </a:defRPr>
                      </a:pPr>
                      <a:r>
                        <a:t>2 dari 3 posting - Bahrum 88, Rudolph 88. Keduanya dibalas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02545"/>
                          </a:solidFill>
                        </a:defRPr>
                      </a:pPr>
                      <a:r>
                        <a:t>Tugas 1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02545"/>
                          </a:solidFill>
                        </a:defRPr>
                      </a:pPr>
                      <a:r>
                        <a:t>Terkumpul 1 dari 3 (Bahrum) - SUDAH DINILAI 78 dengan catatan revisi. Tenggat 27 Sep, sisa 6 hari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02545"/>
                          </a:solidFill>
                        </a:defRPr>
                      </a:pPr>
                      <a:r>
                        <a:t>Perkenalan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02545"/>
                          </a:solidFill>
                        </a:defRPr>
                      </a:pPr>
                      <a:r>
                        <a:t>Masih 0 dari 3 - forum tetap dibuka, tetap dinilai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02545"/>
                          </a:solidFill>
                        </a:defRPr>
                      </a:pPr>
                      <a:r>
                        <a:t>Blokir kumpul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02545"/>
                          </a:solidFill>
                        </a:defRPr>
                      </a:pPr>
                      <a:r>
                        <a:t>Sudah dibuka 15 Sep (setelan warisan 2025); kalau masih gagal, lapor hari ini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Tabulasi nilai s.d. pagi ini (21 Sep)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Sumber: rating forum + grade Tugas 1 di eBelajar, dibaca pagi ini. Perkenalan: belum ada yang mengisi. Kosong = masih bisa dikejar - Tugas 1 tenggat 27 Sep.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9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83557"/>
                <a:gridCol w="2130552"/>
                <a:gridCol w="2130552"/>
                <a:gridCol w="2308098"/>
              </a:tblGrid>
              <a:tr h="40690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Mahasiswa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Forum P1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Exit P2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Tugas 1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Bahrum Rumbalifar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78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Rudolph Gaspersz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Hafizh Habibulloh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128016" cy="201168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02545"/>
                </a:solidFill>
              </a:defRPr>
            </a:pPr>
            <a:r>
              <a:t>Tugas 1: 1 dari 3.</a:t>
            </a:r>
            <a:br/>
            <a:r>
              <a:t>Enam hari lagi.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434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5A6372"/>
                </a:solidFill>
              </a:defRPr>
            </a:pPr>
            <a:r>
              <a:t>Bahrum sudah mengumpulkan dan sudah menerima nilai plus catatan revisi. Rudolph, Hafiz: tenggat Minggu 27 Sep 23.55 - dan langkah nomor satu (tokenisasi kalimat) adalah langkah yang paling sering terlewat. Kalau macet, tulis di forum Diskusi Umum hari ini; jangan menunggu tanggal 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Jawaban exit-ticket P2 yang jadi pintu masuk hari 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Pola yang berulang: setiap langkah normalisasi membuang sesuatu. Pertanyaannya selalu - apa yang boleh hilang?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Bahrum menjawab benar ketiganya. Dua hal darinya langsung menyambung ke materi P3: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</a:t>
            </a:r>
            <a:r>
              <a:rPr sz="1900" i="1">
                <a:solidFill>
                  <a:srgbClr val="5A6372"/>
                </a:solidFill>
              </a:rPr>
              <a:t>"Menghapus 'tidak' membalik sentimen 180 derajat"</a:t>
            </a:r>
            <a:r>
              <a:rPr sz="1900">
                <a:solidFill>
                  <a:srgbClr val="5A6372"/>
                </a:solidFill>
              </a:rPr>
              <a:t> - benar. Membuang stopword = membuang informasi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</a:t>
            </a:r>
            <a:r>
              <a:rPr sz="1900" i="1">
                <a:solidFill>
                  <a:srgbClr val="5A6372"/>
                </a:solidFill>
              </a:rPr>
              <a:t>"spaCy memberi lemma dan POS dalam satu langkah"</a:t>
            </a:r>
            <a:r>
              <a:rPr sz="1900">
                <a:solidFill>
                  <a:srgbClr val="5A6372"/>
                </a:solidFill>
              </a:rPr>
              <a:t> - hampir benar, dan koreksinya penting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Koreksinya:</a:t>
            </a:r>
            <a:r>
              <a:rPr sz="2200">
                <a:solidFill>
                  <a:srgbClr val="1A1F2B"/>
                </a:solidFill>
              </a:rPr>
              <a:t> tokenizer spaCy juga berbasis aturan. Lemma dan POS diisi oleh komponen </a:t>
            </a:r>
            <a:r>
              <a:rPr sz="2200" b="1">
                <a:solidFill>
                  <a:srgbClr val="102545"/>
                </a:solidFill>
              </a:rPr>
              <a:t>berikutnya</a:t>
            </a:r>
            <a:r>
              <a:rPr sz="2200">
                <a:solidFill>
                  <a:srgbClr val="1A1F2B"/>
                </a:solidFill>
              </a:rPr>
              <a:t> dalam pipeline (tagger, lemmatizer) - bukan oleh tokenisasi.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Hari ini kita bongkar komponen itu satu per satu, dan kita kerjakan </a:t>
            </a:r>
            <a:r>
              <a:rPr sz="2200" b="1">
                <a:solidFill>
                  <a:srgbClr val="102545"/>
                </a:solidFill>
              </a:rPr>
              <a:t>tanpa spaCy</a:t>
            </a:r>
            <a:r>
              <a:rPr sz="2200">
                <a:solidFill>
                  <a:srgbClr val="1A1F2B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Alur 150 menit hari 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Angka = menit. Modul mandiri versinya 120 menit; 30 menit tambahan hari ini dipakai untuk eksperimen bersama dan diskusi.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Hook</a:t>
            </a:r>
            <a:r>
              <a:rPr sz="2200">
                <a:solidFill>
                  <a:srgbClr val="1A1F2B"/>
                </a:solidFill>
              </a:rPr>
              <a:t> - satu kata, lima bentuk: kenapa kosakata meledak · 10'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Mini-lecture</a:t>
            </a:r>
            <a:r>
              <a:rPr sz="2200">
                <a:solidFill>
                  <a:srgbClr val="1A1F2B"/>
                </a:solidFill>
              </a:rPr>
              <a:t> - stemming vs lemmatization, dan kenapa BI tidak punya lemmatizer · 25'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Praktikum 1</a:t>
            </a:r>
            <a:r>
              <a:rPr sz="2200">
                <a:solidFill>
                  <a:srgbClr val="1A1F2B"/>
                </a:solidFill>
              </a:rPr>
              <a:t> - Sastrawi: stemming Bahasa Indonesia · 35'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Praktikum 2</a:t>
            </a:r>
            <a:r>
              <a:rPr sz="2200">
                <a:solidFill>
                  <a:srgbClr val="1A1F2B"/>
                </a:solidFill>
              </a:rPr>
              <a:t> - NLTK WordNet + POS tagger: lemmatization Inggris · 35'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Eksperimen</a:t>
            </a:r>
            <a:r>
              <a:rPr sz="2200">
                <a:solidFill>
                  <a:srgbClr val="1A1F2B"/>
                </a:solidFill>
              </a:rPr>
              <a:t> - ukur ukuran kosakata sebelum vs sesudah, susun tabel komparasi · 25'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Rangkuman</a:t>
            </a:r>
            <a:r>
              <a:rPr sz="2200">
                <a:solidFill>
                  <a:srgbClr val="1A1F2B"/>
                </a:solidFill>
              </a:rPr>
              <a:t> + penugasan + exit-ticket + pratinjau P4 · 20'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HOOK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Satu kata,</a:t>
            </a:r>
            <a:br/>
            <a:r>
              <a:t>lima bentuk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Dan mesin menghitungnya sebagai lima kata yang berbeda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128016" cy="201168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02545"/>
                </a:solidFill>
              </a:defRPr>
            </a:pPr>
            <a:r>
              <a:t>membaca, dibaca, bacaan,</a:t>
            </a:r>
            <a:br/>
            <a:r>
              <a:t>membacakan, terbaca.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434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5A6372"/>
                </a:solidFill>
              </a:defRPr>
            </a:pPr>
            <a:r>
              <a:t>Bagi manusia: satu keluarga kata. Bagi program yang baru saja Anda tulis di Pertemuan 2: lima token berbeda, lima kolom berbeda, lima hitungan terpisah. Kosakata membengkak, dan setiap bentuk hanya dilihat sedikit contoh.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Capaian pertemuan ini (sesuai modul mandiri P3)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Tiga capaian ini persis yang dinilai rubrik: Notebook &amp; Kode 45% · Tabel Komparasi 35% · Ringkasan Analisis 20%.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Melakukan </a:t>
            </a:r>
            <a:r>
              <a:rPr sz="2200" b="1">
                <a:solidFill>
                  <a:srgbClr val="102545"/>
                </a:solidFill>
              </a:rPr>
              <a:t>stemming Bahasa Indonesia</a:t>
            </a:r>
            <a:r>
              <a:rPr sz="2200">
                <a:solidFill>
                  <a:srgbClr val="1A1F2B"/>
                </a:solidFill>
              </a:rPr>
              <a:t> (Sastrawi) dan </a:t>
            </a:r>
            <a:r>
              <a:rPr sz="2200" b="1">
                <a:solidFill>
                  <a:srgbClr val="102545"/>
                </a:solidFill>
              </a:rPr>
              <a:t>lemmatization Inggris</a:t>
            </a:r>
            <a:r>
              <a:rPr sz="2200">
                <a:solidFill>
                  <a:srgbClr val="1A1F2B"/>
                </a:solidFill>
              </a:rPr>
              <a:t> (NLTK WordNet) dengan pustaka open-source yang sesuai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Menganalisis </a:t>
            </a:r>
            <a:r>
              <a:rPr sz="2200" b="1">
                <a:solidFill>
                  <a:srgbClr val="102545"/>
                </a:solidFill>
              </a:rPr>
              <a:t>dampak normalisasi morfologi terhadap ukuran kosakata</a:t>
            </a:r>
            <a:r>
              <a:rPr sz="2200">
                <a:solidFill>
                  <a:srgbClr val="1A1F2B"/>
                </a:solidFill>
              </a:rPr>
              <a:t>, dan implikasinya terhadap fitur - langsung menuju BoW/TF-IDF di Pertemuan 4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Menyusun </a:t>
            </a:r>
            <a:r>
              <a:rPr sz="2200" b="1">
                <a:solidFill>
                  <a:srgbClr val="102545"/>
                </a:solidFill>
              </a:rPr>
              <a:t>tabel komparasi</a:t>
            </a:r>
            <a:r>
              <a:rPr sz="2200">
                <a:solidFill>
                  <a:srgbClr val="1A1F2B"/>
                </a:solidFill>
              </a:rPr>
              <a:t> dan ringkasan: kapan memilih stemming, kapan lemmatization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Bahan belajar mandiri di Drive - pertemuan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Tautan lengkap ada di slide terakhir. eBelajar hanya menautkan - satu salinan tunggal di Drive.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Modul Mandiri P3 (PDF)</a:t>
            </a:r>
            <a:r>
              <a:rPr sz="2200">
                <a:solidFill>
                  <a:srgbClr val="1A1F2B"/>
                </a:solidFill>
              </a:rPr>
              <a:t> - </a:t>
            </a:r>
            <a:r>
              <a:rPr sz="2200" i="1">
                <a:solidFill>
                  <a:srgbClr val="1A1F2B"/>
                </a:solidFill>
              </a:rPr>
              <a:t>Stemming &amp; Lemmatization (Tanpa spaCy)</a:t>
            </a:r>
            <a:r>
              <a:rPr sz="2200">
                <a:solidFill>
                  <a:srgbClr val="1A1F2B"/>
                </a:solidFill>
              </a:rPr>
              <a:t>, estimasi 120 menit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LKS Colab</a:t>
            </a:r>
            <a:r>
              <a:rPr sz="2200">
                <a:solidFill>
                  <a:srgbClr val="1A1F2B"/>
                </a:solidFill>
              </a:rPr>
              <a:t> - `NLP_Pertemuan_3_Stemming_Lemmatization.ipynb`, starter notebook siap jalan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Video </a:t>
            </a:r>
            <a:r>
              <a:rPr sz="2200" b="1">
                <a:solidFill>
                  <a:srgbClr val="102545"/>
                </a:solidFill>
              </a:rPr>
              <a:t>Membedah Stemming vs Lemmatization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Video </a:t>
            </a:r>
            <a:r>
              <a:rPr sz="2200" b="1">
                <a:solidFill>
                  <a:srgbClr val="102545"/>
                </a:solidFill>
              </a:rPr>
              <a:t>presentasi pertemuan 3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Berbeda dari Pertemuan 2: folder P3 </a:t>
            </a:r>
            <a:r>
              <a:rPr sz="2200" b="1">
                <a:solidFill>
                  <a:srgbClr val="102545"/>
                </a:solidFill>
              </a:rPr>
              <a:t>punya LKS notebook</a:t>
            </a:r>
            <a:r>
              <a:rPr sz="2200">
                <a:solidFill>
                  <a:srgbClr val="1A1F2B"/>
                </a:solidFill>
              </a:rPr>
              <a:t>. Buka dari Drive, </a:t>
            </a:r>
            <a:r>
              <a:rPr sz="2200" i="1">
                <a:solidFill>
                  <a:srgbClr val="1A1F2B"/>
                </a:solidFill>
              </a:rPr>
              <a:t>Save a copy in Drive</a:t>
            </a:r>
            <a:r>
              <a:rPr sz="2200">
                <a:solidFill>
                  <a:srgbClr val="1A1F2B"/>
                </a:solidFill>
              </a:rPr>
              <a:t> dulu sebelum mengedit.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Stemming vs</a:t>
            </a:r>
            <a:br/>
            <a:r>
              <a:t>Lemmatization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Dua cara mengecilkan kosakata - dan keduanya membuang sesuatu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Dua pendekatan, satu tujuan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Perbedaan praktisnya: stemming berani salah demi cepat; lemmatization berhati-hati tapi menuntut informasi tambahan.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9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8329"/>
                <a:gridCol w="4097215"/>
                <a:gridCol w="4097215"/>
              </a:tblGrid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Stemming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Lemmatization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Cara kerja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Heuristik / aturan morfologi - potong imbuhan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Cari lemma di kamus - butuh analisis kata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Hasil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Stem: belum tentu kata yang sah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Lemma: selalu kata kamus yang sah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Butuh POS?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Tidak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Ya - hasil berubah menurut kelas kata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Kecepatan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Cepat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Lebih lambat (lookup + tagging)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Alat hari ini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Sastrawi (Bahasa Indonesia)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NLTK WordNetLemmatizer (Inggris)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Kenapa Bahasa Indonesia hanya dapat stemming?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Kalau nanti Anda mencari topik tugas akhir: celah ini nyata, dan bisa diukur.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Modul menyatakannya terang-terangan: </a:t>
            </a:r>
            <a:r>
              <a:rPr sz="2200" b="1">
                <a:solidFill>
                  <a:srgbClr val="102545"/>
                </a:solidFill>
              </a:rPr>
              <a:t>lemmatization Bahasa Indonesia yang stabil belum umum tersedia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Yang ada dan matang: </a:t>
            </a:r>
            <a:r>
              <a:rPr sz="2200" b="1">
                <a:solidFill>
                  <a:srgbClr val="102545"/>
                </a:solidFill>
              </a:rPr>
              <a:t>Sastrawi</a:t>
            </a:r>
            <a:r>
              <a:rPr sz="2200">
                <a:solidFill>
                  <a:srgbClr val="1A1F2B"/>
                </a:solidFill>
              </a:rPr>
              <a:t>, implementasi algoritma </a:t>
            </a:r>
            <a:r>
              <a:rPr sz="2200" b="1">
                <a:solidFill>
                  <a:srgbClr val="102545"/>
                </a:solidFill>
              </a:rPr>
              <a:t>Nazief-Adriani</a:t>
            </a:r>
            <a:r>
              <a:rPr sz="2200">
                <a:solidFill>
                  <a:srgbClr val="1A1F2B"/>
                </a:solidFill>
              </a:rPr>
              <a:t> - berbasis aturan imbuhan + kamus kata dasar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Akibatnya di modul ini: </a:t>
            </a:r>
            <a:r>
              <a:rPr sz="2200" b="1">
                <a:solidFill>
                  <a:srgbClr val="102545"/>
                </a:solidFill>
              </a:rPr>
              <a:t>BI pakai stemming, EN pakai lemmatization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Ini bukan sekadar keterbatasan teknis - ini </a:t>
            </a:r>
            <a:r>
              <a:rPr sz="2200" b="1">
                <a:solidFill>
                  <a:srgbClr val="102545"/>
                </a:solidFill>
              </a:rPr>
              <a:t>fakta lapangan tentang bahasa berkekurangan sumber daya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bahasa dengan morfologi kaya + sumber daya terbatas = alat NLP-nya tertinggal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itu juga alasan hasil riset NLP Bahasa Indonesia masih terbuka lebar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Kenapa P3 tidak memakai spaCy (padahal P2 memakainya)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Judul modulnya eksplisit: </a:t>
            </a:r>
            <a:r>
              <a:rPr sz="2200" b="1">
                <a:solidFill>
                  <a:srgbClr val="102545"/>
                </a:solidFill>
              </a:rPr>
              <a:t>"Tanpa spaCy"</a:t>
            </a:r>
            <a:r>
              <a:rPr sz="2200">
                <a:solidFill>
                  <a:srgbClr val="1A1F2B"/>
                </a:solidFill>
              </a:rPr>
              <a:t> - dan itu keputusan yang disengaja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spaCy memang punya lemmatizer, tapi kualitasnya untuk Bahasa Indonesia </a:t>
            </a:r>
            <a:r>
              <a:rPr sz="2200" b="1">
                <a:solidFill>
                  <a:srgbClr val="102545"/>
                </a:solidFill>
              </a:rPr>
              <a:t>tidak setara</a:t>
            </a:r>
            <a:r>
              <a:rPr sz="2200">
                <a:solidFill>
                  <a:srgbClr val="1A1F2B"/>
                </a:solidFill>
              </a:rPr>
              <a:t> dengan Sastrawi yang dirancang khusus untuk morfologi BI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Untuk Inggris, </a:t>
            </a:r>
            <a:r>
              <a:rPr sz="2200" b="1">
                <a:solidFill>
                  <a:srgbClr val="102545"/>
                </a:solidFill>
              </a:rPr>
              <a:t>NLTK WordNet</a:t>
            </a:r>
            <a:r>
              <a:rPr sz="2200">
                <a:solidFill>
                  <a:srgbClr val="1A1F2B"/>
                </a:solidFill>
              </a:rPr>
              <a:t> memberi kendali yang lebih eksplisit: Anda melihat POS-nya, Anda yang memetakan - bukan tersembunyi di dalam pipeline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Pelajaran alat:</a:t>
            </a:r>
            <a:r>
              <a:rPr sz="2200">
                <a:solidFill>
                  <a:srgbClr val="1A1F2B"/>
                </a:solidFill>
              </a:rPr>
              <a:t> pilih pustaka menurut bahasa dan menurut seberapa banyak kendali yang Anda butuhkan - bukan menurut mana yang paling populer.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Yang hilang saat normalisasi - dan kapan itu berbahaya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Persis pola yang sama dengan stopwords di Pertemuan 2. Yang berubah cuma jenis informasi yang dikorbankan.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berlari-lari -&gt; lari</a:t>
            </a:r>
            <a:r>
              <a:rPr sz="2200">
                <a:solidFill>
                  <a:srgbClr val="1A1F2B"/>
                </a:solidFill>
              </a:rPr>
              <a:t>: reduplikasi hilang, padahal ia membawa makna </a:t>
            </a:r>
            <a:r>
              <a:rPr sz="2200" i="1">
                <a:solidFill>
                  <a:srgbClr val="1A1F2B"/>
                </a:solidFill>
              </a:rPr>
              <a:t>berulang/terus-menerus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membacakan -&gt; baca</a:t>
            </a:r>
            <a:r>
              <a:rPr sz="2200">
                <a:solidFill>
                  <a:srgbClr val="1A1F2B"/>
                </a:solidFill>
              </a:rPr>
              <a:t>: sufiks -kan hilang, padahal ia menandai </a:t>
            </a:r>
            <a:r>
              <a:rPr sz="2200" i="1">
                <a:solidFill>
                  <a:srgbClr val="1A1F2B"/>
                </a:solidFill>
              </a:rPr>
              <a:t>untuk orang lain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terpukul -&gt; pukul</a:t>
            </a:r>
            <a:r>
              <a:rPr sz="2200">
                <a:solidFill>
                  <a:srgbClr val="1A1F2B"/>
                </a:solidFill>
              </a:rPr>
              <a:t>: prefiks ter- hilang, padahal ia menandai </a:t>
            </a:r>
            <a:r>
              <a:rPr sz="2200" i="1">
                <a:solidFill>
                  <a:srgbClr val="1A1F2B"/>
                </a:solidFill>
              </a:rPr>
              <a:t>tidak sengaja / pasif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Aturan praktis yang bisa Anda pegang: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tugas soal </a:t>
            </a:r>
            <a:r>
              <a:rPr sz="1900" b="1">
                <a:solidFill>
                  <a:srgbClr val="102545"/>
                </a:solidFill>
              </a:rPr>
              <a:t>TOPIK</a:t>
            </a:r>
            <a:r>
              <a:rPr sz="1900">
                <a:solidFill>
                  <a:srgbClr val="5A6372"/>
                </a:solidFill>
              </a:rPr>
              <a:t> (klasifikasi, pencarian, klaster) -&gt; normalisasi biasanya menolong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tugas soal </a:t>
            </a:r>
            <a:r>
              <a:rPr sz="1900" b="1">
                <a:solidFill>
                  <a:srgbClr val="102545"/>
                </a:solidFill>
              </a:rPr>
              <a:t>MAKNA HALUS atau GAYA</a:t>
            </a:r>
            <a:r>
              <a:rPr sz="1900">
                <a:solidFill>
                  <a:srgbClr val="5A6372"/>
                </a:solidFill>
              </a:rPr>
              <a:t> (sentimen bernuansa, atribusi penulis, generasi teks) -&gt; hati-hati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kalau ragu: </a:t>
            </a:r>
            <a:r>
              <a:rPr sz="1900" b="1">
                <a:solidFill>
                  <a:srgbClr val="102545"/>
                </a:solidFill>
              </a:rPr>
              <a:t>ukur</a:t>
            </a:r>
            <a:r>
              <a:rPr sz="1900">
                <a:solidFill>
                  <a:srgbClr val="5A6372"/>
                </a:solidFill>
              </a:rPr>
              <a:t>, jangan tebak - bandingkan metrik dengan dan tanpa normalisasi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Uji cepat 1 - tebak dulu, baru jalankan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2 menit. Tebakan yang salah adalah bahan diskusi terbaik di sesi ini.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Empat kata Bahasa Indonesia: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</a:t>
            </a:r>
            <a:r>
              <a:rPr sz="1900" i="1">
                <a:solidFill>
                  <a:srgbClr val="5A6372"/>
                </a:solidFill>
              </a:rPr>
              <a:t>mempermainkan · berlari-lari · keadilan · pembelajaran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Dua kata Inggris (dengan POS-nya):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</a:t>
            </a:r>
            <a:r>
              <a:rPr sz="1900" i="1">
                <a:solidFill>
                  <a:srgbClr val="5A6372"/>
                </a:solidFill>
              </a:rPr>
              <a:t>studies</a:t>
            </a:r>
            <a:r>
              <a:rPr sz="1900">
                <a:solidFill>
                  <a:srgbClr val="5A6372"/>
                </a:solidFill>
              </a:rPr>
              <a:t> (kata kerja) · </a:t>
            </a:r>
            <a:r>
              <a:rPr sz="1900" i="1">
                <a:solidFill>
                  <a:srgbClr val="5A6372"/>
                </a:solidFill>
              </a:rPr>
              <a:t>better</a:t>
            </a:r>
            <a:r>
              <a:rPr sz="1900">
                <a:solidFill>
                  <a:srgbClr val="5A6372"/>
                </a:solidFill>
              </a:rPr>
              <a:t> (kata sifat)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Tulis tebakan Anda di kertas: apa hasil stem / lemma masing-masing?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Kita jalankan sebentar lagi. Yang menarik bukan yang benar - </a:t>
            </a:r>
            <a:r>
              <a:rPr sz="2200" b="1">
                <a:solidFill>
                  <a:srgbClr val="102545"/>
                </a:solidFill>
              </a:rPr>
              <a:t>yang meleset</a:t>
            </a:r>
            <a:r>
              <a:rPr sz="2200">
                <a:solidFill>
                  <a:srgbClr val="1A1F2B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2 - PRAKTIKUM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Stemming Bahasa Indonesia</a:t>
            </a:r>
            <a:br/>
            <a:r>
              <a:t>dengan Sastrawi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Modul langkah 1-5 - jalankan sambil saya demo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Persiapan lingkungan (modul bagian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52760" cy="2212848"/>
          </a:xfrm>
          <a:prstGeom prst="rect">
            <a:avLst/>
          </a:prstGeom>
          <a:solidFill>
            <a:srgbClr val="14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10241280" cy="202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!pip install sastrawi nltk pandas matplotlib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import nltk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for pkg in ['punkt', 'stopwords', 'wordnet', 'omw-1.4',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    'averaged_perceptron_tagger']: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nltk.download(pkg)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21608"/>
            <a:ext cx="10652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Lima resource NLTK. Lupa satu saja -&gt; LookupError di tengah praktikum. Jalankan sel ini paling awal.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Sastrawi - stemming Bahasa Indonesia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52760" cy="4206240"/>
          </a:xfrm>
          <a:prstGeom prst="rect">
            <a:avLst/>
          </a:prstGeom>
          <a:solidFill>
            <a:srgbClr val="14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1024128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from Sastrawi.Stemmer.StemmerFactory import StemmerFactory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from nltk.tokenize import word_tokenize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stemmer = StemmerFactory().create_stemmer()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teks_id = "Mereka mempermainkan keadilan dan berlari-lari"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  " menghindari pembelajaran."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tokens = [t.lower() for t in word_tokenize(teks_id) if t.isalnum()]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stems  = [stemmer.stem(t) for t in tokens]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for a, b in zip(tokens, stems):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print(f'{a:20s} -&gt; {b}')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15000"/>
            <a:ext cx="10652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Normalisasi dulu (lowercase + buang token non-alfanumerik), baru stemming - urutan ini penting.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Tiga jebakan Sastrawi yang paling sering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Import-nya rewel.</a:t>
            </a:r>
            <a:r>
              <a:rPr sz="2200">
                <a:solidFill>
                  <a:srgbClr val="1A1F2B"/>
                </a:solidFill>
              </a:rPr>
              <a:t> Paket di pip bernama `sastrawi` (huruf kecil), tapi modulnya `Sastrawi` (huruf besar S). Salah kapital -&gt; ModuleNotFoundError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Stemmer dibuat sekali, bukan tiap token.</a:t>
            </a:r>
            <a:r>
              <a:rPr sz="2200">
                <a:solidFill>
                  <a:srgbClr val="1A1F2B"/>
                </a:solidFill>
              </a:rPr>
              <a:t> `StemmerFactory().create_stemmer()` di dalam loop membuat program lambat berkali-kali lipat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Kata di luar kamus dikembalikan apa adanya.</a:t>
            </a:r>
            <a:r>
              <a:rPr sz="2200">
                <a:solidFill>
                  <a:srgbClr val="1A1F2B"/>
                </a:solidFill>
              </a:rPr>
              <a:t> Nama orang, istilah asing, singkatan - tidak di-stem. Itu perilaku benar, bukan bug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Bonus: Sastrawi juga punya `StopWordRemoverFactory` - tapi hari ini kita fokus stemming saja.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3 - PRAKTIKUM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Lemmatization Inggris</a:t>
            </a:r>
            <a:br/>
            <a:r>
              <a:t>dengan NLTK WordNet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Modul langkah 6 - dan di sinilah POS menjadi wajib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WordNet tanpa POS - dan kenapa hasilnya mengecewakan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52760" cy="3383280"/>
          </a:xfrm>
          <a:prstGeom prst="rect">
            <a:avLst/>
          </a:prstGeom>
          <a:solidFill>
            <a:srgbClr val="14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from nltk.stem import WordNetLemmatizer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lem = WordNetLemmatizer()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print(lem.lemmatize('studies'))   # -&gt; 'study'   (default: noun)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print(lem.lemmatize('studying'))  # -&gt; 'studying' (TIDAK berubah!)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print(lem.lemmatize('better'))    # -&gt; 'better'   (TIDAK berubah!)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# dengan POS yang benar: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print(lem.lemmatize('studying', pos='v'))  # -&gt; 'study'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print(lem.lemmatize('better',   pos='a'))  # -&gt; 'good'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52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Default lemmatize() menganggap semua kata adalah KATA BENDA. Itu sumber kesalahan paling umum.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pos_tag + peta Treebank -&gt; WordNet (modul langkah 6)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52760" cy="4206240"/>
          </a:xfrm>
          <a:prstGeom prst="rect">
            <a:avLst/>
          </a:prstGeom>
          <a:solidFill>
            <a:srgbClr val="14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1024128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from nltk import pos_tag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from nltk.corpus import wordnet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def to_wordnet(tag):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if tag.startswith('J'): return wordnet.ADJ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if tag.startswith('V'): return wordnet.VERB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if tag.startswith('R'): return wordnet.ADV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return wordnet.NOUN          # default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teks_en = 'The students were studying better methods quietly.'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tokens  = [t.lower() for t in word_tokenize(teks_en) if t.isalnum()]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tagged  = pos_tag(tokens)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lemmas  = [lem.lemmatize(w, to_wordnet(t)) for w, t in tagged]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for (w, t), l in zip(tagged, lemmas):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print(f'{w:12s} {t:5s} -&gt; {l}')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15000"/>
            <a:ext cx="10652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pos_tag memakai label Treebank (NN, VBG, JJR, RB). WordNet hanya mengenal 4 kelas - jadi perlu dipetakan.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Mengukur dampaknya</a:t>
            </a:r>
            <a:br/>
            <a:r>
              <a:t>pada kosakata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Modul langkah 7-8 - bagian yang dinilai 35% di rubrik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Hitung ukuran kosakata: sebelum vs sesudah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52760" cy="3090672"/>
          </a:xfrm>
          <a:prstGeom prst="rect">
            <a:avLst/>
          </a:prstGeom>
          <a:solidFill>
            <a:srgbClr val="14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10241280" cy="290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def vocab(xs):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return len(set(xs))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print('BI  sebelum:', vocab(tokens_id), ' sesudah:', vocab(stems))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print('EN  sebelum:', vocab(tokens_en), ' sesudah:', vocab(lemmas))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red_id = 1 - vocab(stems)  / max(vocab(tokens_id), 1)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red_en = 1 - vocab(lemmas) / max(vocab(tokens_en), 1)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print(f'penyusutan BI: {red_id:.1%}   EN: {red_en:.1%}')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99431"/>
            <a:ext cx="10652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Inilah angka yang harus muncul di laporan Anda - bukan 'kosakata berkurang', tapi berkurang BERAPA PERSEN.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Tabel komparasi - format wajib (Produk B, 35%)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Empat kolom persis seperti di modul. Isi minimal: beberapa contoh BI dan EN yang representatif - termasuk yang hasilnya mengejutkan.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9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886"/>
                <a:gridCol w="3277772"/>
                <a:gridCol w="2458329"/>
                <a:gridCol w="3277772"/>
              </a:tblGrid>
              <a:tr h="39319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</a:defRPr>
                      </a:pPr>
                      <a:r>
                        <a:t>Language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</a:defRPr>
                      </a:pPr>
                      <a:r>
                        <a:t>Original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</a:defRPr>
                      </a:pPr>
                      <a:r>
                        <a:t>Tokens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</a:defRPr>
                      </a:pPr>
                      <a:r>
                        <a:t>After (Stem/Lemma)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berlari-lari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berlari-lari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lari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pembelajaran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pembelajaran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ajar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mempermainkan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mempermainkan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main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studying (VBG)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studying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study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EN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better (JJR)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better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A1F2B"/>
                          </a:solidFill>
                        </a:defRPr>
                      </a:pPr>
                      <a:r>
                        <a:t>good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Yang harus ada di Ringkasan Analisis (Produk C, 20%)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Rubrik: A (&gt;=85) menjawab 'kapan memilih' + dampak ke fitur DENGAN contoh. Tanpa contoh, nilainya turun ke 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Kapan memilih stemming</a:t>
            </a:r>
            <a:r>
              <a:rPr sz="2200">
                <a:solidFill>
                  <a:srgbClr val="1A1F2B"/>
                </a:solidFill>
              </a:rPr>
              <a:t>: butuh cepat, korpus besar, tugas berbasis topik, Bahasa Indonesia (karena memang itu yang tersedia)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Kapan memilih lemmatization</a:t>
            </a:r>
            <a:r>
              <a:rPr sz="2200">
                <a:solidFill>
                  <a:srgbClr val="1A1F2B"/>
                </a:solidFill>
              </a:rPr>
              <a:t>: butuh bentuk kata yang sah, analisis makna, ada POS tagger yang andal untuk bahasa itu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Satu contoh perubahan makna</a:t>
            </a:r>
            <a:r>
              <a:rPr sz="2200">
                <a:solidFill>
                  <a:srgbClr val="1A1F2B"/>
                </a:solidFill>
              </a:rPr>
              <a:t> yang Anda temukan sendiri di data Anda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Implikasi ke fitur</a:t>
            </a:r>
            <a:r>
              <a:rPr sz="2200">
                <a:solidFill>
                  <a:srgbClr val="1A1F2B"/>
                </a:solidFill>
              </a:rPr>
              <a:t>: berapa persen kosakata menyusut, dan apa artinya untuk jumlah kolom BoW/TF-IDF di Pertemuan 4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Satu halaman saja. Yang dinilai kedalaman argumennya, bukan panjangnya.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PENUGASAN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Tiga produk,</a:t>
            </a:r>
            <a:br/>
            <a:r>
              <a:t>satu berkas kumpulan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Sesuai bagian 6 modul mandiri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Penugasan mandiri P3 - wajib dikumpulkan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Penamaan berkas di eBelajar: P3-NLP-NIM-Nama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8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801"/>
                <a:gridCol w="6461510"/>
                <a:gridCol w="1222447"/>
              </a:tblGrid>
              <a:tr h="40690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Produk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Isi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Bobot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A - Notebook (.ipynb)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Kode lengkap BI &amp; EN + tabel komparasi + sel markdown analisis 1-2 paragraf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45%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B - Tabel komparasi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Kolom: Language | Original | Tokens | After (Stem/Lemma)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C - Ringkasan 1 halaman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A1F2B"/>
                          </a:solidFill>
                        </a:defRPr>
                      </a:pPr>
                      <a:r>
                        <a:t>PDF/DOCX: kapan stemming vs lemmatization, contoh perubahan makna, implikasi fitur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Reproducibility &amp; etika - dua syarat yang mudah dilupakan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Cantumkan versi paket</a:t>
            </a:r>
            <a:r>
              <a:rPr sz="2200">
                <a:solidFill>
                  <a:srgbClr val="1A1F2B"/>
                </a:solidFill>
              </a:rPr>
              <a:t> (`pip freeze` secukupnya, atau `requirements.txt`)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Dokumentasikan keputusan pra-proses</a:t>
            </a:r>
            <a:r>
              <a:rPr sz="2200">
                <a:solidFill>
                  <a:srgbClr val="1A1F2B"/>
                </a:solidFill>
              </a:rPr>
              <a:t>: stopwords apa yang dipakai, normalisasi apa, tokenisasi apa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Jaga struktur folder: `data/` · `notebooks/` · `reports/`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Etika data</a:t>
            </a:r>
            <a:r>
              <a:rPr sz="2200">
                <a:solidFill>
                  <a:srgbClr val="1A1F2B"/>
                </a:solidFill>
              </a:rPr>
              <a:t>: pakai data legal dan non-sensitif; anonimkan bila perlu; </a:t>
            </a:r>
            <a:r>
              <a:rPr sz="2200" b="1">
                <a:solidFill>
                  <a:srgbClr val="102545"/>
                </a:solidFill>
              </a:rPr>
              <a:t>sertakan atribusi sumber data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Kalau memakai AI untuk membantu: tulis di notebook bagian mana yang dibantu - itu bukan pengurang nilai, yang mengurangi nilai adalah menyembunyikannya.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Exit-ticket Pertemuan 3 - isi sebelum keluar ruangan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Forum exit-ticket P3 di eBelajar - dinilai skala 0-100 dan langsung masuk gradebook, seperti P2.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1.</a:t>
            </a:r>
            <a:r>
              <a:rPr sz="2200">
                <a:solidFill>
                  <a:srgbClr val="1A1F2B"/>
                </a:solidFill>
              </a:rPr>
              <a:t> Satu kata Bahasa Indonesia yang hasil stemming-nya menurut Anda </a:t>
            </a:r>
            <a:r>
              <a:rPr sz="2200" b="1">
                <a:solidFill>
                  <a:srgbClr val="102545"/>
                </a:solidFill>
              </a:rPr>
              <a:t>merusak makna</a:t>
            </a:r>
            <a:r>
              <a:rPr sz="2200">
                <a:solidFill>
                  <a:srgbClr val="1A1F2B"/>
                </a:solidFill>
              </a:rPr>
              <a:t> - tulis kata, hasil stem-nya, dan makna apa yang hilang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2.</a:t>
            </a:r>
            <a:r>
              <a:rPr sz="2200">
                <a:solidFill>
                  <a:srgbClr val="1A1F2B"/>
                </a:solidFill>
              </a:rPr>
              <a:t> Kenapa `lemmatize('better')` mengembalikan `'better'`, dan apa yang harus ditambahkan supaya menjadi `'good'`?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3.</a:t>
            </a:r>
            <a:r>
              <a:rPr sz="2200">
                <a:solidFill>
                  <a:srgbClr val="1A1F2B"/>
                </a:solidFill>
              </a:rPr>
              <a:t> Berapa persen kosakata menyusut di teks percobaan Anda (BI dan EN), dan menurut Anda apakah penyusutan itu menolong atau merugikan tugas yang Anda bayangkan?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Pratinjau Pertemuan 4 - Representasi Teks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Catatan modul: siapkan 1-2 slide rekap hasil kelas (kasus paling menarik + jebakan umum) untuk dibahas di P4.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Semua yang kita kerjakan sejak P2 bermuara ke sini: </a:t>
            </a:r>
            <a:r>
              <a:rPr sz="2200" b="1">
                <a:solidFill>
                  <a:srgbClr val="102545"/>
                </a:solidFill>
              </a:rPr>
              <a:t>teks jadi angka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P2 tokenisasi &amp; stopwords -&gt; menentukan </a:t>
            </a:r>
            <a:r>
              <a:rPr sz="1900" b="1">
                <a:solidFill>
                  <a:srgbClr val="102545"/>
                </a:solidFill>
              </a:rPr>
              <a:t>apa yang dihitung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P3 stemming &amp; lemmatization -&gt; menentukan </a:t>
            </a:r>
            <a:r>
              <a:rPr sz="1900" b="1">
                <a:solidFill>
                  <a:srgbClr val="102545"/>
                </a:solidFill>
              </a:rPr>
              <a:t>berapa banyak kolom</a:t>
            </a:r>
            <a:r>
              <a:rPr sz="1900">
                <a:solidFill>
                  <a:srgbClr val="5A6372"/>
                </a:solidFill>
              </a:rPr>
              <a:t> yang muncul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P4 </a:t>
            </a:r>
            <a:r>
              <a:rPr sz="1900" b="1">
                <a:solidFill>
                  <a:srgbClr val="102545"/>
                </a:solidFill>
              </a:rPr>
              <a:t>BoW &amp; TF-IDF</a:t>
            </a:r>
            <a:r>
              <a:rPr sz="1900">
                <a:solidFill>
                  <a:srgbClr val="5A6372"/>
                </a:solidFill>
              </a:rPr>
              <a:t> -&gt; akhirnya matriks fitur yang bisa masuk model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Angka penyusutan kosakata yang Anda hitung hari ini </a:t>
            </a:r>
            <a:r>
              <a:rPr sz="2200" b="1">
                <a:solidFill>
                  <a:srgbClr val="102545"/>
                </a:solidFill>
              </a:rPr>
              <a:t>adalah</a:t>
            </a:r>
            <a:r>
              <a:rPr sz="2200">
                <a:solidFill>
                  <a:srgbClr val="1A1F2B"/>
                </a:solidFill>
              </a:rPr>
              <a:t> jumlah kolom yang Anda hemat di P4. Bawa angka itu minggu depan.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Tautan cepat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eBelajar menautkan, Drive menyimpan. Kalau ada tautan yang mati, lapor di forum Diskusi Umum.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7899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2"/>
              </a:rPr>
              <a:t>Folder Drive Pertemuan 3 (modul, LKS, video)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3"/>
              </a:rPr>
              <a:t>Modul Mandiri P3 - Stemming &amp; Lemmatization (tanpa spaCy)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4"/>
              </a:rPr>
              <a:t>LKS Colab - NLP_Pertemuan_3_Stemming_Lemmatization.ipynb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5"/>
              </a:rPr>
              <a:t>Video - Membedah Stemming vs Lemmatization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6"/>
              </a:rPr>
              <a:t>Forum exit-ticket P3 (eBelajar)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7"/>
              </a:rPr>
              <a:t>Tugas 1 - tenggat Minggu 27 Sep 23.55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