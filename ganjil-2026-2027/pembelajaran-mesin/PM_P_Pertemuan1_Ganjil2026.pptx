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gating sekuensial: mahasiswa sering panik mengira kelasnya kosong padahal Pertemuan 2+ memang belum terbuka sampai materi P1 dibuka.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titik gagal utama kelas self-paced. Sarankan ritme di slide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Perhatikan: 50% nilai datang dari kerja mingguan, hanya 30% dari UTS+UAS. Sampaikan ini sejak awal — mengubah perilaku mahasiswa.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ini sebagai prinsip, bukan larangan. Mahasiswa akan memakai AI apa pun yang Anda katakan — yang bisa Anda pengaruhi adalah CARA mereka memakainya.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OPSIONAL — cerita nyata yang kuat kalau Anda bersedia membagikannya: sebuah naskah jurnal internasional ditolak editor bukan karena datanya salah, tapi karena deskripsi karya orang lain di bagian related work tidak sesuai sumbernya, dan editor menyebut penyebabnya pemakaian AI untuk pencarian literatur. Datanya sehat — yang rusak kalimat yang terdengar benar.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Tanyakan dulu ke mahasiswa berapa persen waktu proyek ML habis untuk memilih algoritma, biarkan menebak, baru tampilkan angkanya.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Pancing: bagaimana Anda menulis aturan eksplisit untuk membedakan foto kucing dan anjing? Sulit — itulah kenapa ML 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Pertanyaan pancingan: kalau kolom 'Cabin' 77% kosong, itu data hilang atau justru informasi? (Penumpang kelas bawah memang tidak punya kabin.) Missing bisa bermakna.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Konsep paling penting hari ini. Ulangi minimal dua kali. Aturan: SPLIT DULU, baru fit preprocessing — hanya pada train.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belajar.stiki.ac.id/course/view.php?id=7365" TargetMode="External"/><Relationship Id="rId3" Type="http://schemas.openxmlformats.org/officeDocument/2006/relationships/hyperlink" Target="https://ebelajar.stiki.ac.id/mod/page/view.php?id=495867" TargetMode="External"/><Relationship Id="rId4" Type="http://schemas.openxmlformats.org/officeDocument/2006/relationships/hyperlink" Target="https://ebelajar.stiki.ac.id/mod/page/view.php?id=491728" TargetMode="External"/><Relationship Id="rId5" Type="http://schemas.openxmlformats.org/officeDocument/2006/relationships/hyperlink" Target="https://ebelajar.stiki.ac.id/mod/page/view.php?id=496338" TargetMode="External"/><Relationship Id="rId6" Type="http://schemas.openxmlformats.org/officeDocument/2006/relationships/hyperlink" Target="https://ebelajar.stiki.ac.id/mod/forum/view.php?id=491729" TargetMode="External"/><Relationship Id="rId7" Type="http://schemas.openxmlformats.org/officeDocument/2006/relationships/hyperlink" Target="https://ebelajar.stiki.ac.id/mod/assign/view.php?id=491732" TargetMode="External"/><Relationship Id="rId8" Type="http://schemas.openxmlformats.org/officeDocument/2006/relationships/hyperlink" Target="https://ebelajar.stiki.ac.id/mod/choice/view.php?id=491725" TargetMode="External"/><Relationship Id="rId9" Type="http://schemas.openxmlformats.org/officeDocument/2006/relationships/hyperlink" Target="https://ebelajar.stiki.ac.id/mod/forum/view.php?id=49172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ORIENTASI &amp; PERTEMUAN 1  ·  GANJIL 2026/2027</a:t>
            </a:r>
          </a:p>
        </p:txBody>
      </p:sp>
      <p:sp>
        <p:nvSpPr>
          <p:cNvPr id="5" name="TextBox 4"/>
          <p:cNvSpPr txBox="1"/>
          <p:nvPr/>
        </p:nvSpPr>
        <p:spPr>
          <a:xfrm>
            <a:off x="1005840" y="2286000"/>
            <a:ext cx="10241280" cy="1280160"/>
          </a:xfrm>
          <a:prstGeom prst="rect">
            <a:avLst/>
          </a:prstGeom>
          <a:noFill/>
        </p:spPr>
        <p:txBody>
          <a:bodyPr wrap="square">
            <a:spAutoFit/>
          </a:bodyPr>
          <a:lstStyle/>
          <a:p>
            <a:pPr>
              <a:defRPr sz="5000" b="1">
                <a:solidFill>
                  <a:srgbClr val="FFFFFF"/>
                </a:solidFill>
              </a:defRPr>
            </a:pPr>
            <a:r>
              <a:t>Pembelajaran Mesin</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b="0">
                <a:solidFill>
                  <a:srgbClr val="C8D4E6"/>
                </a:solidFill>
              </a:defRPr>
            </a:pPr>
            <a:r>
              <a:t>Kelas P — daring mandiri (self-paced)</a:t>
            </a:r>
          </a:p>
        </p:txBody>
      </p:sp>
      <p:sp>
        <p:nvSpPr>
          <p:cNvPr id="7" name="TextBox 6"/>
          <p:cNvSpPr txBox="1"/>
          <p:nvPr/>
        </p:nvSpPr>
        <p:spPr>
          <a:xfrm>
            <a:off x="1005840" y="5760720"/>
            <a:ext cx="10241280" cy="914400"/>
          </a:xfrm>
          <a:prstGeom prst="rect">
            <a:avLst/>
          </a:prstGeom>
          <a:noFill/>
        </p:spPr>
        <p:txBody>
          <a:bodyPr wrap="square">
            <a:spAutoFit/>
          </a:bodyPr>
          <a:lstStyle/>
          <a:p>
            <a:pPr>
              <a:defRPr sz="1600" b="0">
                <a:solidFill>
                  <a:srgbClr val="8FA3BF"/>
                </a:solidFill>
              </a:defRPr>
            </a:pPr>
            <a:r>
              <a:t>IF24KB53  ·  3 SKS  ·  Mukhlis Amien, M.Kom.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Baca ini lebih dulu</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Deck ini menggantikan pertemuan tatap muka pertama. Isinya dua hal:</a:t>
            </a:r>
          </a:p>
          <a:p>
            <a:pPr lvl="1">
              <a:spcBef>
                <a:spcPts val="300"/>
              </a:spcBef>
            </a:pPr>
            <a:r>
              <a:rPr sz="1800">
                <a:solidFill>
                  <a:srgbClr val="5A6372"/>
                </a:solidFill>
              </a:rPr>
              <a:t>–  </a:t>
            </a:r>
            <a:r>
              <a:rPr sz="1800" b="1">
                <a:solidFill>
                  <a:srgbClr val="102545"/>
                </a:solidFill>
              </a:rPr>
              <a:t>Kontrak kuliah</a:t>
            </a:r>
            <a:r>
              <a:rPr sz="1800">
                <a:solidFill>
                  <a:srgbClr val="5A6372"/>
                </a:solidFill>
              </a:rPr>
              <a:t> — aturan main satu semester</a:t>
            </a:r>
          </a:p>
          <a:p>
            <a:pPr lvl="1">
              <a:spcBef>
                <a:spcPts val="300"/>
              </a:spcBef>
            </a:pPr>
            <a:r>
              <a:rPr sz="1800">
                <a:solidFill>
                  <a:srgbClr val="5A6372"/>
                </a:solidFill>
              </a:rPr>
              <a:t>–  </a:t>
            </a:r>
            <a:r>
              <a:rPr sz="1800" b="1">
                <a:solidFill>
                  <a:srgbClr val="102545"/>
                </a:solidFill>
              </a:rPr>
              <a:t>Materi Pertemuan 1</a:t>
            </a:r>
            <a:r>
              <a:rPr sz="1800">
                <a:solidFill>
                  <a:srgbClr val="5A6372"/>
                </a:solidFill>
              </a:rPr>
              <a:t> — pengantar ML + preprocessing sebagai pondasi</a:t>
            </a:r>
          </a:p>
          <a:p>
            <a:pPr>
              <a:spcBef>
                <a:spcPts val="1100"/>
              </a:spcBef>
            </a:pPr>
            <a:r>
              <a:rPr sz="2100">
                <a:solidFill>
                  <a:srgbClr val="1A1F2B"/>
                </a:solidFill>
              </a:rPr>
              <a:t>•  Versi lengkap kontrak ada sebagai halaman </a:t>
            </a:r>
            <a:r>
              <a:rPr sz="2100" b="1">
                <a:solidFill>
                  <a:srgbClr val="102545"/>
                </a:solidFill>
              </a:rPr>
              <a:t>Kontrak Kuliah</a:t>
            </a:r>
            <a:r>
              <a:rPr sz="2100">
                <a:solidFill>
                  <a:srgbClr val="1A1F2B"/>
                </a:solidFill>
              </a:rPr>
              <a:t> di bagian General eBelajar</a:t>
            </a:r>
          </a:p>
          <a:p>
            <a:pPr>
              <a:spcBef>
                <a:spcPts val="1100"/>
              </a:spcBef>
            </a:pPr>
          </a:p>
          <a:p>
            <a:pPr>
              <a:spcBef>
                <a:spcPts val="1100"/>
              </a:spcBef>
            </a:pPr>
            <a:r>
              <a:rPr sz="2100">
                <a:solidFill>
                  <a:srgbClr val="1A1F2B"/>
                </a:solidFill>
              </a:rPr>
              <a:t>•  Sisihkan </a:t>
            </a:r>
            <a:r>
              <a:rPr sz="2100" b="1">
                <a:solidFill>
                  <a:srgbClr val="102545"/>
                </a:solidFill>
              </a:rPr>
              <a:t>±45 menit</a:t>
            </a:r>
            <a:r>
              <a:rPr sz="2100">
                <a:solidFill>
                  <a:srgbClr val="1A1F2B"/>
                </a:solidFill>
              </a:rPr>
              <a:t> untuk deck ini, lalu lanjut ke </a:t>
            </a:r>
            <a:r>
              <a:rPr sz="2100" b="1">
                <a:solidFill>
                  <a:srgbClr val="102545"/>
                </a:solidFill>
              </a:rPr>
              <a:t>Modul Mandiri Pertemuan 1</a:t>
            </a:r>
            <a:r>
              <a:rPr sz="2100">
                <a:solidFill>
                  <a:srgbClr val="1A1F2B"/>
                </a:solidFil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1</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Kontrak Kuliah</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Aturan main satu semester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Identitas mata kuliah</a:t>
            </a:r>
          </a:p>
        </p:txBody>
      </p:sp>
      <p:graphicFrame>
        <p:nvGraphicFramePr>
          <p:cNvPr id="5" name="Table 4"/>
          <p:cNvGraphicFramePr>
            <a:graphicFrameLocks noGrp="1"/>
          </p:cNvGraphicFramePr>
          <p:nvPr/>
        </p:nvGraphicFramePr>
        <p:xfrm>
          <a:off x="777240" y="1371600"/>
          <a:ext cx="10652760" cy="3090672"/>
        </p:xfrm>
        <a:graphic>
          <a:graphicData uri="http://schemas.openxmlformats.org/drawingml/2006/table">
            <a:tbl>
              <a:tblPr firstRow="1" bandRow="1">
                <a:tableStyleId>{5C22544A-7EE6-4342-B048-85BDC9FD1C3A}</a:tableStyleId>
              </a:tblPr>
              <a:tblGrid>
                <a:gridCol w="2663190"/>
                <a:gridCol w="7989570"/>
              </a:tblGrid>
              <a:tr h="386334">
                <a:tc>
                  <a:txBody>
                    <a:bodyPr/>
                    <a:lstStyle/>
                    <a:p>
                      <a:pPr>
                        <a:defRPr sz="1800" b="1">
                          <a:solidFill>
                            <a:srgbClr val="FFFFFF"/>
                          </a:solidFill>
                        </a:defRPr>
                      </a:pPr>
                    </a:p>
                  </a:txBody>
                  <a:tcPr anchor="ctr">
                    <a:solidFill>
                      <a:srgbClr val="102545"/>
                    </a:solidFill>
                  </a:tcPr>
                </a:tc>
                <a:tc>
                  <a:txBody>
                    <a:bodyPr/>
                    <a:lstStyle/>
                    <a:p>
                      <a:pPr>
                        <a:defRPr sz="1800" b="1">
                          <a:solidFill>
                            <a:srgbClr val="FFFFFF"/>
                          </a:solidFill>
                        </a:defRPr>
                      </a:pPr>
                    </a:p>
                  </a:txBody>
                  <a:tcPr anchor="ctr">
                    <a:solidFill>
                      <a:srgbClr val="102545"/>
                    </a:solidFill>
                  </a:tcPr>
                </a:tc>
              </a:tr>
              <a:tr h="386334">
                <a:tc>
                  <a:txBody>
                    <a:bodyPr/>
                    <a:lstStyle/>
                    <a:p>
                      <a:pPr>
                        <a:defRPr sz="1800" b="1">
                          <a:solidFill>
                            <a:srgbClr val="102545"/>
                          </a:solidFill>
                        </a:defRPr>
                      </a:pPr>
                      <a:r>
                        <a:t>Mata Kuliah</a:t>
                      </a:r>
                    </a:p>
                  </a:txBody>
                  <a:tcPr anchor="ctr">
                    <a:solidFill>
                      <a:srgbClr val="F5F7FA"/>
                    </a:solidFill>
                  </a:tcPr>
                </a:tc>
                <a:tc>
                  <a:txBody>
                    <a:bodyPr/>
                    <a:lstStyle/>
                    <a:p>
                      <a:pPr>
                        <a:defRPr sz="1800" b="0">
                          <a:solidFill>
                            <a:srgbClr val="1A1F2B"/>
                          </a:solidFill>
                        </a:defRPr>
                      </a:pPr>
                      <a:r>
                        <a:t>Pembelajaran Mesin  (IF24KB53)</a:t>
                      </a:r>
                    </a:p>
                  </a:txBody>
                  <a:tcPr anchor="ctr">
                    <a:solidFill>
                      <a:srgbClr val="F5F7FA"/>
                    </a:solidFill>
                  </a:tcPr>
                </a:tc>
              </a:tr>
              <a:tr h="386334">
                <a:tc>
                  <a:txBody>
                    <a:bodyPr/>
                    <a:lstStyle/>
                    <a:p>
                      <a:pPr>
                        <a:defRPr sz="1800" b="1">
                          <a:solidFill>
                            <a:srgbClr val="102545"/>
                          </a:solidFill>
                        </a:defRPr>
                      </a:pPr>
                      <a:r>
                        <a:t>Bobot</a:t>
                      </a:r>
                    </a:p>
                  </a:txBody>
                  <a:tcPr anchor="ctr">
                    <a:solidFill>
                      <a:srgbClr val="FFFFFF"/>
                    </a:solidFill>
                  </a:tcPr>
                </a:tc>
                <a:tc>
                  <a:txBody>
                    <a:bodyPr/>
                    <a:lstStyle/>
                    <a:p>
                      <a:pPr>
                        <a:defRPr sz="1800" b="0">
                          <a:solidFill>
                            <a:srgbClr val="1A1F2B"/>
                          </a:solidFill>
                        </a:defRPr>
                      </a:pPr>
                      <a:r>
                        <a:t>3 SKS  ·  Semester 5  ·  Prodi Informatika</a:t>
                      </a:r>
                    </a:p>
                  </a:txBody>
                  <a:tcPr anchor="ctr">
                    <a:solidFill>
                      <a:srgbClr val="FFFFFF"/>
                    </a:solidFill>
                  </a:tcPr>
                </a:tc>
              </a:tr>
              <a:tr h="386334">
                <a:tc>
                  <a:txBody>
                    <a:bodyPr/>
                    <a:lstStyle/>
                    <a:p>
                      <a:pPr>
                        <a:defRPr sz="1800" b="1">
                          <a:solidFill>
                            <a:srgbClr val="102545"/>
                          </a:solidFill>
                        </a:defRPr>
                      </a:pPr>
                      <a:r>
                        <a:t>Prasyarat</a:t>
                      </a:r>
                    </a:p>
                  </a:txBody>
                  <a:tcPr anchor="ctr">
                    <a:solidFill>
                      <a:srgbClr val="F5F7FA"/>
                    </a:solidFill>
                  </a:tcPr>
                </a:tc>
                <a:tc>
                  <a:txBody>
                    <a:bodyPr/>
                    <a:lstStyle/>
                    <a:p>
                      <a:pPr>
                        <a:defRPr sz="1800" b="0">
                          <a:solidFill>
                            <a:srgbClr val="1A1F2B"/>
                          </a:solidFill>
                        </a:defRPr>
                      </a:pPr>
                      <a:r>
                        <a:t>Kecerdasan Buatan</a:t>
                      </a:r>
                    </a:p>
                  </a:txBody>
                  <a:tcPr anchor="ctr">
                    <a:solidFill>
                      <a:srgbClr val="F5F7FA"/>
                    </a:solidFill>
                  </a:tcPr>
                </a:tc>
              </a:tr>
              <a:tr h="386334">
                <a:tc>
                  <a:txBody>
                    <a:bodyPr/>
                    <a:lstStyle/>
                    <a:p>
                      <a:pPr>
                        <a:defRPr sz="1800" b="1">
                          <a:solidFill>
                            <a:srgbClr val="102545"/>
                          </a:solidFill>
                        </a:defRPr>
                      </a:pPr>
                      <a:r>
                        <a:t>Kelas</a:t>
                      </a:r>
                    </a:p>
                  </a:txBody>
                  <a:tcPr anchor="ctr">
                    <a:solidFill>
                      <a:srgbClr val="FFFFFF"/>
                    </a:solidFill>
                  </a:tcPr>
                </a:tc>
                <a:tc>
                  <a:txBody>
                    <a:bodyPr/>
                    <a:lstStyle/>
                    <a:p>
                      <a:pPr>
                        <a:defRPr sz="1800" b="0">
                          <a:solidFill>
                            <a:srgbClr val="1A1F2B"/>
                          </a:solidFill>
                        </a:defRPr>
                      </a:pPr>
                      <a:r>
                        <a:t>P (Profesional) — **daring mandiri, asinkron penuh**</a:t>
                      </a:r>
                    </a:p>
                  </a:txBody>
                  <a:tcPr anchor="ctr">
                    <a:solidFill>
                      <a:srgbClr val="FFFFFF"/>
                    </a:solidFill>
                  </a:tcPr>
                </a:tc>
              </a:tr>
              <a:tr h="386334">
                <a:tc>
                  <a:txBody>
                    <a:bodyPr/>
                    <a:lstStyle/>
                    <a:p>
                      <a:pPr>
                        <a:defRPr sz="1800" b="1">
                          <a:solidFill>
                            <a:srgbClr val="102545"/>
                          </a:solidFill>
                        </a:defRPr>
                      </a:pPr>
                      <a:r>
                        <a:t>Periode</a:t>
                      </a:r>
                    </a:p>
                  </a:txBody>
                  <a:tcPr anchor="ctr">
                    <a:solidFill>
                      <a:srgbClr val="F5F7FA"/>
                    </a:solidFill>
                  </a:tcPr>
                </a:tc>
                <a:tc>
                  <a:txBody>
                    <a:bodyPr/>
                    <a:lstStyle/>
                    <a:p>
                      <a:pPr>
                        <a:defRPr sz="1800" b="0">
                          <a:solidFill>
                            <a:srgbClr val="1A1F2B"/>
                          </a:solidFill>
                        </a:defRPr>
                      </a:pPr>
                      <a:r>
                        <a:t>7 September 2026 – 28 Februari 2027</a:t>
                      </a:r>
                    </a:p>
                  </a:txBody>
                  <a:tcPr anchor="ctr">
                    <a:solidFill>
                      <a:srgbClr val="F5F7FA"/>
                    </a:solidFill>
                  </a:tcPr>
                </a:tc>
              </a:tr>
              <a:tr h="386334">
                <a:tc>
                  <a:txBody>
                    <a:bodyPr/>
                    <a:lstStyle/>
                    <a:p>
                      <a:pPr>
                        <a:defRPr sz="1800" b="1">
                          <a:solidFill>
                            <a:srgbClr val="102545"/>
                          </a:solidFill>
                        </a:defRPr>
                      </a:pPr>
                      <a:r>
                        <a:t>Tenggat akhir</a:t>
                      </a:r>
                    </a:p>
                  </a:txBody>
                  <a:tcPr anchor="ctr">
                    <a:solidFill>
                      <a:srgbClr val="FFFFFF"/>
                    </a:solidFill>
                  </a:tcPr>
                </a:tc>
                <a:tc>
                  <a:txBody>
                    <a:bodyPr/>
                    <a:lstStyle/>
                    <a:p>
                      <a:pPr>
                        <a:defRPr sz="1800" b="0">
                          <a:solidFill>
                            <a:srgbClr val="1A1F2B"/>
                          </a:solidFill>
                        </a:defRPr>
                      </a:pPr>
                      <a:r>
                        <a:t>24 Januari 2027, 23.55</a:t>
                      </a:r>
                    </a:p>
                  </a:txBody>
                  <a:tcPr anchor="ctr">
                    <a:solidFill>
                      <a:srgbClr val="FFFFFF"/>
                    </a:solidFill>
                  </a:tcPr>
                </a:tc>
              </a:tr>
              <a:tr h="386334">
                <a:tc>
                  <a:txBody>
                    <a:bodyPr/>
                    <a:lstStyle/>
                    <a:p>
                      <a:pPr>
                        <a:defRPr sz="1800" b="1">
                          <a:solidFill>
                            <a:srgbClr val="102545"/>
                          </a:solidFill>
                        </a:defRPr>
                      </a:pPr>
                      <a:r>
                        <a:t>Dosen</a:t>
                      </a:r>
                    </a:p>
                  </a:txBody>
                  <a:tcPr anchor="ctr">
                    <a:solidFill>
                      <a:srgbClr val="F5F7FA"/>
                    </a:solidFill>
                  </a:tcPr>
                </a:tc>
                <a:tc>
                  <a:txBody>
                    <a:bodyPr/>
                    <a:lstStyle/>
                    <a:p>
                      <a:pPr>
                        <a:defRPr sz="1800" b="0">
                          <a:solidFill>
                            <a:srgbClr val="1A1F2B"/>
                          </a:solidFill>
                        </a:defRPr>
                      </a:pPr>
                      <a:r>
                        <a:t>Mukhlis Amien, M.Kom.</a:t>
                      </a:r>
                    </a:p>
                  </a:txBody>
                  <a:tcPr anchor="ctr">
                    <a:solidFill>
                      <a:srgbClr val="F5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yang Anda bisa di akhir semester</a:t>
            </a:r>
          </a:p>
        </p:txBody>
      </p:sp>
      <p:sp>
        <p:nvSpPr>
          <p:cNvPr id="5" name="TextBox 4"/>
          <p:cNvSpPr txBox="1"/>
          <p:nvPr/>
        </p:nvSpPr>
        <p:spPr>
          <a:xfrm>
            <a:off x="777240" y="1234440"/>
            <a:ext cx="10789920" cy="548640"/>
          </a:xfrm>
          <a:prstGeom prst="rect">
            <a:avLst/>
          </a:prstGeom>
          <a:noFill/>
        </p:spPr>
        <p:txBody>
          <a:bodyPr wrap="square">
            <a:spAutoFit/>
          </a:bodyPr>
          <a:lstStyle/>
          <a:p>
            <a:pPr>
              <a:defRPr sz="1900" i="1">
                <a:solidFill>
                  <a:srgbClr val="5A6372"/>
                </a:solidFill>
              </a:defRPr>
            </a:pPr>
            <a:r>
              <a:t>CPMK082 · CPMK113  →  mendukung CPL08 &amp; CPL11</a:t>
            </a:r>
          </a:p>
        </p:txBody>
      </p:sp>
      <p:sp>
        <p:nvSpPr>
          <p:cNvPr id="6" name="TextBox 5"/>
          <p:cNvSpPr txBox="1"/>
          <p:nvPr/>
        </p:nvSpPr>
        <p:spPr>
          <a:xfrm>
            <a:off x="777240" y="1874519"/>
            <a:ext cx="10789920" cy="4480560"/>
          </a:xfrm>
          <a:prstGeom prst="rect">
            <a:avLst/>
          </a:prstGeom>
          <a:noFill/>
        </p:spPr>
        <p:txBody>
          <a:bodyPr wrap="square">
            <a:spAutoFit/>
          </a:bodyPr>
          <a:lstStyle/>
          <a:p>
            <a:pPr>
              <a:spcBef>
                <a:spcPts val="1100"/>
              </a:spcBef>
            </a:pPr>
            <a:r>
              <a:rPr sz="2100">
                <a:solidFill>
                  <a:srgbClr val="1A1F2B"/>
                </a:solidFill>
              </a:rPr>
              <a:t>•  Menyiapkan data mentah yang berantakan sampai </a:t>
            </a:r>
            <a:r>
              <a:rPr sz="2100" b="1">
                <a:solidFill>
                  <a:srgbClr val="102545"/>
                </a:solidFill>
              </a:rPr>
              <a:t>siap dilatih</a:t>
            </a:r>
            <a:r>
              <a:rPr sz="2100">
                <a:solidFill>
                  <a:srgbClr val="1A1F2B"/>
                </a:solidFill>
              </a:rPr>
              <a:t> — dan membuktikan dengan angka bahwa itu penting</a:t>
            </a:r>
          </a:p>
          <a:p>
            <a:pPr>
              <a:spcBef>
                <a:spcPts val="1100"/>
              </a:spcBef>
            </a:pPr>
            <a:r>
              <a:rPr sz="2100">
                <a:solidFill>
                  <a:srgbClr val="1A1F2B"/>
                </a:solidFill>
              </a:rPr>
              <a:t>•  Mengevaluasi model </a:t>
            </a:r>
            <a:r>
              <a:rPr sz="2100" b="1">
                <a:solidFill>
                  <a:srgbClr val="102545"/>
                </a:solidFill>
              </a:rPr>
              <a:t>dengan jujur</a:t>
            </a:r>
            <a:r>
              <a:rPr sz="2100">
                <a:solidFill>
                  <a:srgbClr val="1A1F2B"/>
                </a:solidFill>
              </a:rPr>
              <a:t>: memilih metrik yang tepat, bukan metrik yang enak dilihat</a:t>
            </a:r>
          </a:p>
          <a:p>
            <a:pPr>
              <a:spcBef>
                <a:spcPts val="1100"/>
              </a:spcBef>
            </a:pPr>
            <a:r>
              <a:rPr sz="2100">
                <a:solidFill>
                  <a:srgbClr val="1A1F2B"/>
                </a:solidFill>
              </a:rPr>
              <a:t>•  Mengenali dan mengendalikan </a:t>
            </a:r>
            <a:r>
              <a:rPr sz="2100" b="1">
                <a:solidFill>
                  <a:srgbClr val="102545"/>
                </a:solidFill>
              </a:rPr>
              <a:t>overfitting</a:t>
            </a:r>
            <a:r>
              <a:rPr sz="2100">
                <a:solidFill>
                  <a:srgbClr val="1A1F2B"/>
                </a:solidFill>
              </a:rPr>
              <a:t> — regularisasi, pruning, kontrol kompleksitas</a:t>
            </a:r>
          </a:p>
          <a:p>
            <a:pPr>
              <a:spcBef>
                <a:spcPts val="1100"/>
              </a:spcBef>
            </a:pPr>
            <a:r>
              <a:rPr sz="2100">
                <a:solidFill>
                  <a:srgbClr val="1A1F2B"/>
                </a:solidFill>
              </a:rPr>
              <a:t>•  Membangun </a:t>
            </a:r>
            <a:r>
              <a:rPr sz="2100" b="1">
                <a:solidFill>
                  <a:srgbClr val="102545"/>
                </a:solidFill>
              </a:rPr>
              <a:t>neural network</a:t>
            </a:r>
            <a:r>
              <a:rPr sz="2100">
                <a:solidFill>
                  <a:srgbClr val="1A1F2B"/>
                </a:solidFill>
              </a:rPr>
              <a:t>: feedforward → CNN untuk citra → RNN untuk teks</a:t>
            </a:r>
          </a:p>
          <a:p>
            <a:pPr>
              <a:spcBef>
                <a:spcPts val="1100"/>
              </a:spcBef>
            </a:pPr>
            <a:r>
              <a:rPr sz="2100">
                <a:solidFill>
                  <a:srgbClr val="1A1F2B"/>
                </a:solidFill>
              </a:rPr>
              <a:t>•  Melatih agen </a:t>
            </a:r>
            <a:r>
              <a:rPr sz="2100" b="1">
                <a:solidFill>
                  <a:srgbClr val="102545"/>
                </a:solidFill>
              </a:rPr>
              <a:t>reinforcement learning</a:t>
            </a:r>
            <a:r>
              <a:rPr sz="2100">
                <a:solidFill>
                  <a:srgbClr val="1A1F2B"/>
                </a:solidFill>
              </a:rPr>
              <a:t> yang belajar dari reward</a:t>
            </a:r>
          </a:p>
          <a:p>
            <a:pPr>
              <a:spcBef>
                <a:spcPts val="1100"/>
              </a:spcBef>
            </a:pPr>
            <a:r>
              <a:rPr sz="2100">
                <a:solidFill>
                  <a:srgbClr val="1A1F2B"/>
                </a:solidFill>
              </a:rPr>
              <a:t>•  Mengomunikasikan hasil sebagai </a:t>
            </a:r>
            <a:r>
              <a:rPr sz="2100" b="1">
                <a:solidFill>
                  <a:srgbClr val="102545"/>
                </a:solidFill>
              </a:rPr>
              <a:t>portofolio yang bisa dipertanggungjawabkan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Peta semester: lima fase, 16 pertemuan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Setiap fase menumpuk di atas fase sebelumnya — dan di kelas ini urutannya memang dikunci.</a:t>
            </a:r>
          </a:p>
        </p:txBody>
      </p:sp>
      <p:graphicFrame>
        <p:nvGraphicFramePr>
          <p:cNvPr id="6" name="Table 5"/>
          <p:cNvGraphicFramePr>
            <a:graphicFrameLocks noGrp="1"/>
          </p:cNvGraphicFramePr>
          <p:nvPr/>
        </p:nvGraphicFramePr>
        <p:xfrm>
          <a:off x="777240" y="1783080"/>
          <a:ext cx="10652760" cy="2359152"/>
        </p:xfrm>
        <a:graphic>
          <a:graphicData uri="http://schemas.openxmlformats.org/drawingml/2006/table">
            <a:tbl>
              <a:tblPr firstRow="1" bandRow="1">
                <a:tableStyleId>{5C22544A-7EE6-4342-B048-85BDC9FD1C3A}</a:tableStyleId>
              </a:tblPr>
              <a:tblGrid>
                <a:gridCol w="2840736"/>
                <a:gridCol w="1597914"/>
                <a:gridCol w="6214110"/>
              </a:tblGrid>
              <a:tr h="393192">
                <a:tc>
                  <a:txBody>
                    <a:bodyPr/>
                    <a:lstStyle/>
                    <a:p>
                      <a:pPr>
                        <a:defRPr sz="1800" b="1">
                          <a:solidFill>
                            <a:srgbClr val="FFFFFF"/>
                          </a:solidFill>
                        </a:defRPr>
                      </a:pPr>
                      <a:r>
                        <a:t>Fase</a:t>
                      </a:r>
                    </a:p>
                  </a:txBody>
                  <a:tcPr anchor="ctr">
                    <a:solidFill>
                      <a:srgbClr val="102545"/>
                    </a:solidFill>
                  </a:tcPr>
                </a:tc>
                <a:tc>
                  <a:txBody>
                    <a:bodyPr/>
                    <a:lstStyle/>
                    <a:p>
                      <a:pPr>
                        <a:defRPr sz="1800" b="1">
                          <a:solidFill>
                            <a:srgbClr val="FFFFFF"/>
                          </a:solidFill>
                        </a:defRPr>
                      </a:pPr>
                      <a:r>
                        <a:t>Pertemuan</a:t>
                      </a:r>
                    </a:p>
                  </a:txBody>
                  <a:tcPr anchor="ctr">
                    <a:solidFill>
                      <a:srgbClr val="102545"/>
                    </a:solidFill>
                  </a:tcPr>
                </a:tc>
                <a:tc>
                  <a:txBody>
                    <a:bodyPr/>
                    <a:lstStyle/>
                    <a:p>
                      <a:pPr>
                        <a:defRPr sz="1800" b="1">
                          <a:solidFill>
                            <a:srgbClr val="FFFFFF"/>
                          </a:solidFill>
                        </a:defRPr>
                      </a:pPr>
                      <a:r>
                        <a:t>Fokus</a:t>
                      </a:r>
                    </a:p>
                  </a:txBody>
                  <a:tcPr anchor="ctr">
                    <a:solidFill>
                      <a:srgbClr val="102545"/>
                    </a:solidFill>
                  </a:tcPr>
                </a:tc>
              </a:tr>
              <a:tr h="393192">
                <a:tc>
                  <a:txBody>
                    <a:bodyPr/>
                    <a:lstStyle/>
                    <a:p>
                      <a:pPr>
                        <a:defRPr sz="1800" b="1">
                          <a:solidFill>
                            <a:srgbClr val="102545"/>
                          </a:solidFill>
                        </a:defRPr>
                      </a:pPr>
                      <a:r>
                        <a:t>1 — Data First</a:t>
                      </a:r>
                    </a:p>
                  </a:txBody>
                  <a:tcPr anchor="ctr">
                    <a:solidFill>
                      <a:srgbClr val="F5F7FA"/>
                    </a:solidFill>
                  </a:tcPr>
                </a:tc>
                <a:tc>
                  <a:txBody>
                    <a:bodyPr/>
                    <a:lstStyle/>
                    <a:p>
                      <a:pPr>
                        <a:defRPr sz="1800" b="0">
                          <a:solidFill>
                            <a:srgbClr val="1A1F2B"/>
                          </a:solidFill>
                        </a:defRPr>
                      </a:pPr>
                      <a:r>
                        <a:t>1–3</a:t>
                      </a:r>
                    </a:p>
                  </a:txBody>
                  <a:tcPr anchor="ctr">
                    <a:solidFill>
                      <a:srgbClr val="F5F7FA"/>
                    </a:solidFill>
                  </a:tcPr>
                </a:tc>
                <a:tc>
                  <a:txBody>
                    <a:bodyPr/>
                    <a:lstStyle/>
                    <a:p>
                      <a:pPr>
                        <a:defRPr sz="1800" b="0">
                          <a:solidFill>
                            <a:srgbClr val="1A1F2B"/>
                          </a:solidFill>
                        </a:defRPr>
                      </a:pPr>
                      <a:r>
                        <a:t>Preprocessing, skala, encoding, feature thinking</a:t>
                      </a:r>
                    </a:p>
                  </a:txBody>
                  <a:tcPr anchor="ctr">
                    <a:solidFill>
                      <a:srgbClr val="F5F7FA"/>
                    </a:solidFill>
                  </a:tcPr>
                </a:tc>
              </a:tr>
              <a:tr h="393192">
                <a:tc>
                  <a:txBody>
                    <a:bodyPr/>
                    <a:lstStyle/>
                    <a:p>
                      <a:pPr>
                        <a:defRPr sz="1800" b="1">
                          <a:solidFill>
                            <a:srgbClr val="102545"/>
                          </a:solidFill>
                        </a:defRPr>
                      </a:pPr>
                      <a:r>
                        <a:t>2 — Modeling Mindset</a:t>
                      </a:r>
                    </a:p>
                  </a:txBody>
                  <a:tcPr anchor="ctr">
                    <a:solidFill>
                      <a:srgbClr val="FFFFFF"/>
                    </a:solidFill>
                  </a:tcPr>
                </a:tc>
                <a:tc>
                  <a:txBody>
                    <a:bodyPr/>
                    <a:lstStyle/>
                    <a:p>
                      <a:pPr>
                        <a:defRPr sz="1800" b="0">
                          <a:solidFill>
                            <a:srgbClr val="1A1F2B"/>
                          </a:solidFill>
                        </a:defRPr>
                      </a:pPr>
                      <a:r>
                        <a:t>4–6</a:t>
                      </a:r>
                    </a:p>
                  </a:txBody>
                  <a:tcPr anchor="ctr">
                    <a:solidFill>
                      <a:srgbClr val="FFFFFF"/>
                    </a:solidFill>
                  </a:tcPr>
                </a:tc>
                <a:tc>
                  <a:txBody>
                    <a:bodyPr/>
                    <a:lstStyle/>
                    <a:p>
                      <a:pPr>
                        <a:defRPr sz="1800" b="0">
                          <a:solidFill>
                            <a:srgbClr val="1A1F2B"/>
                          </a:solidFill>
                        </a:defRPr>
                      </a:pPr>
                      <a:r>
                        <a:t>Evaluasi yang benar, overfitting, regularisasi, pruning</a:t>
                      </a:r>
                    </a:p>
                  </a:txBody>
                  <a:tcPr anchor="ctr">
                    <a:solidFill>
                      <a:srgbClr val="FFFFFF"/>
                    </a:solidFill>
                  </a:tcPr>
                </a:tc>
              </a:tr>
              <a:tr h="393192">
                <a:tc>
                  <a:txBody>
                    <a:bodyPr/>
                    <a:lstStyle/>
                    <a:p>
                      <a:pPr>
                        <a:defRPr sz="1800" b="1">
                          <a:solidFill>
                            <a:srgbClr val="102545"/>
                          </a:solidFill>
                        </a:defRPr>
                      </a:pPr>
                      <a:r>
                        <a:t>3 — Neural Era</a:t>
                      </a:r>
                    </a:p>
                  </a:txBody>
                  <a:tcPr anchor="ctr">
                    <a:solidFill>
                      <a:srgbClr val="F5F7FA"/>
                    </a:solidFill>
                  </a:tcPr>
                </a:tc>
                <a:tc>
                  <a:txBody>
                    <a:bodyPr/>
                    <a:lstStyle/>
                    <a:p>
                      <a:pPr>
                        <a:defRPr sz="1800" b="0">
                          <a:solidFill>
                            <a:srgbClr val="1A1F2B"/>
                          </a:solidFill>
                        </a:defRPr>
                      </a:pPr>
                      <a:r>
                        <a:t>7–11</a:t>
                      </a:r>
                    </a:p>
                  </a:txBody>
                  <a:tcPr anchor="ctr">
                    <a:solidFill>
                      <a:srgbClr val="F5F7FA"/>
                    </a:solidFill>
                  </a:tcPr>
                </a:tc>
                <a:tc>
                  <a:txBody>
                    <a:bodyPr/>
                    <a:lstStyle/>
                    <a:p>
                      <a:pPr>
                        <a:defRPr sz="1800" b="0">
                          <a:solidFill>
                            <a:srgbClr val="1A1F2B"/>
                          </a:solidFill>
                        </a:defRPr>
                      </a:pPr>
                      <a:r>
                        <a:t>Neural network dasar → CNN → RNN &amp; NLP</a:t>
                      </a:r>
                    </a:p>
                  </a:txBody>
                  <a:tcPr anchor="ctr">
                    <a:solidFill>
                      <a:srgbClr val="F5F7FA"/>
                    </a:solidFill>
                  </a:tcPr>
                </a:tc>
              </a:tr>
              <a:tr h="393192">
                <a:tc>
                  <a:txBody>
                    <a:bodyPr/>
                    <a:lstStyle/>
                    <a:p>
                      <a:pPr>
                        <a:defRPr sz="1800" b="1">
                          <a:solidFill>
                            <a:srgbClr val="102545"/>
                          </a:solidFill>
                        </a:defRPr>
                      </a:pPr>
                      <a:r>
                        <a:t>4 — Learning by Doing</a:t>
                      </a:r>
                    </a:p>
                  </a:txBody>
                  <a:tcPr anchor="ctr">
                    <a:solidFill>
                      <a:srgbClr val="FFFFFF"/>
                    </a:solidFill>
                  </a:tcPr>
                </a:tc>
                <a:tc>
                  <a:txBody>
                    <a:bodyPr/>
                    <a:lstStyle/>
                    <a:p>
                      <a:pPr>
                        <a:defRPr sz="1800" b="0">
                          <a:solidFill>
                            <a:srgbClr val="1A1F2B"/>
                          </a:solidFill>
                        </a:defRPr>
                      </a:pPr>
                      <a:r>
                        <a:t>12–13</a:t>
                      </a:r>
                    </a:p>
                  </a:txBody>
                  <a:tcPr anchor="ctr">
                    <a:solidFill>
                      <a:srgbClr val="FFFFFF"/>
                    </a:solidFill>
                  </a:tcPr>
                </a:tc>
                <a:tc>
                  <a:txBody>
                    <a:bodyPr/>
                    <a:lstStyle/>
                    <a:p>
                      <a:pPr>
                        <a:defRPr sz="1800" b="0">
                          <a:solidFill>
                            <a:srgbClr val="1A1F2B"/>
                          </a:solidFill>
                        </a:defRPr>
                      </a:pPr>
                      <a:r>
                        <a:t>Reinforcement Learning: dasar → lanjut</a:t>
                      </a:r>
                    </a:p>
                  </a:txBody>
                  <a:tcPr anchor="ctr">
                    <a:solidFill>
                      <a:srgbClr val="FFFFFF"/>
                    </a:solidFill>
                  </a:tcPr>
                </a:tc>
              </a:tr>
              <a:tr h="393192">
                <a:tc>
                  <a:txBody>
                    <a:bodyPr/>
                    <a:lstStyle/>
                    <a:p>
                      <a:pPr>
                        <a:defRPr sz="1800" b="1">
                          <a:solidFill>
                            <a:srgbClr val="102545"/>
                          </a:solidFill>
                        </a:defRPr>
                      </a:pPr>
                      <a:r>
                        <a:t>5 — Show &amp; Reflect</a:t>
                      </a:r>
                    </a:p>
                  </a:txBody>
                  <a:tcPr anchor="ctr">
                    <a:solidFill>
                      <a:srgbClr val="F5F7FA"/>
                    </a:solidFill>
                  </a:tcPr>
                </a:tc>
                <a:tc>
                  <a:txBody>
                    <a:bodyPr/>
                    <a:lstStyle/>
                    <a:p>
                      <a:pPr>
                        <a:defRPr sz="1800" b="0">
                          <a:solidFill>
                            <a:srgbClr val="1A1F2B"/>
                          </a:solidFill>
                        </a:defRPr>
                      </a:pPr>
                      <a:r>
                        <a:t>14–16</a:t>
                      </a:r>
                    </a:p>
                  </a:txBody>
                  <a:tcPr anchor="ctr">
                    <a:solidFill>
                      <a:srgbClr val="F5F7FA"/>
                    </a:solidFill>
                  </a:tcPr>
                </a:tc>
                <a:tc>
                  <a:txBody>
                    <a:bodyPr/>
                    <a:lstStyle/>
                    <a:p>
                      <a:pPr>
                        <a:defRPr sz="1800" b="0">
                          <a:solidFill>
                            <a:srgbClr val="1A1F2B"/>
                          </a:solidFill>
                        </a:defRPr>
                      </a:pPr>
                      <a:r>
                        <a:t>Review, proyek akhir, UAS &amp; refleksi</a:t>
                      </a:r>
                    </a:p>
                  </a:txBody>
                  <a:tcPr anchor="ctr">
                    <a:solidFill>
                      <a:srgbClr val="F5F7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kerja kelas ini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Asinkron penuh.</a:t>
            </a:r>
            <a:r>
              <a:rPr sz="2000">
                <a:solidFill>
                  <a:srgbClr val="1A1F2B"/>
                </a:solidFill>
              </a:rPr>
              <a:t> Tidak ada pertemuan tatap muka maupun sesi daring terjadwal</a:t>
            </a:r>
          </a:p>
          <a:p>
            <a:pPr lvl="1">
              <a:spcBef>
                <a:spcPts val="300"/>
              </a:spcBef>
            </a:pPr>
            <a:r>
              <a:rPr sz="1700">
                <a:solidFill>
                  <a:srgbClr val="5A6372"/>
                </a:solidFill>
              </a:rPr>
              <a:t>–  slot jam di sistem kampus hanya penanda administratif, bukan jam pertemuan</a:t>
            </a:r>
          </a:p>
          <a:p>
            <a:pPr>
              <a:spcBef>
                <a:spcPts val="1100"/>
              </a:spcBef>
            </a:pPr>
            <a:r>
              <a:rPr sz="2000">
                <a:solidFill>
                  <a:srgbClr val="1A1F2B"/>
                </a:solidFill>
              </a:rPr>
              <a:t>•  </a:t>
            </a:r>
            <a:r>
              <a:rPr sz="2000" b="1">
                <a:solidFill>
                  <a:srgbClr val="102545"/>
                </a:solidFill>
              </a:rPr>
              <a:t>Self-paced dengan urutan terkunci</a:t>
            </a:r>
            <a:r>
              <a:rPr sz="2000">
                <a:solidFill>
                  <a:srgbClr val="1A1F2B"/>
                </a:solidFill>
              </a:rPr>
              <a:t>: Pertemuan N terbuka otomatis setelah materi Pertemuan N−1 Anda buka dan baca</a:t>
            </a:r>
          </a:p>
          <a:p>
            <a:pPr>
              <a:spcBef>
                <a:spcPts val="1100"/>
              </a:spcBef>
            </a:pPr>
            <a:r>
              <a:rPr sz="2000">
                <a:solidFill>
                  <a:srgbClr val="1A1F2B"/>
                </a:solidFill>
              </a:rPr>
              <a:t>•  Tugas dan kuis di suatu pertemuan bisa dikerjakan </a:t>
            </a:r>
            <a:r>
              <a:rPr sz="2000" b="1">
                <a:solidFill>
                  <a:srgbClr val="102545"/>
                </a:solidFill>
              </a:rPr>
              <a:t>begitu materi pertemuan itu terbuka</a:t>
            </a:r>
          </a:p>
          <a:p>
            <a:pPr>
              <a:spcBef>
                <a:spcPts val="1100"/>
              </a:spcBef>
            </a:pPr>
            <a:r>
              <a:rPr sz="2000">
                <a:solidFill>
                  <a:srgbClr val="1A1F2B"/>
                </a:solidFill>
              </a:rPr>
              <a:t>•  </a:t>
            </a:r>
            <a:r>
              <a:rPr sz="2000" b="1">
                <a:solidFill>
                  <a:srgbClr val="102545"/>
                </a:solidFill>
              </a:rPr>
              <a:t>Semua dikerjakan mandiri.</a:t>
            </a:r>
            <a:r>
              <a:rPr sz="2000">
                <a:solidFill>
                  <a:srgbClr val="1A1F2B"/>
                </a:solidFill>
              </a:rPr>
              <a:t> Item yang judulnya memuat kata </a:t>
            </a:r>
            <a:r>
              <a:rPr sz="2000" i="1">
                <a:solidFill>
                  <a:srgbClr val="1A1F2B"/>
                </a:solidFill>
              </a:rPr>
              <a:t>"Kelompok"</a:t>
            </a:r>
            <a:r>
              <a:rPr sz="2000">
                <a:solidFill>
                  <a:srgbClr val="1A1F2B"/>
                </a:solidFill>
              </a:rPr>
              <a:t> adalah warisan kelas reguler — di kelas ini dikerjakan individu</a:t>
            </a:r>
          </a:p>
          <a:p>
            <a:pPr>
              <a:spcBef>
                <a:spcPts val="1100"/>
              </a:spcBef>
            </a:pPr>
          </a:p>
          <a:p>
            <a:pPr>
              <a:spcBef>
                <a:spcPts val="1100"/>
              </a:spcBef>
            </a:pPr>
            <a:r>
              <a:rPr sz="2000">
                <a:solidFill>
                  <a:srgbClr val="1A1F2B"/>
                </a:solidFill>
              </a:rPr>
              <a:t>•  Bertanya lewat </a:t>
            </a:r>
            <a:r>
              <a:rPr sz="2000" b="1">
                <a:solidFill>
                  <a:srgbClr val="102545"/>
                </a:solidFill>
              </a:rPr>
              <a:t>forum Diskusi Umum</a:t>
            </a:r>
            <a:r>
              <a:rPr sz="2000">
                <a:solidFill>
                  <a:srgbClr val="1A1F2B"/>
                </a:solidFill>
              </a:rPr>
              <a:t>; dijawab pada hari kerja.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Satu tenggat untuk semua: 24 Januari 2027, 23.55</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Kelonggaran ini nyata — tapi ia bukan alasan menunda. Mengerjakan 16 pertemuan di minggu terakhir menghasilkan portofolio yang tidak bisa dipertanggungjawabkan, dan tetap dinilai dengan rubrik yang sama.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Ritme yang disarankan</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Satu pertemuan per minggu</a:t>
            </a:r>
            <a:r>
              <a:rPr sz="2000">
                <a:solidFill>
                  <a:srgbClr val="1A1F2B"/>
                </a:solidFill>
              </a:rPr>
              <a:t>, seperti kelas reguler — selesai sekitar akhir Desember</a:t>
            </a:r>
          </a:p>
          <a:p>
            <a:pPr>
              <a:spcBef>
                <a:spcPts val="1100"/>
              </a:spcBef>
            </a:pPr>
            <a:r>
              <a:rPr sz="2000">
                <a:solidFill>
                  <a:srgbClr val="1A1F2B"/>
                </a:solidFill>
              </a:rPr>
              <a:t>•  Sisakan Januari untuk </a:t>
            </a:r>
            <a:r>
              <a:rPr sz="2000" b="1">
                <a:solidFill>
                  <a:srgbClr val="102545"/>
                </a:solidFill>
              </a:rPr>
              <a:t>proyek akhir</a:t>
            </a:r>
            <a:r>
              <a:rPr sz="2000">
                <a:solidFill>
                  <a:srgbClr val="1A1F2B"/>
                </a:solidFill>
              </a:rPr>
              <a:t>, bukan untuk mengejar materi</a:t>
            </a:r>
          </a:p>
          <a:p>
            <a:pPr>
              <a:spcBef>
                <a:spcPts val="1100"/>
              </a:spcBef>
            </a:pPr>
            <a:r>
              <a:rPr sz="2000">
                <a:solidFill>
                  <a:srgbClr val="1A1F2B"/>
                </a:solidFill>
              </a:rPr>
              <a:t>•  Patokan cepat: kalau di akhir September Anda belum sampai Pertemuan 3, Anda sudah tertinggal</a:t>
            </a:r>
          </a:p>
          <a:p>
            <a:pPr>
              <a:spcBef>
                <a:spcPts val="1100"/>
              </a:spcBef>
            </a:pPr>
          </a:p>
          <a:p>
            <a:pPr>
              <a:spcBef>
                <a:spcPts val="1100"/>
              </a:spcBef>
            </a:pPr>
            <a:r>
              <a:rPr sz="2000">
                <a:solidFill>
                  <a:srgbClr val="1A1F2B"/>
                </a:solidFill>
              </a:rPr>
              <a:t>•  </a:t>
            </a:r>
            <a:r>
              <a:rPr sz="2000" b="1">
                <a:solidFill>
                  <a:srgbClr val="102545"/>
                </a:solidFill>
              </a:rPr>
              <a:t>Kenapa berurutan itu wajib:</a:t>
            </a:r>
            <a:r>
              <a:rPr sz="2000">
                <a:solidFill>
                  <a:srgbClr val="1A1F2B"/>
                </a:solidFill>
              </a:rPr>
              <a:t> materi kelas ini bertumpuk. Melompat ke pertemuan lanjut tanpa dasar menghasilkan kode yang jalan tapi tidak Anda pahami — dan itu ketahuan saat dinilai.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Aturan tugas</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Semua tugas dikumpulkan lewat </a:t>
            </a:r>
            <a:r>
              <a:rPr sz="2000" b="1">
                <a:solidFill>
                  <a:srgbClr val="102545"/>
                </a:solidFill>
              </a:rPr>
              <a:t>eBelajar</a:t>
            </a:r>
            <a:r>
              <a:rPr sz="2000">
                <a:solidFill>
                  <a:srgbClr val="1A1F2B"/>
                </a:solidFill>
              </a:rPr>
              <a:t> — bukan WhatsApp, bukan email</a:t>
            </a:r>
          </a:p>
          <a:p>
            <a:pPr>
              <a:spcBef>
                <a:spcPts val="1100"/>
              </a:spcBef>
            </a:pPr>
            <a:r>
              <a:rPr sz="2000">
                <a:solidFill>
                  <a:srgbClr val="1A1F2B"/>
                </a:solidFill>
              </a:rPr>
              <a:t>•  Format nama berkas: </a:t>
            </a:r>
            <a:r>
              <a:rPr sz="2000" b="1">
                <a:solidFill>
                  <a:srgbClr val="102545"/>
                </a:solidFill>
              </a:rPr>
              <a:t>NIM_Nama_P&lt;nomor&gt;_&lt;Topik&gt;.ipynb</a:t>
            </a:r>
          </a:p>
          <a:p>
            <a:pPr>
              <a:spcBef>
                <a:spcPts val="1100"/>
              </a:spcBef>
            </a:pPr>
            <a:r>
              <a:rPr sz="2000">
                <a:solidFill>
                  <a:srgbClr val="1A1F2B"/>
                </a:solidFill>
              </a:rPr>
              <a:t>•  Notebook wajib </a:t>
            </a:r>
            <a:r>
              <a:rPr sz="2000" b="1">
                <a:solidFill>
                  <a:srgbClr val="102545"/>
                </a:solidFill>
              </a:rPr>
              <a:t>reproducible</a:t>
            </a:r>
            <a:r>
              <a:rPr sz="2000">
                <a:solidFill>
                  <a:srgbClr val="1A1F2B"/>
                </a:solidFill>
              </a:rPr>
              <a:t>: random_state disetel, jalan dari atas ke bawah tanpa error</a:t>
            </a:r>
          </a:p>
          <a:p>
            <a:pPr>
              <a:spcBef>
                <a:spcPts val="1100"/>
              </a:spcBef>
            </a:pPr>
            <a:r>
              <a:rPr sz="2000">
                <a:solidFill>
                  <a:srgbClr val="1A1F2B"/>
                </a:solidFill>
              </a:rPr>
              <a:t>•  </a:t>
            </a:r>
            <a:r>
              <a:rPr sz="2000" b="1">
                <a:solidFill>
                  <a:srgbClr val="102545"/>
                </a:solidFill>
              </a:rPr>
              <a:t>Tenggat akhir seluruh pengumpulan: 24 Januari 2027, 23.55</a:t>
            </a:r>
          </a:p>
          <a:p>
            <a:pPr lvl="1">
              <a:spcBef>
                <a:spcPts val="300"/>
              </a:spcBef>
            </a:pPr>
            <a:r>
              <a:rPr sz="1700">
                <a:solidFill>
                  <a:srgbClr val="5A6372"/>
                </a:solidFill>
              </a:rPr>
              <a:t>–  tidak ada perpanjangan setelah tanggal itu — sistem menutup pengumpulan</a:t>
            </a:r>
          </a:p>
          <a:p>
            <a:pPr>
              <a:spcBef>
                <a:spcPts val="1100"/>
              </a:spcBef>
            </a:pPr>
            <a:r>
              <a:rPr sz="2000">
                <a:solidFill>
                  <a:srgbClr val="1A1F2B"/>
                </a:solidFill>
              </a:rPr>
              <a:t>•  Pengganti "kehadiran": </a:t>
            </a:r>
            <a:r>
              <a:rPr sz="2000" b="1">
                <a:solidFill>
                  <a:srgbClr val="102545"/>
                </a:solidFill>
              </a:rPr>
              <a:t>penyelesaian aktivitas di eBelajar</a:t>
            </a:r>
            <a:r>
              <a:rPr sz="2000">
                <a:solidFill>
                  <a:srgbClr val="1A1F2B"/>
                </a:solidFill>
              </a:rPr>
              <a:t> (materi dibaca, tugas &amp; kuis dikerjakan)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Komponen dan bobot penilaian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Pendekatan Outcome-Based Education (OBE), sesuai RPS mata kuliah.</a:t>
            </a:r>
          </a:p>
        </p:txBody>
      </p:sp>
      <p:graphicFrame>
        <p:nvGraphicFramePr>
          <p:cNvPr id="6" name="Table 5"/>
          <p:cNvGraphicFramePr>
            <a:graphicFrameLocks noGrp="1"/>
          </p:cNvGraphicFramePr>
          <p:nvPr/>
        </p:nvGraphicFramePr>
        <p:xfrm>
          <a:off x="777240" y="1783080"/>
          <a:ext cx="10652758" cy="3456432"/>
        </p:xfrm>
        <a:graphic>
          <a:graphicData uri="http://schemas.openxmlformats.org/drawingml/2006/table">
            <a:tbl>
              <a:tblPr firstRow="1" bandRow="1">
                <a:tableStyleId>{5C22544A-7EE6-4342-B048-85BDC9FD1C3A}</a:tableStyleId>
              </a:tblPr>
              <a:tblGrid>
                <a:gridCol w="2828166"/>
                <a:gridCol w="6127693"/>
                <a:gridCol w="1696899"/>
              </a:tblGrid>
              <a:tr h="384048">
                <a:tc>
                  <a:txBody>
                    <a:bodyPr/>
                    <a:lstStyle/>
                    <a:p>
                      <a:pPr>
                        <a:defRPr sz="1700" b="1">
                          <a:solidFill>
                            <a:srgbClr val="FFFFFF"/>
                          </a:solidFill>
                        </a:defRPr>
                      </a:pPr>
                      <a:r>
                        <a:t>Komponen</a:t>
                      </a:r>
                    </a:p>
                  </a:txBody>
                  <a:tcPr anchor="ctr">
                    <a:solidFill>
                      <a:srgbClr val="102545"/>
                    </a:solidFill>
                  </a:tcPr>
                </a:tc>
                <a:tc>
                  <a:txBody>
                    <a:bodyPr/>
                    <a:lstStyle/>
                    <a:p>
                      <a:pPr>
                        <a:defRPr sz="1700" b="1">
                          <a:solidFill>
                            <a:srgbClr val="FFFFFF"/>
                          </a:solidFill>
                        </a:defRPr>
                      </a:pPr>
                      <a:r>
                        <a:t>Bentuk</a:t>
                      </a:r>
                    </a:p>
                  </a:txBody>
                  <a:tcPr anchor="ctr">
                    <a:solidFill>
                      <a:srgbClr val="102545"/>
                    </a:solidFill>
                  </a:tcPr>
                </a:tc>
                <a:tc>
                  <a:txBody>
                    <a:bodyPr/>
                    <a:lstStyle/>
                    <a:p>
                      <a:pPr>
                        <a:defRPr sz="1700" b="1">
                          <a:solidFill>
                            <a:srgbClr val="FFFFFF"/>
                          </a:solidFill>
                        </a:defRPr>
                      </a:pPr>
                      <a:r>
                        <a:t>Bobot</a:t>
                      </a:r>
                    </a:p>
                  </a:txBody>
                  <a:tcPr anchor="ctr">
                    <a:solidFill>
                      <a:srgbClr val="102545"/>
                    </a:solidFill>
                  </a:tcPr>
                </a:tc>
              </a:tr>
              <a:tr h="384048">
                <a:tc>
                  <a:txBody>
                    <a:bodyPr/>
                    <a:lstStyle/>
                    <a:p>
                      <a:pPr>
                        <a:defRPr sz="1700" b="1">
                          <a:solidFill>
                            <a:srgbClr val="102545"/>
                          </a:solidFill>
                        </a:defRPr>
                      </a:pPr>
                      <a:r>
                        <a:t>Partisipatif</a:t>
                      </a:r>
                    </a:p>
                  </a:txBody>
                  <a:tcPr anchor="ctr">
                    <a:solidFill>
                      <a:srgbClr val="F5F7FA"/>
                    </a:solidFill>
                  </a:tcPr>
                </a:tc>
                <a:tc>
                  <a:txBody>
                    <a:bodyPr/>
                    <a:lstStyle/>
                    <a:p>
                      <a:pPr>
                        <a:defRPr sz="1700" b="0">
                          <a:solidFill>
                            <a:srgbClr val="1A1F2B"/>
                          </a:solidFill>
                        </a:defRPr>
                      </a:pPr>
                      <a:r>
                        <a:t>Keaktifan, exit-ticket, penyelesaian aktivitas</a:t>
                      </a:r>
                    </a:p>
                  </a:txBody>
                  <a:tcPr anchor="ctr">
                    <a:solidFill>
                      <a:srgbClr val="F5F7FA"/>
                    </a:solidFill>
                  </a:tcPr>
                </a:tc>
                <a:tc>
                  <a:txBody>
                    <a:bodyPr/>
                    <a:lstStyle/>
                    <a:p>
                      <a:pPr>
                        <a:defRPr sz="1700" b="0">
                          <a:solidFill>
                            <a:srgbClr val="1A1F2B"/>
                          </a:solidFill>
                        </a:defRPr>
                      </a:pPr>
                      <a:r>
                        <a:t>10%</a:t>
                      </a:r>
                    </a:p>
                  </a:txBody>
                  <a:tcPr anchor="ctr">
                    <a:solidFill>
                      <a:srgbClr val="F5F7FA"/>
                    </a:solidFill>
                  </a:tcPr>
                </a:tc>
              </a:tr>
              <a:tr h="384048">
                <a:tc>
                  <a:txBody>
                    <a:bodyPr/>
                    <a:lstStyle/>
                    <a:p>
                      <a:pPr>
                        <a:defRPr sz="1700" b="1">
                          <a:solidFill>
                            <a:srgbClr val="102545"/>
                          </a:solidFill>
                        </a:defRPr>
                      </a:pPr>
                      <a:r>
                        <a:t>Observasi</a:t>
                      </a:r>
                    </a:p>
                  </a:txBody>
                  <a:tcPr anchor="ctr">
                    <a:solidFill>
                      <a:srgbClr val="FFFFFF"/>
                    </a:solidFill>
                  </a:tcPr>
                </a:tc>
                <a:tc>
                  <a:txBody>
                    <a:bodyPr/>
                    <a:lstStyle/>
                    <a:p>
                      <a:pPr>
                        <a:defRPr sz="1700" b="0">
                          <a:solidFill>
                            <a:srgbClr val="1A1F2B"/>
                          </a:solidFill>
                        </a:defRPr>
                      </a:pPr>
                      <a:r>
                        <a:t>Praktikum / studio coding</a:t>
                      </a:r>
                    </a:p>
                  </a:txBody>
                  <a:tcPr anchor="ctr">
                    <a:solidFill>
                      <a:srgbClr val="FFFFFF"/>
                    </a:solidFill>
                  </a:tcPr>
                </a:tc>
                <a:tc>
                  <a:txBody>
                    <a:bodyPr/>
                    <a:lstStyle/>
                    <a:p>
                      <a:pPr>
                        <a:defRPr sz="1700" b="0">
                          <a:solidFill>
                            <a:srgbClr val="1A1F2B"/>
                          </a:solidFill>
                        </a:defRPr>
                      </a:pPr>
                      <a:r>
                        <a:t>20%</a:t>
                      </a:r>
                    </a:p>
                  </a:txBody>
                  <a:tcPr anchor="ctr">
                    <a:solidFill>
                      <a:srgbClr val="FFFFFF"/>
                    </a:solidFill>
                  </a:tcPr>
                </a:tc>
              </a:tr>
              <a:tr h="384048">
                <a:tc>
                  <a:txBody>
                    <a:bodyPr/>
                    <a:lstStyle/>
                    <a:p>
                      <a:pPr>
                        <a:defRPr sz="1700" b="1">
                          <a:solidFill>
                            <a:srgbClr val="102545"/>
                          </a:solidFill>
                        </a:defRPr>
                      </a:pPr>
                      <a:r>
                        <a:t>Unjuk Kerja</a:t>
                      </a:r>
                    </a:p>
                  </a:txBody>
                  <a:tcPr anchor="ctr">
                    <a:solidFill>
                      <a:srgbClr val="F5F7FA"/>
                    </a:solidFill>
                  </a:tcPr>
                </a:tc>
                <a:tc>
                  <a:txBody>
                    <a:bodyPr/>
                    <a:lstStyle/>
                    <a:p>
                      <a:pPr>
                        <a:defRPr sz="1700" b="0">
                          <a:solidFill>
                            <a:srgbClr val="1A1F2B"/>
                          </a:solidFill>
                        </a:defRPr>
                      </a:pPr>
                      <a:r>
                        <a:t>Presentasi &amp; proyek</a:t>
                      </a:r>
                    </a:p>
                  </a:txBody>
                  <a:tcPr anchor="ctr">
                    <a:solidFill>
                      <a:srgbClr val="F5F7FA"/>
                    </a:solidFill>
                  </a:tcPr>
                </a:tc>
                <a:tc>
                  <a:txBody>
                    <a:bodyPr/>
                    <a:lstStyle/>
                    <a:p>
                      <a:pPr>
                        <a:defRPr sz="1700" b="0">
                          <a:solidFill>
                            <a:srgbClr val="1A1F2B"/>
                          </a:solidFill>
                        </a:defRPr>
                      </a:pPr>
                      <a:r>
                        <a:t>20%</a:t>
                      </a:r>
                    </a:p>
                  </a:txBody>
                  <a:tcPr anchor="ctr">
                    <a:solidFill>
                      <a:srgbClr val="F5F7FA"/>
                    </a:solidFill>
                  </a:tcPr>
                </a:tc>
              </a:tr>
              <a:tr h="384048">
                <a:tc>
                  <a:txBody>
                    <a:bodyPr/>
                    <a:lstStyle/>
                    <a:p>
                      <a:pPr>
                        <a:defRPr sz="1700" b="1">
                          <a:solidFill>
                            <a:srgbClr val="102545"/>
                          </a:solidFill>
                        </a:defRPr>
                      </a:pPr>
                      <a:r>
                        <a:t>Quiz</a:t>
                      </a:r>
                    </a:p>
                  </a:txBody>
                  <a:tcPr anchor="ctr">
                    <a:solidFill>
                      <a:srgbClr val="FFFFFF"/>
                    </a:solidFill>
                  </a:tcPr>
                </a:tc>
                <a:tc>
                  <a:txBody>
                    <a:bodyPr/>
                    <a:lstStyle/>
                    <a:p>
                      <a:pPr>
                        <a:defRPr sz="1700" b="0">
                          <a:solidFill>
                            <a:srgbClr val="1A1F2B"/>
                          </a:solidFill>
                        </a:defRPr>
                      </a:pPr>
                      <a:r>
                        <a:t>Tes tulis / observasi</a:t>
                      </a:r>
                    </a:p>
                  </a:txBody>
                  <a:tcPr anchor="ctr">
                    <a:solidFill>
                      <a:srgbClr val="FFFFFF"/>
                    </a:solidFill>
                  </a:tcPr>
                </a:tc>
                <a:tc>
                  <a:txBody>
                    <a:bodyPr/>
                    <a:lstStyle/>
                    <a:p>
                      <a:pPr>
                        <a:defRPr sz="1700" b="0">
                          <a:solidFill>
                            <a:srgbClr val="1A1F2B"/>
                          </a:solidFill>
                        </a:defRPr>
                      </a:pPr>
                      <a:r>
                        <a:t>10%</a:t>
                      </a:r>
                    </a:p>
                  </a:txBody>
                  <a:tcPr anchor="ctr">
                    <a:solidFill>
                      <a:srgbClr val="FFFFFF"/>
                    </a:solidFill>
                  </a:tcPr>
                </a:tc>
              </a:tr>
              <a:tr h="384048">
                <a:tc>
                  <a:txBody>
                    <a:bodyPr/>
                    <a:lstStyle/>
                    <a:p>
                      <a:pPr>
                        <a:defRPr sz="1700" b="1">
                          <a:solidFill>
                            <a:srgbClr val="102545"/>
                          </a:solidFill>
                        </a:defRPr>
                      </a:pPr>
                      <a:r>
                        <a:t>Tugas individu</a:t>
                      </a:r>
                    </a:p>
                  </a:txBody>
                  <a:tcPr anchor="ctr">
                    <a:solidFill>
                      <a:srgbClr val="F5F7FA"/>
                    </a:solidFill>
                  </a:tcPr>
                </a:tc>
                <a:tc>
                  <a:txBody>
                    <a:bodyPr/>
                    <a:lstStyle/>
                    <a:p>
                      <a:pPr>
                        <a:defRPr sz="1700" b="0">
                          <a:solidFill>
                            <a:srgbClr val="1A1F2B"/>
                          </a:solidFill>
                        </a:defRPr>
                      </a:pPr>
                      <a:r>
                        <a:t>Weekly lab notebook</a:t>
                      </a:r>
                    </a:p>
                  </a:txBody>
                  <a:tcPr anchor="ctr">
                    <a:solidFill>
                      <a:srgbClr val="F5F7FA"/>
                    </a:solidFill>
                  </a:tcPr>
                </a:tc>
                <a:tc>
                  <a:txBody>
                    <a:bodyPr/>
                    <a:lstStyle/>
                    <a:p>
                      <a:pPr>
                        <a:defRPr sz="1700" b="0">
                          <a:solidFill>
                            <a:srgbClr val="1A1F2B"/>
                          </a:solidFill>
                        </a:defRPr>
                      </a:pPr>
                      <a:r>
                        <a:t>10%</a:t>
                      </a:r>
                    </a:p>
                  </a:txBody>
                  <a:tcPr anchor="ctr">
                    <a:solidFill>
                      <a:srgbClr val="F5F7FA"/>
                    </a:solidFill>
                  </a:tcPr>
                </a:tc>
              </a:tr>
              <a:tr h="384048">
                <a:tc>
                  <a:txBody>
                    <a:bodyPr/>
                    <a:lstStyle/>
                    <a:p>
                      <a:pPr>
                        <a:defRPr sz="1700" b="1">
                          <a:solidFill>
                            <a:srgbClr val="102545"/>
                          </a:solidFill>
                        </a:defRPr>
                      </a:pPr>
                      <a:r>
                        <a:t>UTS</a:t>
                      </a:r>
                    </a:p>
                  </a:txBody>
                  <a:tcPr anchor="ctr">
                    <a:solidFill>
                      <a:srgbClr val="FFFFFF"/>
                    </a:solidFill>
                  </a:tcPr>
                </a:tc>
                <a:tc>
                  <a:txBody>
                    <a:bodyPr/>
                    <a:lstStyle/>
                    <a:p>
                      <a:pPr>
                        <a:defRPr sz="1700" b="0">
                          <a:solidFill>
                            <a:srgbClr val="1A1F2B"/>
                          </a:solidFill>
                        </a:defRPr>
                      </a:pPr>
                      <a:r>
                        <a:t>Ujian Tengah Semester</a:t>
                      </a:r>
                    </a:p>
                  </a:txBody>
                  <a:tcPr anchor="ctr">
                    <a:solidFill>
                      <a:srgbClr val="FFFFFF"/>
                    </a:solidFill>
                  </a:tcPr>
                </a:tc>
                <a:tc>
                  <a:txBody>
                    <a:bodyPr/>
                    <a:lstStyle/>
                    <a:p>
                      <a:pPr>
                        <a:defRPr sz="1700" b="0">
                          <a:solidFill>
                            <a:srgbClr val="1A1F2B"/>
                          </a:solidFill>
                        </a:defRPr>
                      </a:pPr>
                      <a:r>
                        <a:t>15%</a:t>
                      </a:r>
                    </a:p>
                  </a:txBody>
                  <a:tcPr anchor="ctr">
                    <a:solidFill>
                      <a:srgbClr val="FFFFFF"/>
                    </a:solidFill>
                  </a:tcPr>
                </a:tc>
              </a:tr>
              <a:tr h="384048">
                <a:tc>
                  <a:txBody>
                    <a:bodyPr/>
                    <a:lstStyle/>
                    <a:p>
                      <a:pPr>
                        <a:defRPr sz="1700" b="1">
                          <a:solidFill>
                            <a:srgbClr val="102545"/>
                          </a:solidFill>
                        </a:defRPr>
                      </a:pPr>
                      <a:r>
                        <a:t>UAS</a:t>
                      </a:r>
                    </a:p>
                  </a:txBody>
                  <a:tcPr anchor="ctr">
                    <a:solidFill>
                      <a:srgbClr val="F5F7FA"/>
                    </a:solidFill>
                  </a:tcPr>
                </a:tc>
                <a:tc>
                  <a:txBody>
                    <a:bodyPr/>
                    <a:lstStyle/>
                    <a:p>
                      <a:pPr>
                        <a:defRPr sz="1700" b="0">
                          <a:solidFill>
                            <a:srgbClr val="1A1F2B"/>
                          </a:solidFill>
                        </a:defRPr>
                      </a:pPr>
                      <a:r>
                        <a:t>Final project: laporan + pameran</a:t>
                      </a:r>
                    </a:p>
                  </a:txBody>
                  <a:tcPr anchor="ctr">
                    <a:solidFill>
                      <a:srgbClr val="F5F7FA"/>
                    </a:solidFill>
                  </a:tcPr>
                </a:tc>
                <a:tc>
                  <a:txBody>
                    <a:bodyPr/>
                    <a:lstStyle/>
                    <a:p>
                      <a:pPr>
                        <a:defRPr sz="1700" b="0">
                          <a:solidFill>
                            <a:srgbClr val="1A1F2B"/>
                          </a:solidFill>
                        </a:defRPr>
                      </a:pPr>
                      <a:r>
                        <a:t>15%</a:t>
                      </a:r>
                    </a:p>
                  </a:txBody>
                  <a:tcPr anchor="ctr">
                    <a:solidFill>
                      <a:srgbClr val="F5F7FA"/>
                    </a:solidFill>
                  </a:tcPr>
                </a:tc>
              </a:tr>
              <a:tr h="384048">
                <a:tc>
                  <a:txBody>
                    <a:bodyPr/>
                    <a:lstStyle/>
                    <a:p>
                      <a:pPr>
                        <a:defRPr sz="1700" b="1">
                          <a:solidFill>
                            <a:srgbClr val="102545"/>
                          </a:solidFill>
                        </a:defRPr>
                      </a:pPr>
                      <a:r>
                        <a:t>TOTAL</a:t>
                      </a:r>
                    </a:p>
                  </a:txBody>
                  <a:tcPr anchor="ctr">
                    <a:solidFill>
                      <a:srgbClr val="FFFFFF"/>
                    </a:solidFill>
                  </a:tcPr>
                </a:tc>
                <a:tc>
                  <a:txBody>
                    <a:bodyPr/>
                    <a:lstStyle/>
                    <a:p>
                      <a:pPr>
                        <a:defRPr sz="1700" b="0">
                          <a:solidFill>
                            <a:srgbClr val="1A1F2B"/>
                          </a:solidFill>
                        </a:defRPr>
                      </a:pPr>
                    </a:p>
                  </a:txBody>
                  <a:tcPr anchor="ctr">
                    <a:solidFill>
                      <a:srgbClr val="FFFFFF"/>
                    </a:solidFill>
                  </a:tcPr>
                </a:tc>
                <a:tc>
                  <a:txBody>
                    <a:bodyPr/>
                    <a:lstStyle/>
                    <a:p>
                      <a:pPr>
                        <a:defRPr sz="1700" b="1">
                          <a:solidFill>
                            <a:srgbClr val="102545"/>
                          </a:solidFill>
                        </a:defRPr>
                      </a:pPr>
                      <a:r>
                        <a:t>100%</a:t>
                      </a:r>
                    </a:p>
                  </a:txBody>
                  <a:tcPr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Integritas akademik</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a:t>
            </a:r>
            <a:r>
              <a:rPr sz="2100" b="1">
                <a:solidFill>
                  <a:srgbClr val="102545"/>
                </a:solidFill>
              </a:rPr>
              <a:t>Diskusi dianjurkan. Penyalinan dilarang.</a:t>
            </a:r>
            <a:r>
              <a:rPr sz="2100">
                <a:solidFill>
                  <a:srgbClr val="1A1F2B"/>
                </a:solidFill>
              </a:rPr>
              <a:t> Boleh berdiskusi soal pendekatan; kode dan tulisan susun sendiri</a:t>
            </a:r>
          </a:p>
          <a:p>
            <a:pPr>
              <a:spcBef>
                <a:spcPts val="1100"/>
              </a:spcBef>
            </a:pPr>
            <a:r>
              <a:rPr sz="2100">
                <a:solidFill>
                  <a:srgbClr val="1A1F2B"/>
                </a:solidFill>
              </a:rPr>
              <a:t>•  Dua notebook identik atau nyaris identik: </a:t>
            </a:r>
            <a:r>
              <a:rPr sz="2100" b="1">
                <a:solidFill>
                  <a:srgbClr val="102545"/>
                </a:solidFill>
              </a:rPr>
              <a:t>keduanya dinilai 0</a:t>
            </a:r>
            <a:r>
              <a:rPr sz="2100">
                <a:solidFill>
                  <a:srgbClr val="1A1F2B"/>
                </a:solidFill>
              </a:rPr>
              <a:t> — tanpa memeriksa siapa menyalin siapa</a:t>
            </a:r>
          </a:p>
          <a:p>
            <a:pPr>
              <a:spcBef>
                <a:spcPts val="1100"/>
              </a:spcBef>
            </a:pPr>
            <a:r>
              <a:rPr sz="2100">
                <a:solidFill>
                  <a:srgbClr val="1A1F2B"/>
                </a:solidFill>
              </a:rPr>
              <a:t>•  Setiap klaim di laporan harus bisa Anda pertanggungjawabkan saat ditanya</a:t>
            </a:r>
          </a:p>
          <a:p>
            <a:pPr lvl="1">
              <a:spcBef>
                <a:spcPts val="300"/>
              </a:spcBef>
            </a:pPr>
            <a:r>
              <a:rPr sz="1800">
                <a:solidFill>
                  <a:srgbClr val="5A6372"/>
                </a:solidFill>
              </a:rPr>
              <a:t>–  klaim yang tidak bisa dijelaskan pemiliknya dinilai 0 — meskipun angkanya kebetulan benar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AI itu alat untuk mengerti — bukan pengganti mengerti.</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Kelas ini tidak melarang AI. Yang diatur adalah cara memakainya: sebagai alat belajar, bukan sebagai jalan pintas menyelesaikan tugas.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memakai AI yang membuat Anda paham</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Minta </a:t>
            </a:r>
            <a:r>
              <a:rPr sz="2000" b="1">
                <a:solidFill>
                  <a:srgbClr val="102545"/>
                </a:solidFill>
              </a:rPr>
              <a:t>penjelasan konsep</a:t>
            </a:r>
            <a:r>
              <a:rPr sz="2000">
                <a:solidFill>
                  <a:srgbClr val="1A1F2B"/>
                </a:solidFill>
              </a:rPr>
              <a:t> sampai Anda bisa mengulanginya dengan kalimat sendiri</a:t>
            </a:r>
          </a:p>
          <a:p>
            <a:pPr>
              <a:spcBef>
                <a:spcPts val="1100"/>
              </a:spcBef>
            </a:pPr>
            <a:r>
              <a:rPr sz="2000">
                <a:solidFill>
                  <a:srgbClr val="1A1F2B"/>
                </a:solidFill>
              </a:rPr>
              <a:t>•  Minta AI </a:t>
            </a:r>
            <a:r>
              <a:rPr sz="2000" b="1">
                <a:solidFill>
                  <a:srgbClr val="102545"/>
                </a:solidFill>
              </a:rPr>
              <a:t>menanyai Anda balik</a:t>
            </a:r>
            <a:r>
              <a:rPr sz="2000">
                <a:solidFill>
                  <a:srgbClr val="1A1F2B"/>
                </a:solidFill>
              </a:rPr>
              <a:t> — </a:t>
            </a:r>
            <a:r>
              <a:rPr sz="2000" i="1">
                <a:solidFill>
                  <a:srgbClr val="1A1F2B"/>
                </a:solidFill>
              </a:rPr>
              <a:t>"uji saya soal data leakage"</a:t>
            </a:r>
            <a:r>
              <a:rPr sz="2000">
                <a:solidFill>
                  <a:srgbClr val="1A1F2B"/>
                </a:solidFill>
              </a:rPr>
              <a:t> — lalu jawab tanpa melihat</a:t>
            </a:r>
          </a:p>
          <a:p>
            <a:pPr>
              <a:spcBef>
                <a:spcPts val="1100"/>
              </a:spcBef>
            </a:pPr>
            <a:r>
              <a:rPr sz="2000">
                <a:solidFill>
                  <a:srgbClr val="1A1F2B"/>
                </a:solidFill>
              </a:rPr>
              <a:t>•  Minta </a:t>
            </a:r>
            <a:r>
              <a:rPr sz="2000" b="1">
                <a:solidFill>
                  <a:srgbClr val="102545"/>
                </a:solidFill>
              </a:rPr>
              <a:t>dua pendekatan berbeda</a:t>
            </a:r>
            <a:r>
              <a:rPr sz="2000">
                <a:solidFill>
                  <a:srgbClr val="1A1F2B"/>
                </a:solidFill>
              </a:rPr>
              <a:t>, lalu Anda yang memutuskan mana yang cocok, dan bisa menjelaskan kenapa</a:t>
            </a:r>
          </a:p>
          <a:p>
            <a:pPr>
              <a:spcBef>
                <a:spcPts val="1100"/>
              </a:spcBef>
            </a:pPr>
            <a:r>
              <a:rPr sz="2000">
                <a:solidFill>
                  <a:srgbClr val="1A1F2B"/>
                </a:solidFill>
              </a:rPr>
              <a:t>•  Pakai AI untuk </a:t>
            </a:r>
            <a:r>
              <a:rPr sz="2000" b="1">
                <a:solidFill>
                  <a:srgbClr val="102545"/>
                </a:solidFill>
              </a:rPr>
              <a:t>menemukan bug</a:t>
            </a:r>
            <a:r>
              <a:rPr sz="2000">
                <a:solidFill>
                  <a:srgbClr val="1A1F2B"/>
                </a:solidFill>
              </a:rPr>
              <a:t>, lalu perbaiki sendiri supaya Anda tahu penyebabnya</a:t>
            </a:r>
          </a:p>
          <a:p>
            <a:pPr>
              <a:spcBef>
                <a:spcPts val="1100"/>
              </a:spcBef>
            </a:pPr>
            <a:r>
              <a:rPr sz="2000">
                <a:solidFill>
                  <a:srgbClr val="1A1F2B"/>
                </a:solidFill>
              </a:rPr>
              <a:t>•  Selesai mengerjakan: </a:t>
            </a:r>
            <a:r>
              <a:rPr sz="2000" b="1">
                <a:solidFill>
                  <a:srgbClr val="102545"/>
                </a:solidFill>
              </a:rPr>
              <a:t>tutup AI-nya</a:t>
            </a:r>
            <a:r>
              <a:rPr sz="2000">
                <a:solidFill>
                  <a:srgbClr val="1A1F2B"/>
                </a:solidFill>
              </a:rPr>
              <a:t>, lalu jelaskan ulang notebook Anda dari nol</a:t>
            </a:r>
          </a:p>
          <a:p>
            <a:pPr>
              <a:spcBef>
                <a:spcPts val="1100"/>
              </a:spcBef>
            </a:pPr>
          </a:p>
          <a:p>
            <a:pPr>
              <a:spcBef>
                <a:spcPts val="1100"/>
              </a:spcBef>
            </a:pPr>
            <a:r>
              <a:rPr sz="2000">
                <a:solidFill>
                  <a:srgbClr val="1A1F2B"/>
                </a:solidFill>
              </a:rPr>
              <a:t>•  Semua ini menambah pemahaman. Menempel jawaban jadi tidak.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Batasnya</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Aturan ini turunan dari prinsipnya, bukan daftar larangan yang berdiri sendiri.</a:t>
            </a:r>
          </a:p>
        </p:txBody>
      </p:sp>
      <p:graphicFrame>
        <p:nvGraphicFramePr>
          <p:cNvPr id="6" name="Table 5"/>
          <p:cNvGraphicFramePr>
            <a:graphicFrameLocks noGrp="1"/>
          </p:cNvGraphicFramePr>
          <p:nvPr/>
        </p:nvGraphicFramePr>
        <p:xfrm>
          <a:off x="777240" y="1783080"/>
          <a:ext cx="10652759" cy="1627632"/>
        </p:xfrm>
        <a:graphic>
          <a:graphicData uri="http://schemas.openxmlformats.org/drawingml/2006/table">
            <a:tbl>
              <a:tblPr firstRow="1" bandRow="1">
                <a:tableStyleId>{5C22544A-7EE6-4342-B048-85BDC9FD1C3A}</a:tableStyleId>
              </a:tblPr>
              <a:tblGrid>
                <a:gridCol w="2166663"/>
                <a:gridCol w="8486096"/>
              </a:tblGrid>
              <a:tr h="406908">
                <a:tc>
                  <a:txBody>
                    <a:bodyPr/>
                    <a:lstStyle/>
                    <a:p>
                      <a:pPr>
                        <a:defRPr sz="1700" b="1">
                          <a:solidFill>
                            <a:srgbClr val="FFFFFF"/>
                          </a:solidFill>
                        </a:defRPr>
                      </a:pPr>
                    </a:p>
                  </a:txBody>
                  <a:tcPr anchor="ctr">
                    <a:solidFill>
                      <a:srgbClr val="102545"/>
                    </a:solidFill>
                  </a:tcPr>
                </a:tc>
                <a:tc>
                  <a:txBody>
                    <a:bodyPr/>
                    <a:lstStyle/>
                    <a:p>
                      <a:pPr>
                        <a:defRPr sz="1700" b="1">
                          <a:solidFill>
                            <a:srgbClr val="FFFFFF"/>
                          </a:solidFill>
                        </a:defRPr>
                      </a:pPr>
                      <a:r>
                        <a:t>Aturan</a:t>
                      </a:r>
                    </a:p>
                  </a:txBody>
                  <a:tcPr anchor="ctr">
                    <a:solidFill>
                      <a:srgbClr val="102545"/>
                    </a:solidFill>
                  </a:tcPr>
                </a:tc>
              </a:tr>
              <a:tr h="406908">
                <a:tc>
                  <a:txBody>
                    <a:bodyPr/>
                    <a:lstStyle/>
                    <a:p>
                      <a:pPr>
                        <a:defRPr sz="1700" b="1">
                          <a:solidFill>
                            <a:srgbClr val="102545"/>
                          </a:solidFill>
                        </a:defRPr>
                      </a:pPr>
                      <a:r>
                        <a:t>BOLEH</a:t>
                      </a:r>
                    </a:p>
                  </a:txBody>
                  <a:tcPr anchor="ctr">
                    <a:solidFill>
                      <a:srgbClr val="F5F7FA"/>
                    </a:solidFill>
                  </a:tcPr>
                </a:tc>
                <a:tc>
                  <a:txBody>
                    <a:bodyPr/>
                    <a:lstStyle/>
                    <a:p>
                      <a:pPr>
                        <a:defRPr sz="1700" b="0">
                          <a:solidFill>
                            <a:srgbClr val="1A1F2B"/>
                          </a:solidFill>
                        </a:defRPr>
                      </a:pPr>
                      <a:r>
                        <a:t>Boilerplate kode · debugging pesan error · menjelaskan konsep · merapikan bahasa laporan</a:t>
                      </a:r>
                    </a:p>
                  </a:txBody>
                  <a:tcPr anchor="ctr">
                    <a:solidFill>
                      <a:srgbClr val="F5F7FA"/>
                    </a:solidFill>
                  </a:tcPr>
                </a:tc>
              </a:tr>
              <a:tr h="406908">
                <a:tc>
                  <a:txBody>
                    <a:bodyPr/>
                    <a:lstStyle/>
                    <a:p>
                      <a:pPr>
                        <a:defRPr sz="1700" b="1">
                          <a:solidFill>
                            <a:srgbClr val="102545"/>
                          </a:solidFill>
                        </a:defRPr>
                      </a:pPr>
                      <a:r>
                        <a:t>TIDAK BOLEH</a:t>
                      </a:r>
                    </a:p>
                  </a:txBody>
                  <a:tcPr anchor="ctr">
                    <a:solidFill>
                      <a:srgbClr val="FFFFFF"/>
                    </a:solidFill>
                  </a:tcPr>
                </a:tc>
                <a:tc>
                  <a:txBody>
                    <a:bodyPr/>
                    <a:lstStyle/>
                    <a:p>
                      <a:pPr>
                        <a:defRPr sz="1700" b="0">
                          <a:solidFill>
                            <a:srgbClr val="1A1F2B"/>
                          </a:solidFill>
                        </a:defRPr>
                      </a:pPr>
                      <a:r>
                        <a:t>Menulis analisis / insight / kesimpulan otomatis tanpa Anda verifikasi;  menyerahkan kode yang belum pernah Anda jalankan</a:t>
                      </a:r>
                    </a:p>
                  </a:txBody>
                  <a:tcPr anchor="ctr">
                    <a:solidFill>
                      <a:srgbClr val="FFFFFF"/>
                    </a:solidFill>
                  </a:tcPr>
                </a:tc>
              </a:tr>
              <a:tr h="406908">
                <a:tc>
                  <a:txBody>
                    <a:bodyPr/>
                    <a:lstStyle/>
                    <a:p>
                      <a:pPr>
                        <a:defRPr sz="1700" b="1">
                          <a:solidFill>
                            <a:srgbClr val="102545"/>
                          </a:solidFill>
                        </a:defRPr>
                      </a:pPr>
                      <a:r>
                        <a:t>WAJIB</a:t>
                      </a:r>
                    </a:p>
                  </a:txBody>
                  <a:tcPr anchor="ctr">
                    <a:solidFill>
                      <a:srgbClr val="F5F7FA"/>
                    </a:solidFill>
                  </a:tcPr>
                </a:tc>
                <a:tc>
                  <a:txBody>
                    <a:bodyPr/>
                    <a:lstStyle/>
                    <a:p>
                      <a:pPr>
                        <a:defRPr sz="1700" b="0">
                          <a:solidFill>
                            <a:srgbClr val="1A1F2B"/>
                          </a:solidFill>
                        </a:defRPr>
                      </a:pPr>
                      <a:r>
                        <a:t>Disclosure di akhir notebook: alat apa, untuk bagian mana. Satu paragraf cukup</a:t>
                      </a:r>
                    </a:p>
                  </a:txBody>
                  <a:tcPr anchor="ctr">
                    <a:solidFill>
                      <a:srgbClr val="F5F7F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B32D2D"/>
                </a:solidFill>
              </a:defRPr>
            </a:pPr>
            <a:r>
              <a:t>Yang rusak dari AI biasanya bukan kodenya.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Kode yang salah gagal jalan dan langsung ketahuan. Yang berbahaya adalah kalimat yang terdengar benar padahal isinya karangan — metode yang tidak sesuai sumbernya, angka yang bukan dari eksperimen Anda, rujukan yang tidak pernah ada.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Kalau AI-nya dimatikan sekarang,</a:t>
            </a:r>
            <a:br/>
            <a:r>
              <a:t>apakah Anda masih bisa menjelaskan pekerjaan Anda?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Kalau tidak, Anda belum belajar — Anda baru menyalin. Itu satu-satunya uji yang perlu Anda ingat, dan itu juga yang akan saya tanyakan saat menilai.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Komunikasi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Pertanyaan teknis diarahkan ke forum, bukan japri — satu jawaban menolong banyak orang.</a:t>
            </a:r>
          </a:p>
        </p:txBody>
      </p:sp>
      <p:graphicFrame>
        <p:nvGraphicFramePr>
          <p:cNvPr id="6" name="Table 5"/>
          <p:cNvGraphicFramePr>
            <a:graphicFrameLocks noGrp="1"/>
          </p:cNvGraphicFramePr>
          <p:nvPr/>
        </p:nvGraphicFramePr>
        <p:xfrm>
          <a:off x="777240" y="1783080"/>
          <a:ext cx="10652758" cy="1993392"/>
        </p:xfrm>
        <a:graphic>
          <a:graphicData uri="http://schemas.openxmlformats.org/drawingml/2006/table">
            <a:tbl>
              <a:tblPr firstRow="1" bandRow="1">
                <a:tableStyleId>{5C22544A-7EE6-4342-B048-85BDC9FD1C3A}</a:tableStyleId>
              </a:tblPr>
              <a:tblGrid>
                <a:gridCol w="2571355"/>
                <a:gridCol w="5693716"/>
                <a:gridCol w="2387687"/>
              </a:tblGrid>
              <a:tr h="398678">
                <a:tc>
                  <a:txBody>
                    <a:bodyPr/>
                    <a:lstStyle/>
                    <a:p>
                      <a:pPr>
                        <a:defRPr sz="1800" b="1">
                          <a:solidFill>
                            <a:srgbClr val="FFFFFF"/>
                          </a:solidFill>
                        </a:defRPr>
                      </a:pPr>
                      <a:r>
                        <a:t>Saluran</a:t>
                      </a:r>
                    </a:p>
                  </a:txBody>
                  <a:tcPr anchor="ctr">
                    <a:solidFill>
                      <a:srgbClr val="102545"/>
                    </a:solidFill>
                  </a:tcPr>
                </a:tc>
                <a:tc>
                  <a:txBody>
                    <a:bodyPr/>
                    <a:lstStyle/>
                    <a:p>
                      <a:pPr>
                        <a:defRPr sz="1800" b="1">
                          <a:solidFill>
                            <a:srgbClr val="FFFFFF"/>
                          </a:solidFill>
                        </a:defRPr>
                      </a:pPr>
                      <a:r>
                        <a:t>Untuk apa</a:t>
                      </a:r>
                    </a:p>
                  </a:txBody>
                  <a:tcPr anchor="ctr">
                    <a:solidFill>
                      <a:srgbClr val="102545"/>
                    </a:solidFill>
                  </a:tcPr>
                </a:tc>
                <a:tc>
                  <a:txBody>
                    <a:bodyPr/>
                    <a:lstStyle/>
                    <a:p>
                      <a:pPr>
                        <a:defRPr sz="1800" b="1">
                          <a:solidFill>
                            <a:srgbClr val="FFFFFF"/>
                          </a:solidFill>
                        </a:defRPr>
                      </a:pPr>
                      <a:r>
                        <a:t>Waktu tanggap</a:t>
                      </a:r>
                    </a:p>
                  </a:txBody>
                  <a:tcPr anchor="ctr">
                    <a:solidFill>
                      <a:srgbClr val="102545"/>
                    </a:solidFill>
                  </a:tcPr>
                </a:tc>
              </a:tr>
              <a:tr h="398678">
                <a:tc>
                  <a:txBody>
                    <a:bodyPr/>
                    <a:lstStyle/>
                    <a:p>
                      <a:pPr>
                        <a:defRPr sz="1800" b="1">
                          <a:solidFill>
                            <a:srgbClr val="102545"/>
                          </a:solidFill>
                        </a:defRPr>
                      </a:pPr>
                      <a:r>
                        <a:t>Forum eBelajar</a:t>
                      </a:r>
                    </a:p>
                  </a:txBody>
                  <a:tcPr anchor="ctr">
                    <a:solidFill>
                      <a:srgbClr val="F5F7FA"/>
                    </a:solidFill>
                  </a:tcPr>
                </a:tc>
                <a:tc>
                  <a:txBody>
                    <a:bodyPr/>
                    <a:lstStyle/>
                    <a:p>
                      <a:pPr>
                        <a:defRPr sz="1800" b="0">
                          <a:solidFill>
                            <a:srgbClr val="1A1F2B"/>
                          </a:solidFill>
                        </a:defRPr>
                      </a:pPr>
                      <a:r>
                        <a:t>Pertanyaan teknis &amp; materi</a:t>
                      </a:r>
                    </a:p>
                  </a:txBody>
                  <a:tcPr anchor="ctr">
                    <a:solidFill>
                      <a:srgbClr val="F5F7FA"/>
                    </a:solidFill>
                  </a:tcPr>
                </a:tc>
                <a:tc>
                  <a:txBody>
                    <a:bodyPr/>
                    <a:lstStyle/>
                    <a:p>
                      <a:pPr>
                        <a:defRPr sz="1800" b="0">
                          <a:solidFill>
                            <a:srgbClr val="1A1F2B"/>
                          </a:solidFill>
                        </a:defRPr>
                      </a:pPr>
                      <a:r>
                        <a:t>Hari kerja, ≤ 1×24 jam</a:t>
                      </a:r>
                    </a:p>
                  </a:txBody>
                  <a:tcPr anchor="ctr">
                    <a:solidFill>
                      <a:srgbClr val="F5F7FA"/>
                    </a:solidFill>
                  </a:tcPr>
                </a:tc>
              </a:tr>
              <a:tr h="398678">
                <a:tc>
                  <a:txBody>
                    <a:bodyPr/>
                    <a:lstStyle/>
                    <a:p>
                      <a:pPr>
                        <a:defRPr sz="1800" b="1">
                          <a:solidFill>
                            <a:srgbClr val="102545"/>
                          </a:solidFill>
                        </a:defRPr>
                      </a:pPr>
                      <a:r>
                        <a:t>Grup WhatsApp</a:t>
                      </a:r>
                    </a:p>
                  </a:txBody>
                  <a:tcPr anchor="ctr">
                    <a:solidFill>
                      <a:srgbClr val="FFFFFF"/>
                    </a:solidFill>
                  </a:tcPr>
                </a:tc>
                <a:tc>
                  <a:txBody>
                    <a:bodyPr/>
                    <a:lstStyle/>
                    <a:p>
                      <a:pPr>
                        <a:defRPr sz="1800" b="0">
                          <a:solidFill>
                            <a:srgbClr val="1A1F2B"/>
                          </a:solidFill>
                        </a:defRPr>
                      </a:pPr>
                      <a:r>
                        <a:t>Pengumuman mendadak, koordinasi</a:t>
                      </a:r>
                    </a:p>
                  </a:txBody>
                  <a:tcPr anchor="ctr">
                    <a:solidFill>
                      <a:srgbClr val="FFFFFF"/>
                    </a:solidFill>
                  </a:tcPr>
                </a:tc>
                <a:tc>
                  <a:txBody>
                    <a:bodyPr/>
                    <a:lstStyle/>
                    <a:p>
                      <a:pPr>
                        <a:defRPr sz="1800" b="0">
                          <a:solidFill>
                            <a:srgbClr val="1A1F2B"/>
                          </a:solidFill>
                        </a:defRPr>
                      </a:pPr>
                      <a:r>
                        <a:t>—</a:t>
                      </a:r>
                    </a:p>
                  </a:txBody>
                  <a:tcPr anchor="ctr">
                    <a:solidFill>
                      <a:srgbClr val="FFFFFF"/>
                    </a:solidFill>
                  </a:tcPr>
                </a:tc>
              </a:tr>
              <a:tr h="398678">
                <a:tc>
                  <a:txBody>
                    <a:bodyPr/>
                    <a:lstStyle/>
                    <a:p>
                      <a:pPr>
                        <a:defRPr sz="1800" b="1">
                          <a:solidFill>
                            <a:srgbClr val="102545"/>
                          </a:solidFill>
                        </a:defRPr>
                      </a:pPr>
                      <a:r>
                        <a:t>Forum Pengumuman</a:t>
                      </a:r>
                    </a:p>
                  </a:txBody>
                  <a:tcPr anchor="ctr">
                    <a:solidFill>
                      <a:srgbClr val="F5F7FA"/>
                    </a:solidFill>
                  </a:tcPr>
                </a:tc>
                <a:tc>
                  <a:txBody>
                    <a:bodyPr/>
                    <a:lstStyle/>
                    <a:p>
                      <a:pPr>
                        <a:defRPr sz="1800" b="0">
                          <a:solidFill>
                            <a:srgbClr val="1A1F2B"/>
                          </a:solidFill>
                        </a:defRPr>
                      </a:pPr>
                      <a:r>
                        <a:t>Perubahan jadwal, informasi resmi</a:t>
                      </a:r>
                    </a:p>
                  </a:txBody>
                  <a:tcPr anchor="ctr">
                    <a:solidFill>
                      <a:srgbClr val="F5F7FA"/>
                    </a:solidFill>
                  </a:tcPr>
                </a:tc>
                <a:tc>
                  <a:txBody>
                    <a:bodyPr/>
                    <a:lstStyle/>
                    <a:p>
                      <a:pPr>
                        <a:defRPr sz="1800" b="0">
                          <a:solidFill>
                            <a:srgbClr val="1A1F2B"/>
                          </a:solidFill>
                        </a:defRPr>
                      </a:pPr>
                      <a:r>
                        <a:t>—</a:t>
                      </a:r>
                    </a:p>
                  </a:txBody>
                  <a:tcPr anchor="ctr">
                    <a:solidFill>
                      <a:srgbClr val="F5F7FA"/>
                    </a:solidFill>
                  </a:tcPr>
                </a:tc>
              </a:tr>
              <a:tr h="398680">
                <a:tc>
                  <a:txBody>
                    <a:bodyPr/>
                    <a:lstStyle/>
                    <a:p>
                      <a:pPr>
                        <a:defRPr sz="1800" b="1">
                          <a:solidFill>
                            <a:srgbClr val="102545"/>
                          </a:solidFill>
                        </a:defRPr>
                      </a:pPr>
                      <a:r>
                        <a:t>Konsultasi daring</a:t>
                      </a:r>
                    </a:p>
                  </a:txBody>
                  <a:tcPr anchor="ctr">
                    <a:solidFill>
                      <a:srgbClr val="FFFFFF"/>
                    </a:solidFill>
                  </a:tcPr>
                </a:tc>
                <a:tc>
                  <a:txBody>
                    <a:bodyPr/>
                    <a:lstStyle/>
                    <a:p>
                      <a:pPr>
                        <a:defRPr sz="1800" b="0">
                          <a:solidFill>
                            <a:srgbClr val="1A1F2B"/>
                          </a:solidFill>
                        </a:defRPr>
                      </a:pPr>
                      <a:r>
                        <a:t>Konsultasi proyek — ajukan lewat forum</a:t>
                      </a:r>
                    </a:p>
                  </a:txBody>
                  <a:tcPr anchor="ctr">
                    <a:solidFill>
                      <a:srgbClr val="FFFFFF"/>
                    </a:solidFill>
                  </a:tcPr>
                </a:tc>
                <a:tc>
                  <a:txBody>
                    <a:bodyPr/>
                    <a:lstStyle/>
                    <a:p>
                      <a:pPr>
                        <a:defRPr sz="1800" b="0">
                          <a:solidFill>
                            <a:srgbClr val="1A1F2B"/>
                          </a:solidFill>
                        </a:defRPr>
                      </a:pPr>
                      <a:r>
                        <a:t>—</a:t>
                      </a:r>
                    </a:p>
                  </a:txBody>
                  <a:tcPr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Referensi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Géron, A. (2017)</a:t>
            </a:r>
            <a:r>
              <a:rPr sz="2000">
                <a:solidFill>
                  <a:srgbClr val="1A1F2B"/>
                </a:solidFill>
              </a:rPr>
              <a:t> — </a:t>
            </a:r>
            <a:r>
              <a:rPr sz="2000" i="1">
                <a:solidFill>
                  <a:srgbClr val="1A1F2B"/>
                </a:solidFill>
              </a:rPr>
              <a:t>Hands-On Machine Learning with Scikit-Learn and TensorFlow</a:t>
            </a:r>
            <a:r>
              <a:rPr sz="2000">
                <a:solidFill>
                  <a:srgbClr val="1A1F2B"/>
                </a:solidFill>
              </a:rPr>
              <a:t>, O'Reilly</a:t>
            </a:r>
          </a:p>
          <a:p>
            <a:pPr lvl="1">
              <a:spcBef>
                <a:spcPts val="300"/>
              </a:spcBef>
            </a:pPr>
            <a:r>
              <a:rPr sz="1700">
                <a:solidFill>
                  <a:srgbClr val="5A6372"/>
                </a:solidFill>
              </a:rPr>
              <a:t>–  buku pegangan utama kelas ini</a:t>
            </a:r>
          </a:p>
          <a:p>
            <a:pPr>
              <a:spcBef>
                <a:spcPts val="1100"/>
              </a:spcBef>
            </a:pPr>
            <a:r>
              <a:rPr sz="2000">
                <a:solidFill>
                  <a:srgbClr val="1A1F2B"/>
                </a:solidFill>
              </a:rPr>
              <a:t>•  </a:t>
            </a:r>
            <a:r>
              <a:rPr sz="2000" b="1">
                <a:solidFill>
                  <a:srgbClr val="102545"/>
                </a:solidFill>
              </a:rPr>
              <a:t>Goodfellow, Bengio &amp; Courville (2016)</a:t>
            </a:r>
            <a:r>
              <a:rPr sz="2000">
                <a:solidFill>
                  <a:srgbClr val="1A1F2B"/>
                </a:solidFill>
              </a:rPr>
              <a:t> — </a:t>
            </a:r>
            <a:r>
              <a:rPr sz="2000" i="1">
                <a:solidFill>
                  <a:srgbClr val="1A1F2B"/>
                </a:solidFill>
              </a:rPr>
              <a:t>Deep Learning</a:t>
            </a:r>
            <a:r>
              <a:rPr sz="2000">
                <a:solidFill>
                  <a:srgbClr val="1A1F2B"/>
                </a:solidFill>
              </a:rPr>
              <a:t>, MIT Press</a:t>
            </a:r>
          </a:p>
          <a:p>
            <a:pPr>
              <a:spcBef>
                <a:spcPts val="1100"/>
              </a:spcBef>
            </a:pPr>
            <a:r>
              <a:rPr sz="2000">
                <a:solidFill>
                  <a:srgbClr val="1A1F2B"/>
                </a:solidFill>
              </a:rPr>
              <a:t>•  </a:t>
            </a:r>
            <a:r>
              <a:rPr sz="2000" b="1">
                <a:solidFill>
                  <a:srgbClr val="102545"/>
                </a:solidFill>
              </a:rPr>
              <a:t>Sutton &amp; Barto (2018)</a:t>
            </a:r>
            <a:r>
              <a:rPr sz="2000">
                <a:solidFill>
                  <a:srgbClr val="1A1F2B"/>
                </a:solidFill>
              </a:rPr>
              <a:t> — </a:t>
            </a:r>
            <a:r>
              <a:rPr sz="2000" i="1">
                <a:solidFill>
                  <a:srgbClr val="1A1F2B"/>
                </a:solidFill>
              </a:rPr>
              <a:t>Reinforcement Learning: An Introduction</a:t>
            </a:r>
            <a:r>
              <a:rPr sz="2000">
                <a:solidFill>
                  <a:srgbClr val="1A1F2B"/>
                </a:solidFill>
              </a:rPr>
              <a:t>, MIT Press</a:t>
            </a:r>
          </a:p>
          <a:p>
            <a:pPr>
              <a:spcBef>
                <a:spcPts val="1100"/>
              </a:spcBef>
            </a:pPr>
          </a:p>
          <a:p>
            <a:pPr>
              <a:spcBef>
                <a:spcPts val="1100"/>
              </a:spcBef>
            </a:pPr>
            <a:r>
              <a:rPr sz="2000">
                <a:solidFill>
                  <a:srgbClr val="1A1F2B"/>
                </a:solidFill>
              </a:rPr>
              <a:t>•  Pendukung: Kuhn &amp; Johnson (2019) · dokumentasi scikit-learn &amp; PyTorch/TensorFlow · MachineLearningMastery.com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2</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Kenapa Machine Learning?</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Dan kenapa kita mulai dari data, bukan dari algoritma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Model bagus tidak menyelamatkan data buruk.</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70–80% waktu sebuah proyek machine learning habis di data — bukan di pemilihan algoritma. Itu sebabnya pertemuan pertama kita bukan tentang model.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itu Machine Learning?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200">
                <a:solidFill>
                  <a:srgbClr val="1A1F2B"/>
                </a:solidFill>
              </a:rPr>
              <a:t>•  Cabang kecerdasan buatan yang membuat komputer </a:t>
            </a:r>
            <a:r>
              <a:rPr sz="2200" b="1">
                <a:solidFill>
                  <a:srgbClr val="102545"/>
                </a:solidFill>
              </a:rPr>
              <a:t>belajar dari data</a:t>
            </a:r>
            <a:r>
              <a:rPr sz="2200">
                <a:solidFill>
                  <a:srgbClr val="1A1F2B"/>
                </a:solidFill>
              </a:rPr>
              <a:t>, bukan dari aturan yang kita tulis satu per satu</a:t>
            </a:r>
          </a:p>
          <a:p>
            <a:pPr>
              <a:spcBef>
                <a:spcPts val="1100"/>
              </a:spcBef>
            </a:pPr>
          </a:p>
          <a:p>
            <a:pPr>
              <a:spcBef>
                <a:spcPts val="1100"/>
              </a:spcBef>
            </a:pPr>
            <a:r>
              <a:rPr sz="2200">
                <a:solidFill>
                  <a:srgbClr val="1A1F2B"/>
                </a:solidFill>
              </a:rPr>
              <a:t>•  </a:t>
            </a:r>
            <a:r>
              <a:rPr sz="2200" b="1">
                <a:solidFill>
                  <a:srgbClr val="102545"/>
                </a:solidFill>
              </a:rPr>
              <a:t>Pemrograman biasa:</a:t>
            </a:r>
            <a:r>
              <a:rPr sz="2200">
                <a:solidFill>
                  <a:srgbClr val="1A1F2B"/>
                </a:solidFill>
              </a:rPr>
              <a:t>    aturan  +  data   →   jawaban</a:t>
            </a:r>
          </a:p>
          <a:p>
            <a:pPr>
              <a:spcBef>
                <a:spcPts val="1100"/>
              </a:spcBef>
            </a:pPr>
            <a:r>
              <a:rPr sz="2200">
                <a:solidFill>
                  <a:srgbClr val="1A1F2B"/>
                </a:solidFill>
              </a:rPr>
              <a:t>•  </a:t>
            </a:r>
            <a:r>
              <a:rPr sz="2200" b="1">
                <a:solidFill>
                  <a:srgbClr val="102545"/>
                </a:solidFill>
              </a:rPr>
              <a:t>Machine Learning:</a:t>
            </a:r>
            <a:r>
              <a:rPr sz="2200">
                <a:solidFill>
                  <a:srgbClr val="1A1F2B"/>
                </a:solidFill>
              </a:rPr>
              <a:t>      data  +  jawaban   →   </a:t>
            </a:r>
            <a:r>
              <a:rPr sz="2200" b="1">
                <a:solidFill>
                  <a:srgbClr val="102545"/>
                </a:solidFill>
              </a:rPr>
              <a:t>aturan</a:t>
            </a:r>
          </a:p>
          <a:p>
            <a:pPr>
              <a:spcBef>
                <a:spcPts val="1100"/>
              </a:spcBef>
            </a:pPr>
          </a:p>
          <a:p>
            <a:pPr>
              <a:spcBef>
                <a:spcPts val="1100"/>
              </a:spcBef>
            </a:pPr>
            <a:r>
              <a:rPr sz="2200">
                <a:solidFill>
                  <a:srgbClr val="1A1F2B"/>
                </a:solidFill>
              </a:rPr>
              <a:t>•  Kita tidak memberi tahu mesin </a:t>
            </a:r>
            <a:r>
              <a:rPr sz="2200" i="1">
                <a:solidFill>
                  <a:srgbClr val="1A1F2B"/>
                </a:solidFill>
              </a:rPr>
              <a:t>bagaimana</a:t>
            </a:r>
            <a:r>
              <a:rPr sz="2200">
                <a:solidFill>
                  <a:srgbClr val="1A1F2B"/>
                </a:solidFill>
              </a:rPr>
              <a:t> caranya. Kita memberi contoh, lalu mesin menemukan polanya sendiri.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Tiga paradigma yang akan kita pelajari</a:t>
            </a:r>
          </a:p>
        </p:txBody>
      </p:sp>
      <p:graphicFrame>
        <p:nvGraphicFramePr>
          <p:cNvPr id="5" name="Table 4"/>
          <p:cNvGraphicFramePr>
            <a:graphicFrameLocks noGrp="1"/>
          </p:cNvGraphicFramePr>
          <p:nvPr/>
        </p:nvGraphicFramePr>
        <p:xfrm>
          <a:off x="777240" y="1371600"/>
          <a:ext cx="10652759" cy="1627632"/>
        </p:xfrm>
        <a:graphic>
          <a:graphicData uri="http://schemas.openxmlformats.org/drawingml/2006/table">
            <a:tbl>
              <a:tblPr firstRow="1" bandRow="1">
                <a:tableStyleId>{5C22544A-7EE6-4342-B048-85BDC9FD1C3A}</a:tableStyleId>
              </a:tblPr>
              <a:tblGrid>
                <a:gridCol w="2166663"/>
                <a:gridCol w="2347218"/>
                <a:gridCol w="4694436"/>
                <a:gridCol w="1444442"/>
              </a:tblGrid>
              <a:tr h="406908">
                <a:tc>
                  <a:txBody>
                    <a:bodyPr/>
                    <a:lstStyle/>
                    <a:p>
                      <a:pPr>
                        <a:defRPr sz="1700" b="1">
                          <a:solidFill>
                            <a:srgbClr val="FFFFFF"/>
                          </a:solidFill>
                        </a:defRPr>
                      </a:pPr>
                      <a:r>
                        <a:t>Paradigma</a:t>
                      </a:r>
                    </a:p>
                  </a:txBody>
                  <a:tcPr anchor="ctr">
                    <a:solidFill>
                      <a:srgbClr val="102545"/>
                    </a:solidFill>
                  </a:tcPr>
                </a:tc>
                <a:tc>
                  <a:txBody>
                    <a:bodyPr/>
                    <a:lstStyle/>
                    <a:p>
                      <a:pPr>
                        <a:defRPr sz="1700" b="1">
                          <a:solidFill>
                            <a:srgbClr val="FFFFFF"/>
                          </a:solidFill>
                        </a:defRPr>
                      </a:pPr>
                      <a:r>
                        <a:t>Data latih</a:t>
                      </a:r>
                    </a:p>
                  </a:txBody>
                  <a:tcPr anchor="ctr">
                    <a:solidFill>
                      <a:srgbClr val="102545"/>
                    </a:solidFill>
                  </a:tcPr>
                </a:tc>
                <a:tc>
                  <a:txBody>
                    <a:bodyPr/>
                    <a:lstStyle/>
                    <a:p>
                      <a:pPr>
                        <a:defRPr sz="1700" b="1">
                          <a:solidFill>
                            <a:srgbClr val="FFFFFF"/>
                          </a:solidFill>
                        </a:defRPr>
                      </a:pPr>
                      <a:r>
                        <a:t>Contoh</a:t>
                      </a:r>
                    </a:p>
                  </a:txBody>
                  <a:tcPr anchor="ctr">
                    <a:solidFill>
                      <a:srgbClr val="102545"/>
                    </a:solidFill>
                  </a:tcPr>
                </a:tc>
                <a:tc>
                  <a:txBody>
                    <a:bodyPr/>
                    <a:lstStyle/>
                    <a:p>
                      <a:pPr>
                        <a:defRPr sz="1700" b="1">
                          <a:solidFill>
                            <a:srgbClr val="FFFFFF"/>
                          </a:solidFill>
                        </a:defRPr>
                      </a:pPr>
                      <a:r>
                        <a:t>Pertemuan</a:t>
                      </a:r>
                    </a:p>
                  </a:txBody>
                  <a:tcPr anchor="ctr">
                    <a:solidFill>
                      <a:srgbClr val="102545"/>
                    </a:solidFill>
                  </a:tcPr>
                </a:tc>
              </a:tr>
              <a:tr h="406908">
                <a:tc>
                  <a:txBody>
                    <a:bodyPr/>
                    <a:lstStyle/>
                    <a:p>
                      <a:pPr>
                        <a:defRPr sz="1700" b="1">
                          <a:solidFill>
                            <a:srgbClr val="102545"/>
                          </a:solidFill>
                        </a:defRPr>
                      </a:pPr>
                      <a:r>
                        <a:t>Supervised</a:t>
                      </a:r>
                    </a:p>
                  </a:txBody>
                  <a:tcPr anchor="ctr">
                    <a:solidFill>
                      <a:srgbClr val="F5F7FA"/>
                    </a:solidFill>
                  </a:tcPr>
                </a:tc>
                <a:tc>
                  <a:txBody>
                    <a:bodyPr/>
                    <a:lstStyle/>
                    <a:p>
                      <a:pPr>
                        <a:defRPr sz="1700" b="0">
                          <a:solidFill>
                            <a:srgbClr val="1A1F2B"/>
                          </a:solidFill>
                        </a:defRPr>
                      </a:pPr>
                      <a:r>
                        <a:t>Punya label / jawaban</a:t>
                      </a:r>
                    </a:p>
                  </a:txBody>
                  <a:tcPr anchor="ctr">
                    <a:solidFill>
                      <a:srgbClr val="F5F7FA"/>
                    </a:solidFill>
                  </a:tcPr>
                </a:tc>
                <a:tc>
                  <a:txBody>
                    <a:bodyPr/>
                    <a:lstStyle/>
                    <a:p>
                      <a:pPr>
                        <a:defRPr sz="1700" b="0">
                          <a:solidFill>
                            <a:srgbClr val="1A1F2B"/>
                          </a:solidFill>
                        </a:defRPr>
                      </a:pPr>
                      <a:r>
                        <a:t>Prediksi harga, klasifikasi gambar, deteksi spam</a:t>
                      </a:r>
                    </a:p>
                  </a:txBody>
                  <a:tcPr anchor="ctr">
                    <a:solidFill>
                      <a:srgbClr val="F5F7FA"/>
                    </a:solidFill>
                  </a:tcPr>
                </a:tc>
                <a:tc>
                  <a:txBody>
                    <a:bodyPr/>
                    <a:lstStyle/>
                    <a:p>
                      <a:pPr>
                        <a:defRPr sz="1700" b="0">
                          <a:solidFill>
                            <a:srgbClr val="1A1F2B"/>
                          </a:solidFill>
                        </a:defRPr>
                      </a:pPr>
                      <a:r>
                        <a:t>1–11</a:t>
                      </a:r>
                    </a:p>
                  </a:txBody>
                  <a:tcPr anchor="ctr">
                    <a:solidFill>
                      <a:srgbClr val="F5F7FA"/>
                    </a:solidFill>
                  </a:tcPr>
                </a:tc>
              </a:tr>
              <a:tr h="406908">
                <a:tc>
                  <a:txBody>
                    <a:bodyPr/>
                    <a:lstStyle/>
                    <a:p>
                      <a:pPr>
                        <a:defRPr sz="1700" b="1">
                          <a:solidFill>
                            <a:srgbClr val="102545"/>
                          </a:solidFill>
                        </a:defRPr>
                      </a:pPr>
                      <a:r>
                        <a:t>Unsupervised</a:t>
                      </a:r>
                    </a:p>
                  </a:txBody>
                  <a:tcPr anchor="ctr">
                    <a:solidFill>
                      <a:srgbClr val="FFFFFF"/>
                    </a:solidFill>
                  </a:tcPr>
                </a:tc>
                <a:tc>
                  <a:txBody>
                    <a:bodyPr/>
                    <a:lstStyle/>
                    <a:p>
                      <a:pPr>
                        <a:defRPr sz="1700" b="0">
                          <a:solidFill>
                            <a:srgbClr val="1A1F2B"/>
                          </a:solidFill>
                        </a:defRPr>
                      </a:pPr>
                      <a:r>
                        <a:t>Tanpa label</a:t>
                      </a:r>
                    </a:p>
                  </a:txBody>
                  <a:tcPr anchor="ctr">
                    <a:solidFill>
                      <a:srgbClr val="FFFFFF"/>
                    </a:solidFill>
                  </a:tcPr>
                </a:tc>
                <a:tc>
                  <a:txBody>
                    <a:bodyPr/>
                    <a:lstStyle/>
                    <a:p>
                      <a:pPr>
                        <a:defRPr sz="1700" b="0">
                          <a:solidFill>
                            <a:srgbClr val="1A1F2B"/>
                          </a:solidFill>
                        </a:defRPr>
                      </a:pPr>
                      <a:r>
                        <a:t>Clustering pelanggan, deteksi anomali</a:t>
                      </a:r>
                    </a:p>
                  </a:txBody>
                  <a:tcPr anchor="ctr">
                    <a:solidFill>
                      <a:srgbClr val="FFFFFF"/>
                    </a:solidFill>
                  </a:tcPr>
                </a:tc>
                <a:tc>
                  <a:txBody>
                    <a:bodyPr/>
                    <a:lstStyle/>
                    <a:p>
                      <a:pPr>
                        <a:defRPr sz="1700" b="0">
                          <a:solidFill>
                            <a:srgbClr val="1A1F2B"/>
                          </a:solidFill>
                        </a:defRPr>
                      </a:pPr>
                      <a:r>
                        <a:t>sekilas</a:t>
                      </a:r>
                    </a:p>
                  </a:txBody>
                  <a:tcPr anchor="ctr">
                    <a:solidFill>
                      <a:srgbClr val="FFFFFF"/>
                    </a:solidFill>
                  </a:tcPr>
                </a:tc>
              </a:tr>
              <a:tr h="406908">
                <a:tc>
                  <a:txBody>
                    <a:bodyPr/>
                    <a:lstStyle/>
                    <a:p>
                      <a:pPr>
                        <a:defRPr sz="1700" b="1">
                          <a:solidFill>
                            <a:srgbClr val="102545"/>
                          </a:solidFill>
                        </a:defRPr>
                      </a:pPr>
                      <a:r>
                        <a:t>Reinforcement</a:t>
                      </a:r>
                    </a:p>
                  </a:txBody>
                  <a:tcPr anchor="ctr">
                    <a:solidFill>
                      <a:srgbClr val="F5F7FA"/>
                    </a:solidFill>
                  </a:tcPr>
                </a:tc>
                <a:tc>
                  <a:txBody>
                    <a:bodyPr/>
                    <a:lstStyle/>
                    <a:p>
                      <a:pPr>
                        <a:defRPr sz="1700" b="0">
                          <a:solidFill>
                            <a:srgbClr val="1A1F2B"/>
                          </a:solidFill>
                        </a:defRPr>
                      </a:pPr>
                      <a:r>
                        <a:t>Reward dari lingkungan</a:t>
                      </a:r>
                    </a:p>
                  </a:txBody>
                  <a:tcPr anchor="ctr">
                    <a:solidFill>
                      <a:srgbClr val="F5F7FA"/>
                    </a:solidFill>
                  </a:tcPr>
                </a:tc>
                <a:tc>
                  <a:txBody>
                    <a:bodyPr/>
                    <a:lstStyle/>
                    <a:p>
                      <a:pPr>
                        <a:defRPr sz="1700" b="0">
                          <a:solidFill>
                            <a:srgbClr val="1A1F2B"/>
                          </a:solidFill>
                        </a:defRPr>
                      </a:pPr>
                      <a:r>
                        <a:t>Agen main game, robot belajar berjalan</a:t>
                      </a:r>
                    </a:p>
                  </a:txBody>
                  <a:tcPr anchor="ctr">
                    <a:solidFill>
                      <a:srgbClr val="F5F7FA"/>
                    </a:solidFill>
                  </a:tcPr>
                </a:tc>
                <a:tc>
                  <a:txBody>
                    <a:bodyPr/>
                    <a:lstStyle/>
                    <a:p>
                      <a:pPr>
                        <a:defRPr sz="1700" b="0">
                          <a:solidFill>
                            <a:srgbClr val="1A1F2B"/>
                          </a:solidFill>
                        </a:defRPr>
                      </a:pPr>
                      <a:r>
                        <a:t>12–13</a:t>
                      </a:r>
                    </a:p>
                  </a:txBody>
                  <a:tcPr anchor="ctr">
                    <a:solidFill>
                      <a:srgbClr val="F5F7FA"/>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Alur proyek ML dari ujung ke ujung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1. Rumusan masalah</a:t>
            </a:r>
            <a:r>
              <a:rPr sz="2000">
                <a:solidFill>
                  <a:srgbClr val="1A1F2B"/>
                </a:solidFill>
              </a:rPr>
              <a:t> — apa yang diprediksi, dan apa ukuran berhasilnya?</a:t>
            </a:r>
          </a:p>
          <a:p>
            <a:pPr>
              <a:spcBef>
                <a:spcPts val="1100"/>
              </a:spcBef>
            </a:pPr>
            <a:r>
              <a:rPr sz="2000">
                <a:solidFill>
                  <a:srgbClr val="1A1F2B"/>
                </a:solidFill>
              </a:rPr>
              <a:t>•  </a:t>
            </a:r>
            <a:r>
              <a:rPr sz="2000" b="1">
                <a:solidFill>
                  <a:srgbClr val="102545"/>
                </a:solidFill>
              </a:rPr>
              <a:t>2. Kumpulkan data</a:t>
            </a:r>
            <a:r>
              <a:rPr sz="2000">
                <a:solidFill>
                  <a:srgbClr val="1A1F2B"/>
                </a:solidFill>
              </a:rPr>
              <a:t> — dari mana, seberapa banyak, seberapa dipercaya?</a:t>
            </a:r>
          </a:p>
          <a:p>
            <a:pPr>
              <a:spcBef>
                <a:spcPts val="1100"/>
              </a:spcBef>
            </a:pPr>
            <a:r>
              <a:rPr sz="2000">
                <a:solidFill>
                  <a:srgbClr val="1A1F2B"/>
                </a:solidFill>
              </a:rPr>
              <a:t>•  </a:t>
            </a:r>
            <a:r>
              <a:rPr sz="2000" b="1">
                <a:solidFill>
                  <a:srgbClr val="102545"/>
                </a:solidFill>
              </a:rPr>
              <a:t>3. EDA &amp; preprocessing</a:t>
            </a:r>
            <a:r>
              <a:rPr sz="2000">
                <a:solidFill>
                  <a:srgbClr val="1A1F2B"/>
                </a:solidFill>
              </a:rPr>
              <a:t> ← </a:t>
            </a:r>
            <a:r>
              <a:rPr sz="2000" b="1">
                <a:solidFill>
                  <a:srgbClr val="102545"/>
                </a:solidFill>
              </a:rPr>
              <a:t>di sinilah sebagian besar waktu habis</a:t>
            </a:r>
          </a:p>
          <a:p>
            <a:pPr>
              <a:spcBef>
                <a:spcPts val="1100"/>
              </a:spcBef>
            </a:pPr>
            <a:r>
              <a:rPr sz="2000">
                <a:solidFill>
                  <a:srgbClr val="1A1F2B"/>
                </a:solidFill>
              </a:rPr>
              <a:t>•  </a:t>
            </a:r>
            <a:r>
              <a:rPr sz="2000" b="1">
                <a:solidFill>
                  <a:srgbClr val="102545"/>
                </a:solidFill>
              </a:rPr>
              <a:t>4. Latih model</a:t>
            </a:r>
            <a:r>
              <a:rPr sz="2000">
                <a:solidFill>
                  <a:srgbClr val="1A1F2B"/>
                </a:solidFill>
              </a:rPr>
              <a:t> — mulai dari baseline yang paling sederhana</a:t>
            </a:r>
          </a:p>
          <a:p>
            <a:pPr>
              <a:spcBef>
                <a:spcPts val="1100"/>
              </a:spcBef>
            </a:pPr>
            <a:r>
              <a:rPr sz="2000">
                <a:solidFill>
                  <a:srgbClr val="1A1F2B"/>
                </a:solidFill>
              </a:rPr>
              <a:t>•  </a:t>
            </a:r>
            <a:r>
              <a:rPr sz="2000" b="1">
                <a:solidFill>
                  <a:srgbClr val="102545"/>
                </a:solidFill>
              </a:rPr>
              <a:t>5. Evaluasi</a:t>
            </a:r>
            <a:r>
              <a:rPr sz="2000">
                <a:solidFill>
                  <a:srgbClr val="1A1F2B"/>
                </a:solidFill>
              </a:rPr>
              <a:t> — dengan metrik yang tepat, bukan yang enak dilihat</a:t>
            </a:r>
          </a:p>
          <a:p>
            <a:pPr>
              <a:spcBef>
                <a:spcPts val="1100"/>
              </a:spcBef>
            </a:pPr>
            <a:r>
              <a:rPr sz="2000">
                <a:solidFill>
                  <a:srgbClr val="1A1F2B"/>
                </a:solidFill>
              </a:rPr>
              <a:t>•  </a:t>
            </a:r>
            <a:r>
              <a:rPr sz="2000" b="1">
                <a:solidFill>
                  <a:srgbClr val="102545"/>
                </a:solidFill>
              </a:rPr>
              <a:t>6. Iterasi</a:t>
            </a:r>
            <a:r>
              <a:rPr sz="2000">
                <a:solidFill>
                  <a:srgbClr val="1A1F2B"/>
                </a:solidFill>
              </a:rPr>
              <a:t> — kembali ke langkah 3, berkali-kali</a:t>
            </a:r>
          </a:p>
          <a:p>
            <a:pPr>
              <a:spcBef>
                <a:spcPts val="1100"/>
              </a:spcBef>
            </a:pPr>
            <a:r>
              <a:rPr sz="2000">
                <a:solidFill>
                  <a:srgbClr val="1A1F2B"/>
                </a:solidFill>
              </a:rPr>
              <a:t>•  </a:t>
            </a:r>
            <a:r>
              <a:rPr sz="2000" b="1">
                <a:solidFill>
                  <a:srgbClr val="102545"/>
                </a:solidFill>
              </a:rPr>
              <a:t>7. Deploy &amp; pantau</a:t>
            </a:r>
            <a:r>
              <a:rPr sz="2000">
                <a:solidFill>
                  <a:srgbClr val="1A1F2B"/>
                </a:solidFill>
              </a:rPr>
              <a:t> — dunia berubah, model ikut basi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2b</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Preprocessing itu Pondasi</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Tiga masalah yang selalu ada di data nyata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Data dunia nyata itu kotor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Tidak lengkap</a:t>
            </a:r>
            <a:r>
              <a:rPr sz="2000">
                <a:solidFill>
                  <a:srgbClr val="1A1F2B"/>
                </a:solidFill>
              </a:rPr>
              <a:t> — ada nilai kosong: umur penumpang tidak tercatat, alamat tidak diisi</a:t>
            </a:r>
          </a:p>
          <a:p>
            <a:pPr>
              <a:spcBef>
                <a:spcPts val="1100"/>
              </a:spcBef>
            </a:pPr>
            <a:r>
              <a:rPr sz="2000">
                <a:solidFill>
                  <a:srgbClr val="1A1F2B"/>
                </a:solidFill>
              </a:rPr>
              <a:t>•  </a:t>
            </a:r>
            <a:r>
              <a:rPr sz="2000" b="1">
                <a:solidFill>
                  <a:srgbClr val="102545"/>
                </a:solidFill>
              </a:rPr>
              <a:t>Skala berbeda-beda</a:t>
            </a:r>
            <a:r>
              <a:rPr sz="2000">
                <a:solidFill>
                  <a:srgbClr val="1A1F2B"/>
                </a:solidFill>
              </a:rPr>
              <a:t> — usia 0–80, penghasilan 0–100.000.000. Model berbasis jarak akan didominasi kolom berangka besar</a:t>
            </a:r>
          </a:p>
          <a:p>
            <a:pPr>
              <a:spcBef>
                <a:spcPts val="1100"/>
              </a:spcBef>
            </a:pPr>
            <a:r>
              <a:rPr sz="2000">
                <a:solidFill>
                  <a:srgbClr val="1A1F2B"/>
                </a:solidFill>
              </a:rPr>
              <a:t>•  </a:t>
            </a:r>
            <a:r>
              <a:rPr sz="2000" b="1">
                <a:solidFill>
                  <a:srgbClr val="102545"/>
                </a:solidFill>
              </a:rPr>
              <a:t>Berbentuk kategori</a:t>
            </a:r>
            <a:r>
              <a:rPr sz="2000">
                <a:solidFill>
                  <a:srgbClr val="1A1F2B"/>
                </a:solidFill>
              </a:rPr>
              <a:t> — 'laki-laki', 'Southampton'. Algoritma butuh angka, bukan teks</a:t>
            </a:r>
          </a:p>
          <a:p>
            <a:pPr>
              <a:spcBef>
                <a:spcPts val="1100"/>
              </a:spcBef>
            </a:pPr>
            <a:r>
              <a:rPr sz="2000">
                <a:solidFill>
                  <a:srgbClr val="1A1F2B"/>
                </a:solidFill>
              </a:rPr>
              <a:t>•  </a:t>
            </a:r>
            <a:r>
              <a:rPr sz="2000" b="1">
                <a:solidFill>
                  <a:srgbClr val="102545"/>
                </a:solidFill>
              </a:rPr>
              <a:t>Tidak konsisten</a:t>
            </a:r>
            <a:r>
              <a:rPr sz="2000">
                <a:solidFill>
                  <a:srgbClr val="1A1F2B"/>
                </a:solidFill>
              </a:rPr>
              <a:t> — 'Jakarta', 'JAKARTA', 'DKI Jakarta' dianggap tiga hal berbeda</a:t>
            </a:r>
          </a:p>
          <a:p>
            <a:pPr>
              <a:spcBef>
                <a:spcPts val="1100"/>
              </a:spcBef>
            </a:pPr>
          </a:p>
          <a:p>
            <a:pPr>
              <a:spcBef>
                <a:spcPts val="1100"/>
              </a:spcBef>
            </a:pPr>
            <a:r>
              <a:rPr sz="2000">
                <a:solidFill>
                  <a:srgbClr val="1A1F2B"/>
                </a:solidFill>
              </a:rPr>
              <a:t>•  Tanpa preprocessing, model </a:t>
            </a:r>
            <a:r>
              <a:rPr sz="2000" b="1">
                <a:solidFill>
                  <a:srgbClr val="102545"/>
                </a:solidFill>
              </a:rPr>
              <a:t>salah membaca pola</a:t>
            </a:r>
            <a:r>
              <a:rPr sz="2000">
                <a:solidFill>
                  <a:srgbClr val="1A1F2B"/>
                </a:solidFill>
              </a:rPr>
              <a:t> — dan tetap memberi angka akurasi yang terlihat meyakinkan.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Masalah 1 — Missing values</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Kenali dulu</a:t>
            </a:r>
            <a:r>
              <a:rPr sz="2000">
                <a:solidFill>
                  <a:srgbClr val="1A1F2B"/>
                </a:solidFill>
              </a:rPr>
              <a:t>: berapa persen kosong per kolom? Acak, atau ada polanya?</a:t>
            </a:r>
          </a:p>
          <a:p>
            <a:pPr>
              <a:spcBef>
                <a:spcPts val="1100"/>
              </a:spcBef>
            </a:pPr>
            <a:r>
              <a:rPr sz="2000">
                <a:solidFill>
                  <a:srgbClr val="1A1F2B"/>
                </a:solidFill>
              </a:rPr>
              <a:t>•  </a:t>
            </a:r>
            <a:r>
              <a:rPr sz="2000" b="1">
                <a:solidFill>
                  <a:srgbClr val="102545"/>
                </a:solidFill>
              </a:rPr>
              <a:t>Pilihan penanganan:</a:t>
            </a:r>
          </a:p>
          <a:p>
            <a:pPr lvl="1">
              <a:spcBef>
                <a:spcPts val="300"/>
              </a:spcBef>
            </a:pPr>
            <a:r>
              <a:rPr sz="1700">
                <a:solidFill>
                  <a:srgbClr val="5A6372"/>
                </a:solidFill>
              </a:rPr>
              <a:t>–  buang barisnya — aman kalau sedikit, boros kalau banyak</a:t>
            </a:r>
          </a:p>
          <a:p>
            <a:pPr lvl="1">
              <a:spcBef>
                <a:spcPts val="300"/>
              </a:spcBef>
            </a:pPr>
            <a:r>
              <a:rPr sz="1700">
                <a:solidFill>
                  <a:srgbClr val="5A6372"/>
                </a:solidFill>
              </a:rPr>
              <a:t>–  buang kolomnya — kalau kosongnya dominan</a:t>
            </a:r>
          </a:p>
          <a:p>
            <a:pPr lvl="1">
              <a:spcBef>
                <a:spcPts val="300"/>
              </a:spcBef>
            </a:pPr>
            <a:r>
              <a:rPr sz="1700">
                <a:solidFill>
                  <a:srgbClr val="5A6372"/>
                </a:solidFill>
              </a:rPr>
              <a:t>–  imputasi: mean · median · most_frequent · KNNImputer</a:t>
            </a:r>
          </a:p>
          <a:p>
            <a:pPr>
              <a:spcBef>
                <a:spcPts val="1100"/>
              </a:spcBef>
            </a:pPr>
          </a:p>
          <a:p>
            <a:pPr>
              <a:spcBef>
                <a:spcPts val="1100"/>
              </a:spcBef>
            </a:pPr>
            <a:r>
              <a:rPr sz="2000">
                <a:solidFill>
                  <a:srgbClr val="1A1F2B"/>
                </a:solidFill>
              </a:rPr>
              <a:t>•  </a:t>
            </a:r>
            <a:r>
              <a:rPr sz="2000" b="1">
                <a:solidFill>
                  <a:srgbClr val="102545"/>
                </a:solidFill>
              </a:rPr>
              <a:t>Aturan praktis:</a:t>
            </a:r>
            <a:r>
              <a:rPr sz="2000">
                <a:solidFill>
                  <a:srgbClr val="1A1F2B"/>
                </a:solidFill>
              </a:rPr>
              <a:t> pakai </a:t>
            </a:r>
            <a:r>
              <a:rPr sz="2000" b="1">
                <a:solidFill>
                  <a:srgbClr val="102545"/>
                </a:solidFill>
              </a:rPr>
              <a:t>median</a:t>
            </a:r>
            <a:r>
              <a:rPr sz="2000">
                <a:solidFill>
                  <a:srgbClr val="1A1F2B"/>
                </a:solidFill>
              </a:rPr>
              <a:t> kalau ada pencilan; </a:t>
            </a:r>
            <a:r>
              <a:rPr sz="2000" b="1">
                <a:solidFill>
                  <a:srgbClr val="102545"/>
                </a:solidFill>
              </a:rPr>
              <a:t>most_frequent</a:t>
            </a:r>
            <a:r>
              <a:rPr sz="2000">
                <a:solidFill>
                  <a:srgbClr val="1A1F2B"/>
                </a:solidFill>
              </a:rPr>
              <a:t> untuk kategori.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Masalah 2 — Skala fitur</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Tanpa penyeragaman skala, fitur berangka besar mendominasi hanya karena satuannya, bukan karena lebih informatif.</a:t>
            </a:r>
          </a:p>
        </p:txBody>
      </p:sp>
      <p:graphicFrame>
        <p:nvGraphicFramePr>
          <p:cNvPr id="6" name="Table 5"/>
          <p:cNvGraphicFramePr>
            <a:graphicFrameLocks noGrp="1"/>
          </p:cNvGraphicFramePr>
          <p:nvPr/>
        </p:nvGraphicFramePr>
        <p:xfrm>
          <a:off x="777240" y="1783080"/>
          <a:ext cx="10652758" cy="1261872"/>
        </p:xfrm>
        <a:graphic>
          <a:graphicData uri="http://schemas.openxmlformats.org/drawingml/2006/table">
            <a:tbl>
              <a:tblPr firstRow="1" bandRow="1">
                <a:tableStyleId>{5C22544A-7EE6-4342-B048-85BDC9FD1C3A}</a:tableStyleId>
              </a:tblPr>
              <a:tblGrid>
                <a:gridCol w="2347218"/>
                <a:gridCol w="2708328"/>
                <a:gridCol w="5597212"/>
              </a:tblGrid>
              <a:tr h="420624">
                <a:tc>
                  <a:txBody>
                    <a:bodyPr/>
                    <a:lstStyle/>
                    <a:p>
                      <a:pPr>
                        <a:defRPr sz="1700" b="1">
                          <a:solidFill>
                            <a:srgbClr val="FFFFFF"/>
                          </a:solidFill>
                        </a:defRPr>
                      </a:pPr>
                      <a:r>
                        <a:t>Metode</a:t>
                      </a:r>
                    </a:p>
                  </a:txBody>
                  <a:tcPr anchor="ctr">
                    <a:solidFill>
                      <a:srgbClr val="102545"/>
                    </a:solidFill>
                  </a:tcPr>
                </a:tc>
                <a:tc>
                  <a:txBody>
                    <a:bodyPr/>
                    <a:lstStyle/>
                    <a:p>
                      <a:pPr>
                        <a:defRPr sz="1700" b="1">
                          <a:solidFill>
                            <a:srgbClr val="FFFFFF"/>
                          </a:solidFill>
                        </a:defRPr>
                      </a:pPr>
                      <a:r>
                        <a:t>Hasilnya</a:t>
                      </a:r>
                    </a:p>
                  </a:txBody>
                  <a:tcPr anchor="ctr">
                    <a:solidFill>
                      <a:srgbClr val="102545"/>
                    </a:solidFill>
                  </a:tcPr>
                </a:tc>
                <a:tc>
                  <a:txBody>
                    <a:bodyPr/>
                    <a:lstStyle/>
                    <a:p>
                      <a:pPr>
                        <a:defRPr sz="1700" b="1">
                          <a:solidFill>
                            <a:srgbClr val="FFFFFF"/>
                          </a:solidFill>
                        </a:defRPr>
                      </a:pPr>
                      <a:r>
                        <a:t>Dipakai kapan</a:t>
                      </a:r>
                    </a:p>
                  </a:txBody>
                  <a:tcPr anchor="ctr">
                    <a:solidFill>
                      <a:srgbClr val="102545"/>
                    </a:solidFill>
                  </a:tcPr>
                </a:tc>
              </a:tr>
              <a:tr h="420624">
                <a:tc>
                  <a:txBody>
                    <a:bodyPr/>
                    <a:lstStyle/>
                    <a:p>
                      <a:pPr>
                        <a:defRPr sz="1700" b="1">
                          <a:solidFill>
                            <a:srgbClr val="102545"/>
                          </a:solidFill>
                        </a:defRPr>
                      </a:pPr>
                      <a:r>
                        <a:t>StandardScaler</a:t>
                      </a:r>
                    </a:p>
                  </a:txBody>
                  <a:tcPr anchor="ctr">
                    <a:solidFill>
                      <a:srgbClr val="F5F7FA"/>
                    </a:solidFill>
                  </a:tcPr>
                </a:tc>
                <a:tc>
                  <a:txBody>
                    <a:bodyPr/>
                    <a:lstStyle/>
                    <a:p>
                      <a:pPr>
                        <a:defRPr sz="1700" b="0">
                          <a:solidFill>
                            <a:srgbClr val="1A1F2B"/>
                          </a:solidFill>
                        </a:defRPr>
                      </a:pPr>
                      <a:r>
                        <a:t>mean = 0, std = 1</a:t>
                      </a:r>
                    </a:p>
                  </a:txBody>
                  <a:tcPr anchor="ctr">
                    <a:solidFill>
                      <a:srgbClr val="F5F7FA"/>
                    </a:solidFill>
                  </a:tcPr>
                </a:tc>
                <a:tc>
                  <a:txBody>
                    <a:bodyPr/>
                    <a:lstStyle/>
                    <a:p>
                      <a:pPr>
                        <a:defRPr sz="1700" b="0">
                          <a:solidFill>
                            <a:srgbClr val="1A1F2B"/>
                          </a:solidFill>
                        </a:defRPr>
                      </a:pPr>
                      <a:r>
                        <a:t>Model berbasis jarak / gradien: KNN, SVM, Logistic Regression</a:t>
                      </a:r>
                    </a:p>
                  </a:txBody>
                  <a:tcPr anchor="ctr">
                    <a:solidFill>
                      <a:srgbClr val="F5F7FA"/>
                    </a:solidFill>
                  </a:tcPr>
                </a:tc>
              </a:tr>
              <a:tr h="420624">
                <a:tc>
                  <a:txBody>
                    <a:bodyPr/>
                    <a:lstStyle/>
                    <a:p>
                      <a:pPr>
                        <a:defRPr sz="1700" b="1">
                          <a:solidFill>
                            <a:srgbClr val="102545"/>
                          </a:solidFill>
                        </a:defRPr>
                      </a:pPr>
                      <a:r>
                        <a:t>MinMaxScaler</a:t>
                      </a:r>
                    </a:p>
                  </a:txBody>
                  <a:tcPr anchor="ctr">
                    <a:solidFill>
                      <a:srgbClr val="FFFFFF"/>
                    </a:solidFill>
                  </a:tcPr>
                </a:tc>
                <a:tc>
                  <a:txBody>
                    <a:bodyPr/>
                    <a:lstStyle/>
                    <a:p>
                      <a:pPr>
                        <a:defRPr sz="1700" b="0">
                          <a:solidFill>
                            <a:srgbClr val="1A1F2B"/>
                          </a:solidFill>
                        </a:defRPr>
                      </a:pPr>
                      <a:r>
                        <a:t>skala ke [0, 1]</a:t>
                      </a:r>
                    </a:p>
                  </a:txBody>
                  <a:tcPr anchor="ctr">
                    <a:solidFill>
                      <a:srgbClr val="FFFFFF"/>
                    </a:solidFill>
                  </a:tcPr>
                </a:tc>
                <a:tc>
                  <a:txBody>
                    <a:bodyPr/>
                    <a:lstStyle/>
                    <a:p>
                      <a:pPr>
                        <a:defRPr sz="1700" b="0">
                          <a:solidFill>
                            <a:srgbClr val="1A1F2B"/>
                          </a:solidFill>
                        </a:defRPr>
                      </a:pPr>
                      <a:r>
                        <a:t>Menjaga bentuk distribusi — tapi sensitif terhadap pencilan</a:t>
                      </a:r>
                    </a:p>
                  </a:txBody>
                  <a:tcPr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Masalah 3 — Data kategorikal (encoding)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One-Hot Encoding</a:t>
            </a:r>
            <a:r>
              <a:rPr sz="2000">
                <a:solidFill>
                  <a:srgbClr val="1A1F2B"/>
                </a:solidFill>
              </a:rPr>
              <a:t> — satu kolom biner per kategori. Untuk data </a:t>
            </a:r>
            <a:r>
              <a:rPr sz="2000" b="1">
                <a:solidFill>
                  <a:srgbClr val="102545"/>
                </a:solidFill>
              </a:rPr>
              <a:t>nominal</a:t>
            </a:r>
            <a:r>
              <a:rPr sz="2000">
                <a:solidFill>
                  <a:srgbClr val="1A1F2B"/>
                </a:solidFill>
              </a:rPr>
              <a:t> (tanpa urutan)</a:t>
            </a:r>
          </a:p>
          <a:p>
            <a:pPr lvl="1">
              <a:spcBef>
                <a:spcPts val="300"/>
              </a:spcBef>
            </a:pPr>
            <a:r>
              <a:rPr sz="1700">
                <a:solidFill>
                  <a:srgbClr val="5A6372"/>
                </a:solidFill>
              </a:rPr>
              <a:t>–  'Southampton', 'Cherbourg', 'Queenstown' → tiga kolom 0/1</a:t>
            </a:r>
          </a:p>
          <a:p>
            <a:pPr>
              <a:spcBef>
                <a:spcPts val="1100"/>
              </a:spcBef>
            </a:pPr>
            <a:r>
              <a:rPr sz="2000">
                <a:solidFill>
                  <a:srgbClr val="1A1F2B"/>
                </a:solidFill>
              </a:rPr>
              <a:t>•  </a:t>
            </a:r>
            <a:r>
              <a:rPr sz="2000" b="1">
                <a:solidFill>
                  <a:srgbClr val="102545"/>
                </a:solidFill>
              </a:rPr>
              <a:t>Ordinal Encoding</a:t>
            </a:r>
            <a:r>
              <a:rPr sz="2000">
                <a:solidFill>
                  <a:srgbClr val="1A1F2B"/>
                </a:solidFill>
              </a:rPr>
              <a:t> — angka berurutan. Hanya kalau urutannya </a:t>
            </a:r>
            <a:r>
              <a:rPr sz="2000" b="1">
                <a:solidFill>
                  <a:srgbClr val="102545"/>
                </a:solidFill>
              </a:rPr>
              <a:t>memang bermakna</a:t>
            </a:r>
          </a:p>
          <a:p>
            <a:pPr lvl="1">
              <a:spcBef>
                <a:spcPts val="300"/>
              </a:spcBef>
            </a:pPr>
            <a:r>
              <a:rPr sz="1700">
                <a:solidFill>
                  <a:srgbClr val="5A6372"/>
                </a:solidFill>
              </a:rPr>
              <a:t>–  'rendah' &lt; 'sedang' &lt; 'tinggi' → 0, 1, 2</a:t>
            </a:r>
          </a:p>
          <a:p>
            <a:pPr>
              <a:spcBef>
                <a:spcPts val="1100"/>
              </a:spcBef>
            </a:pPr>
          </a:p>
          <a:p>
            <a:pPr>
              <a:spcBef>
                <a:spcPts val="1100"/>
              </a:spcBef>
            </a:pPr>
            <a:r>
              <a:rPr sz="2000">
                <a:solidFill>
                  <a:srgbClr val="1A1F2B"/>
                </a:solidFill>
              </a:rPr>
              <a:t>•  </a:t>
            </a:r>
            <a:r>
              <a:rPr sz="2000" b="1">
                <a:solidFill>
                  <a:srgbClr val="102545"/>
                </a:solidFill>
              </a:rPr>
              <a:t>Kesalahan klasik:</a:t>
            </a:r>
            <a:r>
              <a:rPr sz="2000">
                <a:solidFill>
                  <a:srgbClr val="1A1F2B"/>
                </a:solidFill>
              </a:rPr>
              <a:t> memberi nomor 0/1/2 pada nama kota. Model lalu menyimpulkan Queenstown 'dua kali lipat' Southampton — padahal tidak ada artinya.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B32D2D"/>
                </a:solidFill>
              </a:defRPr>
            </a:pPr>
            <a:r>
              <a:t>Kesalahan nomor satu pemula: data leakage</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Informasi dari data uji 'bocor' ke proses latih — misalnya scaler di-fit pada gabungan train + test. Akibatnya: akurasi terlihat bagus di laptop Anda, lalu jatuh di dunia nyata.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menghindarinya: Pipeline</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Split dulu, baru fit.</a:t>
            </a:r>
            <a:r>
              <a:rPr sz="2000">
                <a:solidFill>
                  <a:srgbClr val="1A1F2B"/>
                </a:solidFill>
              </a:rPr>
              <a:t> Semua transformasi di-</a:t>
            </a:r>
            <a:r>
              <a:rPr sz="2000" i="1">
                <a:solidFill>
                  <a:srgbClr val="1A1F2B"/>
                </a:solidFill>
              </a:rPr>
              <a:t>fit</a:t>
            </a:r>
            <a:r>
              <a:rPr sz="2000">
                <a:solidFill>
                  <a:srgbClr val="1A1F2B"/>
                </a:solidFill>
              </a:rPr>
              <a:t> </a:t>
            </a:r>
            <a:r>
              <a:rPr sz="2000" b="1">
                <a:solidFill>
                  <a:srgbClr val="102545"/>
                </a:solidFill>
              </a:rPr>
              <a:t>hanya pada data latih</a:t>
            </a:r>
          </a:p>
          <a:p>
            <a:pPr>
              <a:spcBef>
                <a:spcPts val="1100"/>
              </a:spcBef>
            </a:pPr>
            <a:r>
              <a:rPr sz="2000">
                <a:solidFill>
                  <a:srgbClr val="1A1F2B"/>
                </a:solidFill>
              </a:rPr>
              <a:t>•  </a:t>
            </a:r>
            <a:r>
              <a:rPr sz="2000" b="1">
                <a:solidFill>
                  <a:srgbClr val="102545"/>
                </a:solidFill>
              </a:rPr>
              <a:t>Bungkus semuanya</a:t>
            </a:r>
            <a:r>
              <a:rPr sz="2000">
                <a:solidFill>
                  <a:srgbClr val="1A1F2B"/>
                </a:solidFill>
              </a:rPr>
              <a:t> dalam Pipeline + ColumnTransformer</a:t>
            </a:r>
          </a:p>
          <a:p>
            <a:pPr lvl="1">
              <a:spcBef>
                <a:spcPts val="300"/>
              </a:spcBef>
            </a:pPr>
            <a:r>
              <a:rPr sz="1700">
                <a:solidFill>
                  <a:srgbClr val="5A6372"/>
                </a:solidFill>
              </a:rPr>
              <a:t>–  kolom numerik → imputer → scaler</a:t>
            </a:r>
          </a:p>
          <a:p>
            <a:pPr lvl="1">
              <a:spcBef>
                <a:spcPts val="300"/>
              </a:spcBef>
            </a:pPr>
            <a:r>
              <a:rPr sz="1700">
                <a:solidFill>
                  <a:srgbClr val="5A6372"/>
                </a:solidFill>
              </a:rPr>
              <a:t>–  kolom kategorikal → imputer → one-hot encoder</a:t>
            </a:r>
          </a:p>
          <a:p>
            <a:pPr>
              <a:spcBef>
                <a:spcPts val="1100"/>
              </a:spcBef>
            </a:pPr>
            <a:r>
              <a:rPr sz="2000">
                <a:solidFill>
                  <a:srgbClr val="1A1F2B"/>
                </a:solidFill>
              </a:rPr>
              <a:t>•  </a:t>
            </a:r>
            <a:r>
              <a:rPr sz="2000" b="1">
                <a:solidFill>
                  <a:srgbClr val="102545"/>
                </a:solidFill>
              </a:rPr>
              <a:t>Hasilnya:</a:t>
            </a:r>
            <a:r>
              <a:rPr sz="2000">
                <a:solidFill>
                  <a:srgbClr val="1A1F2B"/>
                </a:solidFill>
              </a:rPr>
              <a:t> kebocoran nyaris mustahil, dan seluruh alur bisa dijalankan ulang orang lain</a:t>
            </a:r>
          </a:p>
          <a:p>
            <a:pPr>
              <a:spcBef>
                <a:spcPts val="1100"/>
              </a:spcBef>
            </a:pPr>
          </a:p>
          <a:p>
            <a:pPr>
              <a:spcBef>
                <a:spcPts val="1100"/>
              </a:spcBef>
            </a:pPr>
            <a:r>
              <a:rPr sz="2000">
                <a:solidFill>
                  <a:srgbClr val="1A1F2B"/>
                </a:solidFill>
              </a:rPr>
              <a:t>•  Ini bukan sekadar kerapian. Ini </a:t>
            </a:r>
            <a:r>
              <a:rPr sz="2000" b="1">
                <a:solidFill>
                  <a:srgbClr val="102545"/>
                </a:solidFill>
              </a:rPr>
              <a:t>syarat agar hasil Anda bisa dipercaya</a:t>
            </a:r>
            <a:r>
              <a:rPr sz="2000">
                <a:solidFill>
                  <a:srgbClr val="1A1F2B"/>
                </a:solidFill>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Kerangka yang akan kita pakai sepanjang Fase 1</a:t>
            </a:r>
          </a:p>
        </p:txBody>
      </p:sp>
      <p:sp>
        <p:nvSpPr>
          <p:cNvPr id="5" name="Rectangle 4"/>
          <p:cNvSpPr/>
          <p:nvPr/>
        </p:nvSpPr>
        <p:spPr>
          <a:xfrm>
            <a:off x="777240" y="1417320"/>
            <a:ext cx="10652760" cy="4206240"/>
          </a:xfrm>
          <a:prstGeom prst="rect">
            <a:avLst/>
          </a:prstGeom>
          <a:solidFill>
            <a:srgbClr val="14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72768"/>
            <a:ext cx="10241280" cy="4023359"/>
          </a:xfrm>
          <a:prstGeom prst="rect">
            <a:avLst/>
          </a:prstGeom>
          <a:noFill/>
        </p:spPr>
        <p:txBody>
          <a:bodyPr wrap="square">
            <a:spAutoFit/>
          </a:bodyPr>
          <a:lstStyle/>
          <a:p>
            <a:pPr>
              <a:defRPr sz="1500">
                <a:solidFill>
                  <a:srgbClr val="D8E2F0"/>
                </a:solidFill>
                <a:latin typeface="Consolas"/>
              </a:defRPr>
            </a:pPr>
            <a:r>
              <a:t>num_pipe = Pipeline([</a:t>
            </a:r>
          </a:p>
          <a:p>
            <a:pPr>
              <a:defRPr sz="1500">
                <a:solidFill>
                  <a:srgbClr val="D8E2F0"/>
                </a:solidFill>
                <a:latin typeface="Consolas"/>
              </a:defRPr>
            </a:pPr>
            <a:r>
              <a:t>    ('imputer', SimpleImputer(strategy='median')),</a:t>
            </a:r>
          </a:p>
          <a:p>
            <a:pPr>
              <a:defRPr sz="1500">
                <a:solidFill>
                  <a:srgbClr val="D8E2F0"/>
                </a:solidFill>
                <a:latin typeface="Consolas"/>
              </a:defRPr>
            </a:pPr>
            <a:r>
              <a:t>    ('scaler',  StandardScaler())</a:t>
            </a:r>
          </a:p>
          <a:p>
            <a:pPr>
              <a:defRPr sz="1500">
                <a:solidFill>
                  <a:srgbClr val="D8E2F0"/>
                </a:solidFill>
                <a:latin typeface="Consolas"/>
              </a:defRPr>
            </a:pPr>
            <a:r>
              <a:t>])</a:t>
            </a:r>
          </a:p>
          <a:p>
            <a:pPr>
              <a:defRPr sz="1500">
                <a:solidFill>
                  <a:srgbClr val="D8E2F0"/>
                </a:solidFill>
                <a:latin typeface="Consolas"/>
              </a:defRPr>
            </a:pPr>
            <a:r>
              <a:t>cat_pipe = Pipeline([</a:t>
            </a:r>
          </a:p>
          <a:p>
            <a:pPr>
              <a:defRPr sz="1500">
                <a:solidFill>
                  <a:srgbClr val="D8E2F0"/>
                </a:solidFill>
                <a:latin typeface="Consolas"/>
              </a:defRPr>
            </a:pPr>
            <a:r>
              <a:t>    ('imputer', SimpleImputer(strategy='most_frequent')),</a:t>
            </a:r>
          </a:p>
          <a:p>
            <a:pPr>
              <a:defRPr sz="1500">
                <a:solidFill>
                  <a:srgbClr val="D8E2F0"/>
                </a:solidFill>
                <a:latin typeface="Consolas"/>
              </a:defRPr>
            </a:pPr>
            <a:r>
              <a:t>    ('ohe',     OneHotEncoder(handle_unknown='ignore'))</a:t>
            </a:r>
          </a:p>
          <a:p>
            <a:pPr>
              <a:defRPr sz="1500">
                <a:solidFill>
                  <a:srgbClr val="D8E2F0"/>
                </a:solidFill>
                <a:latin typeface="Consolas"/>
              </a:defRPr>
            </a:pPr>
            <a:r>
              <a:t>])</a:t>
            </a:r>
          </a:p>
          <a:p>
            <a:pPr>
              <a:defRPr sz="1500">
                <a:solidFill>
                  <a:srgbClr val="D8E2F0"/>
                </a:solidFill>
                <a:latin typeface="Consolas"/>
              </a:defRPr>
            </a:pPr>
            <a:r>
              <a:t>preprocess = ColumnTransformer([('num', num_pipe, num_cols),</a:t>
            </a:r>
          </a:p>
          <a:p>
            <a:pPr>
              <a:defRPr sz="1500">
                <a:solidFill>
                  <a:srgbClr val="D8E2F0"/>
                </a:solidFill>
                <a:latin typeface="Consolas"/>
              </a:defRPr>
            </a:pPr>
            <a:r>
              <a:t>                                ('cat', cat_pipe, cat_cols)])</a:t>
            </a:r>
          </a:p>
          <a:p>
            <a:pPr>
              <a:defRPr sz="1500">
                <a:solidFill>
                  <a:srgbClr val="D8E2F0"/>
                </a:solidFill>
                <a:latin typeface="Consolas"/>
              </a:defRPr>
            </a:pPr>
          </a:p>
          <a:p>
            <a:pPr>
              <a:defRPr sz="1500">
                <a:solidFill>
                  <a:srgbClr val="D8E2F0"/>
                </a:solidFill>
                <a:latin typeface="Consolas"/>
              </a:defRPr>
            </a:pPr>
            <a:r>
              <a:t>pipe = Pipeline([('prep', preprocess),</a:t>
            </a:r>
          </a:p>
          <a:p>
            <a:pPr>
              <a:defRPr sz="1500">
                <a:solidFill>
                  <a:srgbClr val="D8E2F0"/>
                </a:solidFill>
                <a:latin typeface="Consolas"/>
              </a:defRPr>
            </a:pPr>
            <a:r>
              <a:t>                 ('model', LogisticRegression(max_iter=1000))])</a:t>
            </a:r>
          </a:p>
          <a:p>
            <a:pPr>
              <a:defRPr sz="1500">
                <a:solidFill>
                  <a:srgbClr val="D8E2F0"/>
                </a:solidFill>
                <a:latin typeface="Consolas"/>
              </a:defRPr>
            </a:pPr>
            <a:r>
              <a:t>pipe.fit(X_train, y_train)          # fit HANYA pada train</a:t>
            </a:r>
          </a:p>
        </p:txBody>
      </p:sp>
      <p:sp>
        <p:nvSpPr>
          <p:cNvPr id="7" name="TextBox 6"/>
          <p:cNvSpPr txBox="1"/>
          <p:nvPr/>
        </p:nvSpPr>
        <p:spPr>
          <a:xfrm>
            <a:off x="777240" y="5715000"/>
            <a:ext cx="10652760" cy="822960"/>
          </a:xfrm>
          <a:prstGeom prst="rect">
            <a:avLst/>
          </a:prstGeom>
          <a:noFill/>
        </p:spPr>
        <p:txBody>
          <a:bodyPr wrap="square">
            <a:spAutoFit/>
          </a:bodyPr>
          <a:lstStyle/>
          <a:p>
            <a:pPr>
              <a:defRPr sz="1900" i="1">
                <a:solidFill>
                  <a:srgbClr val="5A6372"/>
                </a:solidFill>
              </a:defRPr>
            </a:pPr>
            <a:r>
              <a:t>Hafalkan bentuknya. Sisa semester kita mengganti-ganti isinya, bukan kerangkanya.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Tautan cepat — klik langsung dari slide ini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Salindia ini tersimpan di Google Drive; semua tautan aktif saat dibuka di PowerPoint atau Google Slides.</a:t>
            </a:r>
          </a:p>
        </p:txBody>
      </p:sp>
      <p:sp>
        <p:nvSpPr>
          <p:cNvPr id="6" name="TextBox 5"/>
          <p:cNvSpPr txBox="1"/>
          <p:nvPr/>
        </p:nvSpPr>
        <p:spPr>
          <a:xfrm>
            <a:off x="777240" y="1783080"/>
            <a:ext cx="10789920" cy="4617720"/>
          </a:xfrm>
          <a:prstGeom prst="rect">
            <a:avLst/>
          </a:prstGeom>
          <a:noFill/>
        </p:spPr>
        <p:txBody>
          <a:bodyPr wrap="square">
            <a:spAutoFit/>
          </a:bodyPr>
          <a:lstStyle/>
          <a:p>
            <a:pPr>
              <a:spcBef>
                <a:spcPts val="1000"/>
              </a:spcBef>
            </a:pPr>
            <a:r>
              <a:rPr sz="2000" b="1">
                <a:solidFill>
                  <a:srgbClr val="E6A023"/>
                </a:solidFill>
              </a:rPr>
              <a:t>▸  </a:t>
            </a:r>
            <a:r>
              <a:rPr sz="2000" b="1" u="sng">
                <a:hlinkClick r:id="rId2"/>
              </a:rPr>
              <a:t>Kursus Pembelajaran Mesin P di eBelajar</a:t>
            </a:r>
          </a:p>
          <a:p>
            <a:pPr>
              <a:spcBef>
                <a:spcPts val="1000"/>
              </a:spcBef>
            </a:pPr>
            <a:r>
              <a:rPr sz="2000" b="1">
                <a:solidFill>
                  <a:srgbClr val="E6A023"/>
                </a:solidFill>
              </a:rPr>
              <a:t>▸  </a:t>
            </a:r>
            <a:r>
              <a:rPr sz="2000" b="1" u="sng">
                <a:hlinkClick r:id="rId3"/>
              </a:rPr>
              <a:t>Kontrak Kuliah (versi lengkap)</a:t>
            </a:r>
          </a:p>
          <a:p>
            <a:pPr>
              <a:spcBef>
                <a:spcPts val="1000"/>
              </a:spcBef>
            </a:pPr>
            <a:r>
              <a:rPr sz="2000" b="1">
                <a:solidFill>
                  <a:srgbClr val="E6A023"/>
                </a:solidFill>
              </a:rPr>
              <a:t>▸  </a:t>
            </a:r>
            <a:r>
              <a:rPr sz="2000" b="1" u="sng">
                <a:hlinkClick r:id="rId4"/>
              </a:rPr>
              <a:t>Materi Pertemuan 1</a:t>
            </a:r>
          </a:p>
          <a:p>
            <a:pPr>
              <a:spcBef>
                <a:spcPts val="1000"/>
              </a:spcBef>
            </a:pPr>
            <a:r>
              <a:rPr sz="2000" b="1">
                <a:solidFill>
                  <a:srgbClr val="E6A023"/>
                </a:solidFill>
              </a:rPr>
              <a:t>▸  </a:t>
            </a:r>
            <a:r>
              <a:rPr sz="2000" b="1" u="sng">
                <a:hlinkClick r:id="rId5"/>
              </a:rPr>
              <a:t>Modul Mandiri Pertemuan 1 — panduan + template notebook</a:t>
            </a:r>
          </a:p>
          <a:p>
            <a:pPr>
              <a:spcBef>
                <a:spcPts val="1000"/>
              </a:spcBef>
            </a:pPr>
            <a:r>
              <a:rPr sz="2000" b="1">
                <a:solidFill>
                  <a:srgbClr val="E6A023"/>
                </a:solidFill>
              </a:rPr>
              <a:t>▸  </a:t>
            </a:r>
            <a:r>
              <a:rPr sz="2000" b="1" u="sng">
                <a:hlinkClick r:id="rId6"/>
              </a:rPr>
              <a:t>Forum Diskusi Awal — refleksi dikumpulkan di sini</a:t>
            </a:r>
          </a:p>
          <a:p>
            <a:pPr>
              <a:spcBef>
                <a:spcPts val="1000"/>
              </a:spcBef>
            </a:pPr>
            <a:r>
              <a:rPr sz="2000" b="1">
                <a:solidFill>
                  <a:srgbClr val="E6A023"/>
                </a:solidFill>
              </a:rPr>
              <a:t>▸  </a:t>
            </a:r>
            <a:r>
              <a:rPr sz="2000" b="1" u="sng">
                <a:hlinkClick r:id="rId7"/>
              </a:rPr>
              <a:t>Tugas 1: Praktek Preprocessing Data (Pertemuan 2)</a:t>
            </a:r>
          </a:p>
          <a:p>
            <a:pPr>
              <a:spcBef>
                <a:spcPts val="1000"/>
              </a:spcBef>
            </a:pPr>
            <a:r>
              <a:rPr sz="2000" b="1">
                <a:solidFill>
                  <a:srgbClr val="E6A023"/>
                </a:solidFill>
              </a:rPr>
              <a:t>▸  </a:t>
            </a:r>
            <a:r>
              <a:rPr sz="2000" b="1" u="sng">
                <a:hlinkClick r:id="rId8"/>
              </a:rPr>
              <a:t>Survey Awal Mahasiswa</a:t>
            </a:r>
          </a:p>
          <a:p>
            <a:pPr>
              <a:spcBef>
                <a:spcPts val="1000"/>
              </a:spcBef>
            </a:pPr>
            <a:r>
              <a:rPr sz="2000" b="1">
                <a:solidFill>
                  <a:srgbClr val="E6A023"/>
                </a:solidFill>
              </a:rPr>
              <a:t>▸  </a:t>
            </a:r>
            <a:r>
              <a:rPr sz="2000" b="1" u="sng">
                <a:hlinkClick r:id="rId9"/>
              </a:rPr>
              <a:t>Forum Diskusi Umum — tempat bertanya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PENUTUP</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Langkah Anda berikutnya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Yang harus Anda lakukan setelah membaca ini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Buka materi Pertemuan 1 di eBelajar sampai selesai</a:t>
            </a:r>
            <a:r>
              <a:rPr sz="2000">
                <a:solidFill>
                  <a:srgbClr val="1A1F2B"/>
                </a:solidFill>
              </a:rPr>
              <a:t> — ini yang membuka Pertemuan 2</a:t>
            </a:r>
          </a:p>
          <a:p>
            <a:pPr>
              <a:spcBef>
                <a:spcPts val="1100"/>
              </a:spcBef>
            </a:pPr>
            <a:r>
              <a:rPr sz="2000">
                <a:solidFill>
                  <a:srgbClr val="1A1F2B"/>
                </a:solidFill>
              </a:rPr>
              <a:t>•  </a:t>
            </a:r>
            <a:r>
              <a:rPr sz="2000" b="1">
                <a:solidFill>
                  <a:srgbClr val="102545"/>
                </a:solidFill>
              </a:rPr>
              <a:t>Ikut forum diskusi Pertemuan 1</a:t>
            </a:r>
            <a:r>
              <a:rPr sz="2000">
                <a:solidFill>
                  <a:srgbClr val="1A1F2B"/>
                </a:solidFill>
              </a:rPr>
              <a:t> — masuk komponen partisipasi (tautannya ada di slide </a:t>
            </a:r>
            <a:r>
              <a:rPr sz="2000" i="1">
                <a:solidFill>
                  <a:srgbClr val="1A1F2B"/>
                </a:solidFill>
              </a:rPr>
              <a:t>Tautan cepat</a:t>
            </a:r>
            <a:r>
              <a:rPr sz="2000">
                <a:solidFill>
                  <a:srgbClr val="1A1F2B"/>
                </a:solidFill>
              </a:rPr>
              <a:t>)</a:t>
            </a:r>
          </a:p>
          <a:p>
            <a:pPr>
              <a:spcBef>
                <a:spcPts val="1100"/>
              </a:spcBef>
            </a:pPr>
            <a:r>
              <a:rPr sz="2000">
                <a:solidFill>
                  <a:srgbClr val="1A1F2B"/>
                </a:solidFill>
              </a:rPr>
              <a:t>•  </a:t>
            </a:r>
            <a:r>
              <a:rPr sz="2000" b="1">
                <a:solidFill>
                  <a:srgbClr val="102545"/>
                </a:solidFill>
              </a:rPr>
              <a:t>Isi Survey Awal Mahasiswa</a:t>
            </a:r>
            <a:r>
              <a:rPr sz="2000">
                <a:solidFill>
                  <a:srgbClr val="1A1F2B"/>
                </a:solidFill>
              </a:rPr>
              <a:t> di bagian General (opsional, tapi membantu saya menyesuaikan materi)</a:t>
            </a:r>
          </a:p>
          <a:p>
            <a:pPr>
              <a:spcBef>
                <a:spcPts val="1100"/>
              </a:spcBef>
            </a:pPr>
            <a:r>
              <a:rPr sz="2000">
                <a:solidFill>
                  <a:srgbClr val="1A1F2B"/>
                </a:solidFill>
              </a:rPr>
              <a:t>•  </a:t>
            </a:r>
            <a:r>
              <a:rPr sz="2000" b="1">
                <a:solidFill>
                  <a:srgbClr val="102545"/>
                </a:solidFill>
              </a:rPr>
              <a:t>Siapkan lingkungan kerja</a:t>
            </a:r>
            <a:r>
              <a:rPr sz="2000">
                <a:solidFill>
                  <a:srgbClr val="1A1F2B"/>
                </a:solidFill>
              </a:rPr>
              <a:t> sebelum masuk Pertemuan 2</a:t>
            </a:r>
          </a:p>
          <a:p>
            <a:pPr>
              <a:spcBef>
                <a:spcPts val="1100"/>
              </a:spcBef>
            </a:pPr>
          </a:p>
          <a:p>
            <a:pPr>
              <a:spcBef>
                <a:spcPts val="1100"/>
              </a:spcBef>
            </a:pPr>
            <a:r>
              <a:rPr sz="2000">
                <a:solidFill>
                  <a:srgbClr val="1A1F2B"/>
                </a:solidFill>
              </a:rPr>
              <a:t>•  Kalau ada yang macet — instalasi, materi, atau tugas — </a:t>
            </a:r>
            <a:r>
              <a:rPr sz="2000" b="1">
                <a:solidFill>
                  <a:srgbClr val="102545"/>
                </a:solidFill>
              </a:rPr>
              <a:t>tulis di forum Diskusi Umum</a:t>
            </a:r>
            <a:r>
              <a:rPr sz="2000">
                <a:solidFill>
                  <a:srgbClr val="1A1F2B"/>
                </a:solidFill>
              </a:rPr>
              <a:t>. Kelas daring bukan berarti dikerjakan sendirian.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SELAMAT BELAJAR</a:t>
            </a:r>
          </a:p>
        </p:txBody>
      </p:sp>
      <p:sp>
        <p:nvSpPr>
          <p:cNvPr id="5" name="TextBox 4"/>
          <p:cNvSpPr txBox="1"/>
          <p:nvPr/>
        </p:nvSpPr>
        <p:spPr>
          <a:xfrm>
            <a:off x="1005840" y="2286000"/>
            <a:ext cx="10241280" cy="1280160"/>
          </a:xfrm>
          <a:prstGeom prst="rect">
            <a:avLst/>
          </a:prstGeom>
          <a:noFill/>
        </p:spPr>
        <p:txBody>
          <a:bodyPr wrap="square">
            <a:spAutoFit/>
          </a:bodyPr>
          <a:lstStyle/>
          <a:p>
            <a:pPr>
              <a:defRPr sz="5000" b="1">
                <a:solidFill>
                  <a:srgbClr val="FFFFFF"/>
                </a:solidFill>
              </a:defRPr>
            </a:pPr>
            <a:r>
              <a:t>Sampai jumpa di forum</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b="0">
                <a:solidFill>
                  <a:srgbClr val="C8D4E6"/>
                </a:solidFill>
              </a:defRPr>
            </a:pPr>
            <a:r>
              <a:t>Pertanyaan dijawab pada hari kerja, ≤ 1×24 jam.</a:t>
            </a:r>
          </a:p>
        </p:txBody>
      </p:sp>
      <p:sp>
        <p:nvSpPr>
          <p:cNvPr id="7" name="TextBox 6"/>
          <p:cNvSpPr txBox="1"/>
          <p:nvPr/>
        </p:nvSpPr>
        <p:spPr>
          <a:xfrm>
            <a:off x="1005840" y="5760720"/>
            <a:ext cx="10241280" cy="914400"/>
          </a:xfrm>
          <a:prstGeom prst="rect">
            <a:avLst/>
          </a:prstGeom>
          <a:noFill/>
        </p:spPr>
        <p:txBody>
          <a:bodyPr wrap="square">
            <a:spAutoFit/>
          </a:bodyPr>
          <a:lstStyle/>
          <a:p>
            <a:pPr>
              <a:defRPr sz="1600" b="0">
                <a:solidFill>
                  <a:srgbClr val="8FA3BF"/>
                </a:solidFill>
              </a:defRPr>
            </a:pPr>
            <a:r>
              <a:t>Mukhlis Amien, M.Kom.  ·  Pembelajaran Mesin P  ·  Ganjil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