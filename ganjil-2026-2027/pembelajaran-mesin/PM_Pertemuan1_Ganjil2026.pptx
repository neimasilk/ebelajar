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sejak awal: kelas ini studio, bukan ceramah. Minta mahasiswa buka eBelajar sekarang juga supaya tahu tempatnya.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dalam bahasa manusia dulu; kode CPMK-nya ada di eBelajar. Poin terakhir yang paling sering diremehkan mahasiswa.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 jeda setelah kalimat ini. Ini janji yang harus ditagih sepanjang semester.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50% nilai datang dari kerja mingguan (partisipatif + observasi + unjuk kerja), hanya 30% dari UTS+UAS. Sampaikan ini — mengubah perilaku mahasiswa sejak minggu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sebagai prinsip, bukan larangan. Mahasiswa akan memakai AI apa pun yang Anda katakan — yang bisa Anda pengaruhi adalah CARA mereka memakainya.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OPSIONAL — cerita nyata yang kuat kalau Anda bersedia membagikannya: sebuah naskah jurnal internasional ditolak editor bukan karena datanya salah, tapi karena deskripsi karya orang lain di bagian related work tidak sesuai sumbernya, dan editor menyebut penyebabnya pemakaian AI untuk pencarian literatur. Datanya sehat — yang rusak kalimat yang terdengar benar.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 waktu nyata untuk bertanya. Catat usulan yang masuk. Tunjuk perwakilan kelas untuk menandatangani kontrak.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Tanyakan ke kelas: menurut kalian, berapa persen waktu proyek ML habis untuk milih algoritma? Biarkan mereka menebak dulu, baru tampilkan angkanya.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Pancing dengan contoh: bagaimana Anda menulis aturan eksplisit untuk membedakan foto kucing dan anjing? Sulit. Itulah kenapa ML ada.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langkah 3 memakan waktu terbanyak dan paling jarang diajarkan. Fase 1 kelas ini (P1–P3) seluruhnya di langkah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 pancingan: kalau kolom 'Cabin' 77% kosong, itu data hilang atau justru informasi? (Penumpang kelas bawah memang tidak punya kabin.) Missing bisa bermakna.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cepat kalau ada waktu: KNN pada Titanic dengan dan tanpa scaler. Bedanya terlihat langsung.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konsep paling penting hari ini. Ulangi minimal dua kali. Aturan: SPLIT DULU, baru fit preprocessing — dan hanya pada train.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Berkeliling. Cari kelompok yang menemukan bahwa 'Cabin' hampir seluruhnya kosong — itu bahan debrief terbaik. Jangan beri jawaban; beri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mod/forum/view.php?id=491677"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mod/page/view.php?id=495555" TargetMode="External"/><Relationship Id="rId3" Type="http://schemas.openxmlformats.org/officeDocument/2006/relationships/hyperlink" Target="https://ebelajar.stiki.ac.id/mod/assign/view.php?id=491680"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course/view.php?id=7218" TargetMode="External"/><Relationship Id="rId3" Type="http://schemas.openxmlformats.org/officeDocument/2006/relationships/hyperlink" Target="https://ebelajar.stiki.ac.id/mod/page/view.php?id=495553" TargetMode="External"/><Relationship Id="rId4" Type="http://schemas.openxmlformats.org/officeDocument/2006/relationships/hyperlink" Target="https://ebelajar.stiki.ac.id/mod/page/view.php?id=491676" TargetMode="External"/><Relationship Id="rId5" Type="http://schemas.openxmlformats.org/officeDocument/2006/relationships/hyperlink" Target="https://ebelajar.stiki.ac.id/mod/page/view.php?id=495555" TargetMode="External"/><Relationship Id="rId6" Type="http://schemas.openxmlformats.org/officeDocument/2006/relationships/hyperlink" Target="https://ebelajar.stiki.ac.id/mod/forum/view.php?id=491677" TargetMode="External"/><Relationship Id="rId7" Type="http://schemas.openxmlformats.org/officeDocument/2006/relationships/hyperlink" Target="https://ebelajar.stiki.ac.id/mod/assign/view.php?id=491680" TargetMode="External"/><Relationship Id="rId8" Type="http://schemas.openxmlformats.org/officeDocument/2006/relationships/hyperlink" Target="https://ebelajar.stiki.ac.id/mod/choice/view.php?id=491673" TargetMode="External"/><Relationship Id="rId9" Type="http://schemas.openxmlformats.org/officeDocument/2006/relationships/hyperlink" Target="https://ebelajar.stiki.ac.id/mod/forum/view.php?id=49167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PERTEMUAN 1  ·  SENIN, 7 SEPTEMBER 2026</a:t>
            </a:r>
          </a:p>
        </p:txBody>
      </p:sp>
      <p:sp>
        <p:nvSpPr>
          <p:cNvPr id="5" name="TextBox 4"/>
          <p:cNvSpPr txBox="1"/>
          <p:nvPr/>
        </p:nvSpPr>
        <p:spPr>
          <a:xfrm>
            <a:off x="1005840" y="2286000"/>
            <a:ext cx="10241280" cy="1828800"/>
          </a:xfrm>
          <a:prstGeom prst="rect">
            <a:avLst/>
          </a:prstGeom>
          <a:noFill/>
        </p:spPr>
        <p:txBody>
          <a:bodyPr wrap="square">
            <a:spAutoFit/>
          </a:bodyPr>
          <a:lstStyle/>
          <a:p>
            <a:pPr>
              <a:defRPr sz="5200" b="1">
                <a:solidFill>
                  <a:srgbClr val="FFFFFF"/>
                </a:solidFill>
              </a:defRPr>
            </a:pPr>
            <a:r>
              <a:t>Pembelajaran Mesin</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a:solidFill>
                  <a:srgbClr val="C8D4E6"/>
                </a:solidFill>
              </a:defRPr>
            </a:pPr>
            <a:r>
              <a:t>Kenapa Machine Learning? + Preprocessing itu Pondasi</a:t>
            </a:r>
          </a:p>
        </p:txBody>
      </p:sp>
      <p:sp>
        <p:nvSpPr>
          <p:cNvPr id="7" name="TextBox 6"/>
          <p:cNvSpPr txBox="1"/>
          <p:nvPr/>
        </p:nvSpPr>
        <p:spPr>
          <a:xfrm>
            <a:off x="1005840" y="5760720"/>
            <a:ext cx="10241280" cy="640080"/>
          </a:xfrm>
          <a:prstGeom prst="rect">
            <a:avLst/>
          </a:prstGeom>
          <a:noFill/>
        </p:spPr>
        <p:txBody>
          <a:bodyPr wrap="square">
            <a:spAutoFit/>
          </a:bodyPr>
          <a:lstStyle/>
          <a:p>
            <a:pPr>
              <a:defRPr sz="1600">
                <a:solidFill>
                  <a:srgbClr val="8FA3BF"/>
                </a:solidFill>
              </a:defRPr>
            </a:pPr>
            <a:r>
              <a:t>IF24KB53  ·  3 SKS  ·  Kelas A  ·  Ruang A.2.1  ·  Mukhlis Amien, M.Kom.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Agenda hari ini</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150 menit, dan sebagian besarnya bukan saya yang bicara.</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200">
                <a:solidFill>
                  <a:srgbClr val="1A1F2B"/>
                </a:solidFill>
              </a:rPr>
              <a:t>•  </a:t>
            </a:r>
            <a:r>
              <a:rPr sz="2200" b="1">
                <a:solidFill>
                  <a:srgbClr val="102545"/>
                </a:solidFill>
              </a:rPr>
              <a:t>Kontrak kuliah</a:t>
            </a:r>
            <a:r>
              <a:rPr sz="2200">
                <a:solidFill>
                  <a:srgbClr val="1A1F2B"/>
                </a:solidFill>
              </a:rPr>
              <a:t> — aturan main satu semester, kita sepakati bersama  (±30')</a:t>
            </a:r>
          </a:p>
          <a:p>
            <a:pPr>
              <a:spcBef>
                <a:spcPts val="1100"/>
              </a:spcBef>
            </a:pPr>
            <a:r>
              <a:rPr sz="2200">
                <a:solidFill>
                  <a:srgbClr val="1A1F2B"/>
                </a:solidFill>
              </a:rPr>
              <a:t>•  </a:t>
            </a:r>
            <a:r>
              <a:rPr sz="2200" b="1">
                <a:solidFill>
                  <a:srgbClr val="102545"/>
                </a:solidFill>
              </a:rPr>
              <a:t>Perkenalan &amp; survey awal</a:t>
            </a:r>
            <a:r>
              <a:rPr sz="2200">
                <a:solidFill>
                  <a:srgbClr val="1A1F2B"/>
                </a:solidFill>
              </a:rPr>
              <a:t> — siapa Anda, sejauh mana bekal Python Anda  (±15')</a:t>
            </a:r>
          </a:p>
          <a:p>
            <a:pPr>
              <a:spcBef>
                <a:spcPts val="1100"/>
              </a:spcBef>
            </a:pPr>
            <a:r>
              <a:rPr sz="2200">
                <a:solidFill>
                  <a:srgbClr val="1A1F2B"/>
                </a:solidFill>
              </a:rPr>
              <a:t>•  </a:t>
            </a:r>
            <a:r>
              <a:rPr sz="2200" b="1">
                <a:solidFill>
                  <a:srgbClr val="102545"/>
                </a:solidFill>
              </a:rPr>
              <a:t>Materi</a:t>
            </a:r>
            <a:r>
              <a:rPr sz="2200">
                <a:solidFill>
                  <a:srgbClr val="1A1F2B"/>
                </a:solidFill>
              </a:rPr>
              <a:t>: apa itu Machine Learning, dan kenapa preprocessing jadi pondasi  (±25')</a:t>
            </a:r>
          </a:p>
          <a:p>
            <a:pPr>
              <a:spcBef>
                <a:spcPts val="1100"/>
              </a:spcBef>
            </a:pPr>
            <a:r>
              <a:rPr sz="2200">
                <a:solidFill>
                  <a:srgbClr val="1A1F2B"/>
                </a:solidFill>
              </a:rPr>
              <a:t>•  </a:t>
            </a:r>
            <a:r>
              <a:rPr sz="2200" b="1">
                <a:solidFill>
                  <a:srgbClr val="102545"/>
                </a:solidFill>
              </a:rPr>
              <a:t>Studio</a:t>
            </a:r>
            <a:r>
              <a:rPr sz="2200">
                <a:solidFill>
                  <a:srgbClr val="1A1F2B"/>
                </a:solidFill>
              </a:rPr>
              <a:t>: buka data nyata, temukan masalahnya sendiri  (±60')</a:t>
            </a:r>
          </a:p>
          <a:p>
            <a:pPr>
              <a:spcBef>
                <a:spcPts val="1100"/>
              </a:spcBef>
            </a:pPr>
            <a:r>
              <a:rPr sz="2200">
                <a:solidFill>
                  <a:srgbClr val="1A1F2B"/>
                </a:solidFill>
              </a:rPr>
              <a:t>•  </a:t>
            </a:r>
            <a:r>
              <a:rPr sz="2200" b="1">
                <a:solidFill>
                  <a:srgbClr val="102545"/>
                </a:solidFill>
              </a:rPr>
              <a:t>Debrief + exit-ticket</a:t>
            </a:r>
            <a:r>
              <a:rPr sz="2200">
                <a:solidFill>
                  <a:srgbClr val="1A1F2B"/>
                </a:solidFill>
              </a:rPr>
              <a:t> — kita bandingkan temuan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1</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Kontrak Kuliah</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Aturan main yang kita sepakati bersama hari ini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Identitas mata kuliah</a:t>
            </a:r>
          </a:p>
        </p:txBody>
      </p:sp>
      <p:graphicFrame>
        <p:nvGraphicFramePr>
          <p:cNvPr id="5" name="Table 4"/>
          <p:cNvGraphicFramePr>
            <a:graphicFrameLocks noGrp="1"/>
          </p:cNvGraphicFramePr>
          <p:nvPr/>
        </p:nvGraphicFramePr>
        <p:xfrm>
          <a:off x="777240" y="1371600"/>
          <a:ext cx="10652760" cy="3236976"/>
        </p:xfrm>
        <a:graphic>
          <a:graphicData uri="http://schemas.openxmlformats.org/drawingml/2006/table">
            <a:tbl>
              <a:tblPr firstRow="1" bandRow="1">
                <a:tableStyleId>{5C22544A-7EE6-4342-B048-85BDC9FD1C3A}</a:tableStyleId>
              </a:tblPr>
              <a:tblGrid>
                <a:gridCol w="2663190"/>
                <a:gridCol w="7989570"/>
              </a:tblGrid>
              <a:tr h="404622">
                <a:tc>
                  <a:txBody>
                    <a:bodyPr/>
                    <a:lstStyle/>
                    <a:p>
                      <a:pPr>
                        <a:defRPr sz="1800" b="1">
                          <a:solidFill>
                            <a:srgbClr val="FFFFFF"/>
                          </a:solidFill>
                        </a:defRPr>
                      </a:pPr>
                    </a:p>
                  </a:txBody>
                  <a:tcPr anchor="ctr">
                    <a:solidFill>
                      <a:srgbClr val="102545"/>
                    </a:solidFill>
                  </a:tcPr>
                </a:tc>
                <a:tc>
                  <a:txBody>
                    <a:bodyPr/>
                    <a:lstStyle/>
                    <a:p>
                      <a:pPr>
                        <a:defRPr sz="1800" b="1">
                          <a:solidFill>
                            <a:srgbClr val="FFFFFF"/>
                          </a:solidFill>
                        </a:defRPr>
                      </a:pPr>
                    </a:p>
                  </a:txBody>
                  <a:tcPr anchor="ctr">
                    <a:solidFill>
                      <a:srgbClr val="102545"/>
                    </a:solidFill>
                  </a:tcPr>
                </a:tc>
              </a:tr>
              <a:tr h="404622">
                <a:tc>
                  <a:txBody>
                    <a:bodyPr/>
                    <a:lstStyle/>
                    <a:p>
                      <a:pPr>
                        <a:defRPr sz="1800" b="1">
                          <a:solidFill>
                            <a:srgbClr val="102545"/>
                          </a:solidFill>
                        </a:defRPr>
                      </a:pPr>
                      <a:r>
                        <a:t>Mata Kuliah</a:t>
                      </a:r>
                    </a:p>
                  </a:txBody>
                  <a:tcPr anchor="ctr">
                    <a:solidFill>
                      <a:srgbClr val="F5F7FA"/>
                    </a:solidFill>
                  </a:tcPr>
                </a:tc>
                <a:tc>
                  <a:txBody>
                    <a:bodyPr/>
                    <a:lstStyle/>
                    <a:p>
                      <a:pPr>
                        <a:defRPr sz="1800">
                          <a:solidFill>
                            <a:srgbClr val="1A1F2B"/>
                          </a:solidFill>
                        </a:defRPr>
                      </a:pPr>
                      <a:r>
                        <a:t>Pembelajaran Mesin  (IF24KB53)</a:t>
                      </a:r>
                    </a:p>
                  </a:txBody>
                  <a:tcPr anchor="ctr">
                    <a:solidFill>
                      <a:srgbClr val="F5F7FA"/>
                    </a:solidFill>
                  </a:tcPr>
                </a:tc>
              </a:tr>
              <a:tr h="404622">
                <a:tc>
                  <a:txBody>
                    <a:bodyPr/>
                    <a:lstStyle/>
                    <a:p>
                      <a:pPr>
                        <a:defRPr sz="1800" b="1">
                          <a:solidFill>
                            <a:srgbClr val="102545"/>
                          </a:solidFill>
                        </a:defRPr>
                      </a:pPr>
                      <a:r>
                        <a:t>Bobot</a:t>
                      </a:r>
                    </a:p>
                  </a:txBody>
                  <a:tcPr anchor="ctr">
                    <a:solidFill>
                      <a:srgbClr val="FFFFFF"/>
                    </a:solidFill>
                  </a:tcPr>
                </a:tc>
                <a:tc>
                  <a:txBody>
                    <a:bodyPr/>
                    <a:lstStyle/>
                    <a:p>
                      <a:pPr>
                        <a:defRPr sz="1800">
                          <a:solidFill>
                            <a:srgbClr val="1A1F2B"/>
                          </a:solidFill>
                        </a:defRPr>
                      </a:pPr>
                      <a:r>
                        <a:t>3 SKS  ·  Semester 5  ·  Prodi Informatika</a:t>
                      </a:r>
                    </a:p>
                  </a:txBody>
                  <a:tcPr anchor="ctr">
                    <a:solidFill>
                      <a:srgbClr val="FFFFFF"/>
                    </a:solidFill>
                  </a:tcPr>
                </a:tc>
              </a:tr>
              <a:tr h="404622">
                <a:tc>
                  <a:txBody>
                    <a:bodyPr/>
                    <a:lstStyle/>
                    <a:p>
                      <a:pPr>
                        <a:defRPr sz="1800" b="1">
                          <a:solidFill>
                            <a:srgbClr val="102545"/>
                          </a:solidFill>
                        </a:defRPr>
                      </a:pPr>
                      <a:r>
                        <a:t>Prasyarat</a:t>
                      </a:r>
                    </a:p>
                  </a:txBody>
                  <a:tcPr anchor="ctr">
                    <a:solidFill>
                      <a:srgbClr val="F5F7FA"/>
                    </a:solidFill>
                  </a:tcPr>
                </a:tc>
                <a:tc>
                  <a:txBody>
                    <a:bodyPr/>
                    <a:lstStyle/>
                    <a:p>
                      <a:pPr>
                        <a:defRPr sz="1800">
                          <a:solidFill>
                            <a:srgbClr val="1A1F2B"/>
                          </a:solidFill>
                        </a:defRPr>
                      </a:pPr>
                      <a:r>
                        <a:t>Kecerdasan Buatan</a:t>
                      </a:r>
                    </a:p>
                  </a:txBody>
                  <a:tcPr anchor="ctr">
                    <a:solidFill>
                      <a:srgbClr val="F5F7FA"/>
                    </a:solidFill>
                  </a:tcPr>
                </a:tc>
              </a:tr>
              <a:tr h="404622">
                <a:tc>
                  <a:txBody>
                    <a:bodyPr/>
                    <a:lstStyle/>
                    <a:p>
                      <a:pPr>
                        <a:defRPr sz="1800" b="1">
                          <a:solidFill>
                            <a:srgbClr val="102545"/>
                          </a:solidFill>
                        </a:defRPr>
                      </a:pPr>
                      <a:r>
                        <a:t>Jadwal</a:t>
                      </a:r>
                    </a:p>
                  </a:txBody>
                  <a:tcPr anchor="ctr">
                    <a:solidFill>
                      <a:srgbClr val="FFFFFF"/>
                    </a:solidFill>
                  </a:tcPr>
                </a:tc>
                <a:tc>
                  <a:txBody>
                    <a:bodyPr/>
                    <a:lstStyle/>
                    <a:p>
                      <a:pPr>
                        <a:defRPr sz="1800">
                          <a:solidFill>
                            <a:srgbClr val="1A1F2B"/>
                          </a:solidFill>
                        </a:defRPr>
                      </a:pPr>
                      <a:r>
                        <a:t>Senin, 13:00–15:30  ·  Ruang A.2.1</a:t>
                      </a:r>
                    </a:p>
                  </a:txBody>
                  <a:tcPr anchor="ctr">
                    <a:solidFill>
                      <a:srgbClr val="FFFFFF"/>
                    </a:solidFill>
                  </a:tcPr>
                </a:tc>
              </a:tr>
              <a:tr h="404622">
                <a:tc>
                  <a:txBody>
                    <a:bodyPr/>
                    <a:lstStyle/>
                    <a:p>
                      <a:pPr>
                        <a:defRPr sz="1800" b="1">
                          <a:solidFill>
                            <a:srgbClr val="102545"/>
                          </a:solidFill>
                        </a:defRPr>
                      </a:pPr>
                      <a:r>
                        <a:t>Periode</a:t>
                      </a:r>
                    </a:p>
                  </a:txBody>
                  <a:tcPr anchor="ctr">
                    <a:solidFill>
                      <a:srgbClr val="F5F7FA"/>
                    </a:solidFill>
                  </a:tcPr>
                </a:tc>
                <a:tc>
                  <a:txBody>
                    <a:bodyPr/>
                    <a:lstStyle/>
                    <a:p>
                      <a:pPr>
                        <a:defRPr sz="1800">
                          <a:solidFill>
                            <a:srgbClr val="1A1F2B"/>
                          </a:solidFill>
                        </a:defRPr>
                      </a:pPr>
                      <a:r>
                        <a:t>7 September 2026 – 28 Februari 2027</a:t>
                      </a:r>
                    </a:p>
                  </a:txBody>
                  <a:tcPr anchor="ctr">
                    <a:solidFill>
                      <a:srgbClr val="F5F7FA"/>
                    </a:solidFill>
                  </a:tcPr>
                </a:tc>
              </a:tr>
              <a:tr h="404622">
                <a:tc>
                  <a:txBody>
                    <a:bodyPr/>
                    <a:lstStyle/>
                    <a:p>
                      <a:pPr>
                        <a:defRPr sz="1800" b="1">
                          <a:solidFill>
                            <a:srgbClr val="102545"/>
                          </a:solidFill>
                        </a:defRPr>
                      </a:pPr>
                      <a:r>
                        <a:t>Dosen</a:t>
                      </a:r>
                    </a:p>
                  </a:txBody>
                  <a:tcPr anchor="ctr">
                    <a:solidFill>
                      <a:srgbClr val="FFFFFF"/>
                    </a:solidFill>
                  </a:tcPr>
                </a:tc>
                <a:tc>
                  <a:txBody>
                    <a:bodyPr/>
                    <a:lstStyle/>
                    <a:p>
                      <a:pPr>
                        <a:defRPr sz="1800">
                          <a:solidFill>
                            <a:srgbClr val="1A1F2B"/>
                          </a:solidFill>
                        </a:defRPr>
                      </a:pPr>
                      <a:r>
                        <a:t>Mukhlis Amien, M.Kom.</a:t>
                      </a:r>
                    </a:p>
                  </a:txBody>
                  <a:tcPr anchor="ctr">
                    <a:solidFill>
                      <a:srgbClr val="FFFFFF"/>
                    </a:solidFill>
                  </a:tcPr>
                </a:tc>
              </a:tr>
              <a:tr h="404622">
                <a:tc>
                  <a:txBody>
                    <a:bodyPr/>
                    <a:lstStyle/>
                    <a:p>
                      <a:pPr>
                        <a:defRPr sz="1800" b="1">
                          <a:solidFill>
                            <a:srgbClr val="102545"/>
                          </a:solidFill>
                        </a:defRPr>
                      </a:pPr>
                      <a:r>
                        <a:t>Kelas daring</a:t>
                      </a:r>
                    </a:p>
                  </a:txBody>
                  <a:tcPr anchor="ctr">
                    <a:solidFill>
                      <a:srgbClr val="F5F7FA"/>
                    </a:solidFill>
                  </a:tcPr>
                </a:tc>
                <a:tc>
                  <a:txBody>
                    <a:bodyPr/>
                    <a:lstStyle/>
                    <a:p>
                      <a:pPr>
                        <a:defRPr sz="1800">
                          <a:solidFill>
                            <a:srgbClr val="1A1F2B"/>
                          </a:solidFill>
                        </a:defRPr>
                      </a:pPr>
                      <a:r>
                        <a:t>ebelajar.stiki.ac.id → Pembelajaran Mesin A 2026-Ganjil</a:t>
                      </a:r>
                    </a:p>
                  </a:txBody>
                  <a:tcPr anchor="ct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yang Anda bisa di akhir semester</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CPMK082 · CPMK113  →  mendukung CPL08 &amp; CPL11</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100">
                <a:solidFill>
                  <a:srgbClr val="1A1F2B"/>
                </a:solidFill>
              </a:rPr>
              <a:t>•  Menyiapkan data mentah yang berantakan sampai </a:t>
            </a:r>
            <a:r>
              <a:rPr sz="2100" b="1">
                <a:solidFill>
                  <a:srgbClr val="102545"/>
                </a:solidFill>
              </a:rPr>
              <a:t>siap dilatih</a:t>
            </a:r>
            <a:r>
              <a:rPr sz="2100">
                <a:solidFill>
                  <a:srgbClr val="1A1F2B"/>
                </a:solidFill>
              </a:rPr>
              <a:t> — dan membuktikan dengan angka bahwa itu penting</a:t>
            </a:r>
          </a:p>
          <a:p>
            <a:pPr>
              <a:spcBef>
                <a:spcPts val="1100"/>
              </a:spcBef>
            </a:pPr>
            <a:r>
              <a:rPr sz="2100">
                <a:solidFill>
                  <a:srgbClr val="1A1F2B"/>
                </a:solidFill>
              </a:rPr>
              <a:t>•  Mengevaluasi model </a:t>
            </a:r>
            <a:r>
              <a:rPr sz="2100" b="1">
                <a:solidFill>
                  <a:srgbClr val="102545"/>
                </a:solidFill>
              </a:rPr>
              <a:t>dengan jujur</a:t>
            </a:r>
            <a:r>
              <a:rPr sz="2100">
                <a:solidFill>
                  <a:srgbClr val="1A1F2B"/>
                </a:solidFill>
              </a:rPr>
              <a:t>: memilih metrik yang tepat, bukan metrik yang enak dilihat</a:t>
            </a:r>
          </a:p>
          <a:p>
            <a:pPr>
              <a:spcBef>
                <a:spcPts val="1100"/>
              </a:spcBef>
            </a:pPr>
            <a:r>
              <a:rPr sz="2100">
                <a:solidFill>
                  <a:srgbClr val="1A1F2B"/>
                </a:solidFill>
              </a:rPr>
              <a:t>•  Mengenali dan mengendalikan </a:t>
            </a:r>
            <a:r>
              <a:rPr sz="2100" b="1">
                <a:solidFill>
                  <a:srgbClr val="102545"/>
                </a:solidFill>
              </a:rPr>
              <a:t>overfitting</a:t>
            </a:r>
            <a:r>
              <a:rPr sz="2100">
                <a:solidFill>
                  <a:srgbClr val="1A1F2B"/>
                </a:solidFill>
              </a:rPr>
              <a:t> — regularisasi, pruning, kontrol kompleksitas</a:t>
            </a:r>
          </a:p>
          <a:p>
            <a:pPr>
              <a:spcBef>
                <a:spcPts val="1100"/>
              </a:spcBef>
            </a:pPr>
            <a:r>
              <a:rPr sz="2100">
                <a:solidFill>
                  <a:srgbClr val="1A1F2B"/>
                </a:solidFill>
              </a:rPr>
              <a:t>•  Membangun </a:t>
            </a:r>
            <a:r>
              <a:rPr sz="2100" b="1">
                <a:solidFill>
                  <a:srgbClr val="102545"/>
                </a:solidFill>
              </a:rPr>
              <a:t>neural network</a:t>
            </a:r>
            <a:r>
              <a:rPr sz="2100">
                <a:solidFill>
                  <a:srgbClr val="1A1F2B"/>
                </a:solidFill>
              </a:rPr>
              <a:t>: dari feedforward, ke CNN untuk citra, ke RNN untuk teks</a:t>
            </a:r>
          </a:p>
          <a:p>
            <a:pPr>
              <a:spcBef>
                <a:spcPts val="1100"/>
              </a:spcBef>
            </a:pPr>
            <a:r>
              <a:rPr sz="2100">
                <a:solidFill>
                  <a:srgbClr val="1A1F2B"/>
                </a:solidFill>
              </a:rPr>
              <a:t>•  Melatih agen </a:t>
            </a:r>
            <a:r>
              <a:rPr sz="2100" b="1">
                <a:solidFill>
                  <a:srgbClr val="102545"/>
                </a:solidFill>
              </a:rPr>
              <a:t>reinforcement learning</a:t>
            </a:r>
            <a:r>
              <a:rPr sz="2100">
                <a:solidFill>
                  <a:srgbClr val="1A1F2B"/>
                </a:solidFill>
              </a:rPr>
              <a:t> yang belajar dari reward</a:t>
            </a:r>
          </a:p>
          <a:p>
            <a:pPr>
              <a:spcBef>
                <a:spcPts val="1100"/>
              </a:spcBef>
            </a:pPr>
            <a:r>
              <a:rPr sz="2100">
                <a:solidFill>
                  <a:srgbClr val="1A1F2B"/>
                </a:solidFill>
              </a:rPr>
              <a:t>•  Mengomunikasikan hasil sebagai </a:t>
            </a:r>
            <a:r>
              <a:rPr sz="2100" b="1">
                <a:solidFill>
                  <a:srgbClr val="102545"/>
                </a:solidFill>
              </a:rPr>
              <a:t>portofolio yang bisa dipertanggungjawabkan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Peta semester: lima fase, 16 pertemuan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Setiap fase menumpuk di atas fase sebelumnya — tertinggal di fase 1 terasa sampai akhir.</a:t>
            </a:r>
          </a:p>
        </p:txBody>
      </p:sp>
      <p:graphicFrame>
        <p:nvGraphicFramePr>
          <p:cNvPr id="6" name="Table 5"/>
          <p:cNvGraphicFramePr>
            <a:graphicFrameLocks noGrp="1"/>
          </p:cNvGraphicFramePr>
          <p:nvPr/>
        </p:nvGraphicFramePr>
        <p:xfrm>
          <a:off x="777240" y="1783080"/>
          <a:ext cx="10652760" cy="2468880"/>
        </p:xfrm>
        <a:graphic>
          <a:graphicData uri="http://schemas.openxmlformats.org/drawingml/2006/table">
            <a:tbl>
              <a:tblPr firstRow="1" bandRow="1">
                <a:tableStyleId>{5C22544A-7EE6-4342-B048-85BDC9FD1C3A}</a:tableStyleId>
              </a:tblPr>
              <a:tblGrid>
                <a:gridCol w="2840736"/>
                <a:gridCol w="1597914"/>
                <a:gridCol w="6214110"/>
              </a:tblGrid>
              <a:tr h="411480">
                <a:tc>
                  <a:txBody>
                    <a:bodyPr/>
                    <a:lstStyle/>
                    <a:p>
                      <a:pPr>
                        <a:defRPr sz="1800" b="1">
                          <a:solidFill>
                            <a:srgbClr val="FFFFFF"/>
                          </a:solidFill>
                        </a:defRPr>
                      </a:pPr>
                      <a:r>
                        <a:t>Fase</a:t>
                      </a:r>
                    </a:p>
                  </a:txBody>
                  <a:tcPr anchor="ctr">
                    <a:solidFill>
                      <a:srgbClr val="102545"/>
                    </a:solidFill>
                  </a:tcPr>
                </a:tc>
                <a:tc>
                  <a:txBody>
                    <a:bodyPr/>
                    <a:lstStyle/>
                    <a:p>
                      <a:pPr>
                        <a:defRPr sz="1800" b="1">
                          <a:solidFill>
                            <a:srgbClr val="FFFFFF"/>
                          </a:solidFill>
                        </a:defRPr>
                      </a:pPr>
                      <a:r>
                        <a:t>Pertemuan</a:t>
                      </a:r>
                    </a:p>
                  </a:txBody>
                  <a:tcPr anchor="ctr">
                    <a:solidFill>
                      <a:srgbClr val="102545"/>
                    </a:solidFill>
                  </a:tcPr>
                </a:tc>
                <a:tc>
                  <a:txBody>
                    <a:bodyPr/>
                    <a:lstStyle/>
                    <a:p>
                      <a:pPr>
                        <a:defRPr sz="1800" b="1">
                          <a:solidFill>
                            <a:srgbClr val="FFFFFF"/>
                          </a:solidFill>
                        </a:defRPr>
                      </a:pPr>
                      <a:r>
                        <a:t>Fokus</a:t>
                      </a:r>
                    </a:p>
                  </a:txBody>
                  <a:tcPr anchor="ctr">
                    <a:solidFill>
                      <a:srgbClr val="102545"/>
                    </a:solidFill>
                  </a:tcPr>
                </a:tc>
              </a:tr>
              <a:tr h="411480">
                <a:tc>
                  <a:txBody>
                    <a:bodyPr/>
                    <a:lstStyle/>
                    <a:p>
                      <a:pPr>
                        <a:defRPr sz="1800" b="1">
                          <a:solidFill>
                            <a:srgbClr val="102545"/>
                          </a:solidFill>
                        </a:defRPr>
                      </a:pPr>
                      <a:r>
                        <a:t>1 — Data First</a:t>
                      </a:r>
                    </a:p>
                  </a:txBody>
                  <a:tcPr anchor="ctr">
                    <a:solidFill>
                      <a:srgbClr val="F5F7FA"/>
                    </a:solidFill>
                  </a:tcPr>
                </a:tc>
                <a:tc>
                  <a:txBody>
                    <a:bodyPr/>
                    <a:lstStyle/>
                    <a:p>
                      <a:pPr>
                        <a:defRPr sz="1800">
                          <a:solidFill>
                            <a:srgbClr val="1A1F2B"/>
                          </a:solidFill>
                        </a:defRPr>
                      </a:pPr>
                      <a:r>
                        <a:t>1–3</a:t>
                      </a:r>
                    </a:p>
                  </a:txBody>
                  <a:tcPr anchor="ctr">
                    <a:solidFill>
                      <a:srgbClr val="F5F7FA"/>
                    </a:solidFill>
                  </a:tcPr>
                </a:tc>
                <a:tc>
                  <a:txBody>
                    <a:bodyPr/>
                    <a:lstStyle/>
                    <a:p>
                      <a:pPr>
                        <a:defRPr sz="1800">
                          <a:solidFill>
                            <a:srgbClr val="1A1F2B"/>
                          </a:solidFill>
                        </a:defRPr>
                      </a:pPr>
                      <a:r>
                        <a:t>Preprocessing, skala, encoding, feature thinking</a:t>
                      </a:r>
                    </a:p>
                  </a:txBody>
                  <a:tcPr anchor="ctr">
                    <a:solidFill>
                      <a:srgbClr val="F5F7FA"/>
                    </a:solidFill>
                  </a:tcPr>
                </a:tc>
              </a:tr>
              <a:tr h="411480">
                <a:tc>
                  <a:txBody>
                    <a:bodyPr/>
                    <a:lstStyle/>
                    <a:p>
                      <a:pPr>
                        <a:defRPr sz="1800" b="1">
                          <a:solidFill>
                            <a:srgbClr val="102545"/>
                          </a:solidFill>
                        </a:defRPr>
                      </a:pPr>
                      <a:r>
                        <a:t>2 — Modeling Mindset</a:t>
                      </a:r>
                    </a:p>
                  </a:txBody>
                  <a:tcPr anchor="ctr">
                    <a:solidFill>
                      <a:srgbClr val="FFFFFF"/>
                    </a:solidFill>
                  </a:tcPr>
                </a:tc>
                <a:tc>
                  <a:txBody>
                    <a:bodyPr/>
                    <a:lstStyle/>
                    <a:p>
                      <a:pPr>
                        <a:defRPr sz="1800">
                          <a:solidFill>
                            <a:srgbClr val="1A1F2B"/>
                          </a:solidFill>
                        </a:defRPr>
                      </a:pPr>
                      <a:r>
                        <a:t>4–6</a:t>
                      </a:r>
                    </a:p>
                  </a:txBody>
                  <a:tcPr anchor="ctr">
                    <a:solidFill>
                      <a:srgbClr val="FFFFFF"/>
                    </a:solidFill>
                  </a:tcPr>
                </a:tc>
                <a:tc>
                  <a:txBody>
                    <a:bodyPr/>
                    <a:lstStyle/>
                    <a:p>
                      <a:pPr>
                        <a:defRPr sz="1800">
                          <a:solidFill>
                            <a:srgbClr val="1A1F2B"/>
                          </a:solidFill>
                        </a:defRPr>
                      </a:pPr>
                      <a:r>
                        <a:t>Evaluasi yang benar, overfitting, regularisasi, pruning</a:t>
                      </a:r>
                    </a:p>
                  </a:txBody>
                  <a:tcPr anchor="ctr">
                    <a:solidFill>
                      <a:srgbClr val="FFFFFF"/>
                    </a:solidFill>
                  </a:tcPr>
                </a:tc>
              </a:tr>
              <a:tr h="411480">
                <a:tc>
                  <a:txBody>
                    <a:bodyPr/>
                    <a:lstStyle/>
                    <a:p>
                      <a:pPr>
                        <a:defRPr sz="1800" b="1">
                          <a:solidFill>
                            <a:srgbClr val="102545"/>
                          </a:solidFill>
                        </a:defRPr>
                      </a:pPr>
                      <a:r>
                        <a:t>3 — Neural Era</a:t>
                      </a:r>
                    </a:p>
                  </a:txBody>
                  <a:tcPr anchor="ctr">
                    <a:solidFill>
                      <a:srgbClr val="F5F7FA"/>
                    </a:solidFill>
                  </a:tcPr>
                </a:tc>
                <a:tc>
                  <a:txBody>
                    <a:bodyPr/>
                    <a:lstStyle/>
                    <a:p>
                      <a:pPr>
                        <a:defRPr sz="1800">
                          <a:solidFill>
                            <a:srgbClr val="1A1F2B"/>
                          </a:solidFill>
                        </a:defRPr>
                      </a:pPr>
                      <a:r>
                        <a:t>7–11</a:t>
                      </a:r>
                    </a:p>
                  </a:txBody>
                  <a:tcPr anchor="ctr">
                    <a:solidFill>
                      <a:srgbClr val="F5F7FA"/>
                    </a:solidFill>
                  </a:tcPr>
                </a:tc>
                <a:tc>
                  <a:txBody>
                    <a:bodyPr/>
                    <a:lstStyle/>
                    <a:p>
                      <a:pPr>
                        <a:defRPr sz="1800">
                          <a:solidFill>
                            <a:srgbClr val="1A1F2B"/>
                          </a:solidFill>
                        </a:defRPr>
                      </a:pPr>
                      <a:r>
                        <a:t>Neural network dasar → CNN → RNN &amp; NLP</a:t>
                      </a:r>
                    </a:p>
                  </a:txBody>
                  <a:tcPr anchor="ctr">
                    <a:solidFill>
                      <a:srgbClr val="F5F7FA"/>
                    </a:solidFill>
                  </a:tcPr>
                </a:tc>
              </a:tr>
              <a:tr h="411480">
                <a:tc>
                  <a:txBody>
                    <a:bodyPr/>
                    <a:lstStyle/>
                    <a:p>
                      <a:pPr>
                        <a:defRPr sz="1800" b="1">
                          <a:solidFill>
                            <a:srgbClr val="102545"/>
                          </a:solidFill>
                        </a:defRPr>
                      </a:pPr>
                      <a:r>
                        <a:t>4 — Learning by Doing</a:t>
                      </a:r>
                    </a:p>
                  </a:txBody>
                  <a:tcPr anchor="ctr">
                    <a:solidFill>
                      <a:srgbClr val="FFFFFF"/>
                    </a:solidFill>
                  </a:tcPr>
                </a:tc>
                <a:tc>
                  <a:txBody>
                    <a:bodyPr/>
                    <a:lstStyle/>
                    <a:p>
                      <a:pPr>
                        <a:defRPr sz="1800">
                          <a:solidFill>
                            <a:srgbClr val="1A1F2B"/>
                          </a:solidFill>
                        </a:defRPr>
                      </a:pPr>
                      <a:r>
                        <a:t>12–13</a:t>
                      </a:r>
                    </a:p>
                  </a:txBody>
                  <a:tcPr anchor="ctr">
                    <a:solidFill>
                      <a:srgbClr val="FFFFFF"/>
                    </a:solidFill>
                  </a:tcPr>
                </a:tc>
                <a:tc>
                  <a:txBody>
                    <a:bodyPr/>
                    <a:lstStyle/>
                    <a:p>
                      <a:pPr>
                        <a:defRPr sz="1800">
                          <a:solidFill>
                            <a:srgbClr val="1A1F2B"/>
                          </a:solidFill>
                        </a:defRPr>
                      </a:pPr>
                      <a:r>
                        <a:t>Reinforcement Learning: dasar → lanjut</a:t>
                      </a:r>
                    </a:p>
                  </a:txBody>
                  <a:tcPr anchor="ctr">
                    <a:solidFill>
                      <a:srgbClr val="FFFFFF"/>
                    </a:solidFill>
                  </a:tcPr>
                </a:tc>
              </a:tr>
              <a:tr h="411480">
                <a:tc>
                  <a:txBody>
                    <a:bodyPr/>
                    <a:lstStyle/>
                    <a:p>
                      <a:pPr>
                        <a:defRPr sz="1800" b="1">
                          <a:solidFill>
                            <a:srgbClr val="102545"/>
                          </a:solidFill>
                        </a:defRPr>
                      </a:pPr>
                      <a:r>
                        <a:t>5 — Show &amp; Reflect</a:t>
                      </a:r>
                    </a:p>
                  </a:txBody>
                  <a:tcPr anchor="ctr">
                    <a:solidFill>
                      <a:srgbClr val="F5F7FA"/>
                    </a:solidFill>
                  </a:tcPr>
                </a:tc>
                <a:tc>
                  <a:txBody>
                    <a:bodyPr/>
                    <a:lstStyle/>
                    <a:p>
                      <a:pPr>
                        <a:defRPr sz="1800">
                          <a:solidFill>
                            <a:srgbClr val="1A1F2B"/>
                          </a:solidFill>
                        </a:defRPr>
                      </a:pPr>
                      <a:r>
                        <a:t>14–16</a:t>
                      </a:r>
                    </a:p>
                  </a:txBody>
                  <a:tcPr anchor="ctr">
                    <a:solidFill>
                      <a:srgbClr val="F5F7FA"/>
                    </a:solidFill>
                  </a:tcPr>
                </a:tc>
                <a:tc>
                  <a:txBody>
                    <a:bodyPr/>
                    <a:lstStyle/>
                    <a:p>
                      <a:pPr>
                        <a:defRPr sz="1800">
                          <a:solidFill>
                            <a:srgbClr val="1A1F2B"/>
                          </a:solidFill>
                        </a:defRPr>
                      </a:pPr>
                      <a:r>
                        <a:t>Review, pameran proyek, UAS &amp; refleksi</a:t>
                      </a:r>
                    </a:p>
                  </a:txBody>
                  <a:tcPr anchor="ctr">
                    <a:solidFill>
                      <a:srgbClr val="F5F7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Format setiap pertemuan: kelas ini studio</a:t>
            </a:r>
          </a:p>
        </p:txBody>
      </p:sp>
      <p:graphicFrame>
        <p:nvGraphicFramePr>
          <p:cNvPr id="5" name="Table 4"/>
          <p:cNvGraphicFramePr>
            <a:graphicFrameLocks noGrp="1"/>
          </p:cNvGraphicFramePr>
          <p:nvPr/>
        </p:nvGraphicFramePr>
        <p:xfrm>
          <a:off x="777240" y="1371600"/>
          <a:ext cx="10652760" cy="2468880"/>
        </p:xfrm>
        <a:graphic>
          <a:graphicData uri="http://schemas.openxmlformats.org/drawingml/2006/table">
            <a:tbl>
              <a:tblPr firstRow="1" bandRow="1">
                <a:tableStyleId>{5C22544A-7EE6-4342-B048-85BDC9FD1C3A}</a:tableStyleId>
              </a:tblPr>
              <a:tblGrid>
                <a:gridCol w="1154049"/>
                <a:gridCol w="2130552"/>
                <a:gridCol w="7368159"/>
              </a:tblGrid>
              <a:tr h="411480">
                <a:tc>
                  <a:txBody>
                    <a:bodyPr/>
                    <a:lstStyle/>
                    <a:p>
                      <a:pPr>
                        <a:defRPr sz="1800" b="1">
                          <a:solidFill>
                            <a:srgbClr val="FFFFFF"/>
                          </a:solidFill>
                        </a:defRPr>
                      </a:pPr>
                      <a:r>
                        <a:t>Durasi</a:t>
                      </a:r>
                    </a:p>
                  </a:txBody>
                  <a:tcPr anchor="ctr">
                    <a:solidFill>
                      <a:srgbClr val="102545"/>
                    </a:solidFill>
                  </a:tcPr>
                </a:tc>
                <a:tc>
                  <a:txBody>
                    <a:bodyPr/>
                    <a:lstStyle/>
                    <a:p>
                      <a:pPr>
                        <a:defRPr sz="1800" b="1">
                          <a:solidFill>
                            <a:srgbClr val="FFFFFF"/>
                          </a:solidFill>
                        </a:defRPr>
                      </a:pPr>
                      <a:r>
                        <a:t>Bagian</a:t>
                      </a:r>
                    </a:p>
                  </a:txBody>
                  <a:tcPr anchor="ctr">
                    <a:solidFill>
                      <a:srgbClr val="102545"/>
                    </a:solidFill>
                  </a:tcPr>
                </a:tc>
                <a:tc>
                  <a:txBody>
                    <a:bodyPr/>
                    <a:lstStyle/>
                    <a:p>
                      <a:pPr>
                        <a:defRPr sz="1800" b="1">
                          <a:solidFill>
                            <a:srgbClr val="FFFFFF"/>
                          </a:solidFill>
                        </a:defRPr>
                      </a:pPr>
                      <a:r>
                        <a:t>Isi</a:t>
                      </a:r>
                    </a:p>
                  </a:txBody>
                  <a:tcPr anchor="ctr">
                    <a:solidFill>
                      <a:srgbClr val="102545"/>
                    </a:solidFill>
                  </a:tcPr>
                </a:tc>
              </a:tr>
              <a:tr h="411480">
                <a:tc>
                  <a:txBody>
                    <a:bodyPr/>
                    <a:lstStyle/>
                    <a:p>
                      <a:pPr>
                        <a:defRPr sz="1800" b="1">
                          <a:solidFill>
                            <a:srgbClr val="102545"/>
                          </a:solidFill>
                        </a:defRPr>
                      </a:pPr>
                      <a:r>
                        <a:t>5'</a:t>
                      </a:r>
                    </a:p>
                  </a:txBody>
                  <a:tcPr anchor="ctr">
                    <a:solidFill>
                      <a:srgbClr val="F5F7FA"/>
                    </a:solidFill>
                  </a:tcPr>
                </a:tc>
                <a:tc>
                  <a:txBody>
                    <a:bodyPr/>
                    <a:lstStyle/>
                    <a:p>
                      <a:pPr>
                        <a:defRPr sz="1800">
                          <a:solidFill>
                            <a:srgbClr val="1A1F2B"/>
                          </a:solidFill>
                        </a:defRPr>
                      </a:pPr>
                      <a:r>
                        <a:t>Hook</a:t>
                      </a:r>
                    </a:p>
                  </a:txBody>
                  <a:tcPr anchor="ctr">
                    <a:solidFill>
                      <a:srgbClr val="F5F7FA"/>
                    </a:solidFill>
                  </a:tcPr>
                </a:tc>
                <a:tc>
                  <a:txBody>
                    <a:bodyPr/>
                    <a:lstStyle/>
                    <a:p>
                      <a:pPr>
                        <a:defRPr sz="1800">
                          <a:solidFill>
                            <a:srgbClr val="1A1F2B"/>
                          </a:solidFill>
                        </a:defRPr>
                      </a:pPr>
                      <a:r>
                        <a:t>Pemantik: satu kasus, satu angka, satu pertanyaan yang mengganggu</a:t>
                      </a:r>
                    </a:p>
                  </a:txBody>
                  <a:tcPr anchor="ctr">
                    <a:solidFill>
                      <a:srgbClr val="F5F7FA"/>
                    </a:solidFill>
                  </a:tcPr>
                </a:tc>
              </a:tr>
              <a:tr h="411480">
                <a:tc>
                  <a:txBody>
                    <a:bodyPr/>
                    <a:lstStyle/>
                    <a:p>
                      <a:pPr>
                        <a:defRPr sz="1800" b="1">
                          <a:solidFill>
                            <a:srgbClr val="102545"/>
                          </a:solidFill>
                        </a:defRPr>
                      </a:pPr>
                      <a:r>
                        <a:t>20'</a:t>
                      </a:r>
                    </a:p>
                  </a:txBody>
                  <a:tcPr anchor="ctr">
                    <a:solidFill>
                      <a:srgbClr val="FFFFFF"/>
                    </a:solidFill>
                  </a:tcPr>
                </a:tc>
                <a:tc>
                  <a:txBody>
                    <a:bodyPr/>
                    <a:lstStyle/>
                    <a:p>
                      <a:pPr>
                        <a:defRPr sz="1800">
                          <a:solidFill>
                            <a:srgbClr val="1A1F2B"/>
                          </a:solidFill>
                        </a:defRPr>
                      </a:pPr>
                      <a:r>
                        <a:t>Mini-lecture</a:t>
                      </a:r>
                    </a:p>
                  </a:txBody>
                  <a:tcPr anchor="ctr">
                    <a:solidFill>
                      <a:srgbClr val="FFFFFF"/>
                    </a:solidFill>
                  </a:tcPr>
                </a:tc>
                <a:tc>
                  <a:txBody>
                    <a:bodyPr/>
                    <a:lstStyle/>
                    <a:p>
                      <a:pPr>
                        <a:defRPr sz="1800">
                          <a:solidFill>
                            <a:srgbClr val="1A1F2B"/>
                          </a:solidFill>
                        </a:defRPr>
                      </a:pPr>
                      <a:r>
                        <a:t>Konsep inti — secukupnya untuk mulai bekerja</a:t>
                      </a:r>
                    </a:p>
                  </a:txBody>
                  <a:tcPr anchor="ctr">
                    <a:solidFill>
                      <a:srgbClr val="FFFFFF"/>
                    </a:solidFill>
                  </a:tcPr>
                </a:tc>
              </a:tr>
              <a:tr h="411480">
                <a:tc>
                  <a:txBody>
                    <a:bodyPr/>
                    <a:lstStyle/>
                    <a:p>
                      <a:pPr>
                        <a:defRPr sz="1800" b="1">
                          <a:solidFill>
                            <a:srgbClr val="102545"/>
                          </a:solidFill>
                        </a:defRPr>
                      </a:pPr>
                      <a:r>
                        <a:t>60'</a:t>
                      </a:r>
                    </a:p>
                  </a:txBody>
                  <a:tcPr anchor="ctr">
                    <a:solidFill>
                      <a:srgbClr val="F5F7FA"/>
                    </a:solidFill>
                  </a:tcPr>
                </a:tc>
                <a:tc>
                  <a:txBody>
                    <a:bodyPr/>
                    <a:lstStyle/>
                    <a:p>
                      <a:pPr>
                        <a:defRPr sz="1800">
                          <a:solidFill>
                            <a:srgbClr val="1A1F2B"/>
                          </a:solidFill>
                        </a:defRPr>
                      </a:pPr>
                      <a:r>
                        <a:t>Studio</a:t>
                      </a:r>
                    </a:p>
                  </a:txBody>
                  <a:tcPr anchor="ctr">
                    <a:solidFill>
                      <a:srgbClr val="F5F7FA"/>
                    </a:solidFill>
                  </a:tcPr>
                </a:tc>
                <a:tc>
                  <a:txBody>
                    <a:bodyPr/>
                    <a:lstStyle/>
                    <a:p>
                      <a:pPr>
                        <a:defRPr sz="1800">
                          <a:solidFill>
                            <a:srgbClr val="1A1F2B"/>
                          </a:solidFill>
                        </a:defRPr>
                      </a:pPr>
                      <a:r>
                        <a:t>Anda bekerja dengan data dan kode; saya berkeliling</a:t>
                      </a:r>
                    </a:p>
                  </a:txBody>
                  <a:tcPr anchor="ctr">
                    <a:solidFill>
                      <a:srgbClr val="F5F7FA"/>
                    </a:solidFill>
                  </a:tcPr>
                </a:tc>
              </a:tr>
              <a:tr h="411480">
                <a:tc>
                  <a:txBody>
                    <a:bodyPr/>
                    <a:lstStyle/>
                    <a:p>
                      <a:pPr>
                        <a:defRPr sz="1800" b="1">
                          <a:solidFill>
                            <a:srgbClr val="102545"/>
                          </a:solidFill>
                        </a:defRPr>
                      </a:pPr>
                      <a:r>
                        <a:t>10'</a:t>
                      </a:r>
                    </a:p>
                  </a:txBody>
                  <a:tcPr anchor="ctr">
                    <a:solidFill>
                      <a:srgbClr val="FFFFFF"/>
                    </a:solidFill>
                  </a:tcPr>
                </a:tc>
                <a:tc>
                  <a:txBody>
                    <a:bodyPr/>
                    <a:lstStyle/>
                    <a:p>
                      <a:pPr>
                        <a:defRPr sz="1800">
                          <a:solidFill>
                            <a:srgbClr val="1A1F2B"/>
                          </a:solidFill>
                        </a:defRPr>
                      </a:pPr>
                      <a:r>
                        <a:t>Debrief</a:t>
                      </a:r>
                    </a:p>
                  </a:txBody>
                  <a:tcPr anchor="ctr">
                    <a:solidFill>
                      <a:srgbClr val="FFFFFF"/>
                    </a:solidFill>
                  </a:tcPr>
                </a:tc>
                <a:tc>
                  <a:txBody>
                    <a:bodyPr/>
                    <a:lstStyle/>
                    <a:p>
                      <a:pPr>
                        <a:defRPr sz="1800">
                          <a:solidFill>
                            <a:srgbClr val="1A1F2B"/>
                          </a:solidFill>
                        </a:defRPr>
                      </a:pPr>
                      <a:r>
                        <a:t>Membandingkan hasil, membahas yang gagal</a:t>
                      </a:r>
                    </a:p>
                  </a:txBody>
                  <a:tcPr anchor="ctr">
                    <a:solidFill>
                      <a:srgbClr val="FFFFFF"/>
                    </a:solidFill>
                  </a:tcPr>
                </a:tc>
              </a:tr>
              <a:tr h="411480">
                <a:tc>
                  <a:txBody>
                    <a:bodyPr/>
                    <a:lstStyle/>
                    <a:p>
                      <a:pPr>
                        <a:defRPr sz="1800" b="1">
                          <a:solidFill>
                            <a:srgbClr val="102545"/>
                          </a:solidFill>
                        </a:defRPr>
                      </a:pPr>
                      <a:r>
                        <a:t>5'</a:t>
                      </a:r>
                    </a:p>
                  </a:txBody>
                  <a:tcPr anchor="ctr">
                    <a:solidFill>
                      <a:srgbClr val="F5F7FA"/>
                    </a:solidFill>
                  </a:tcPr>
                </a:tc>
                <a:tc>
                  <a:txBody>
                    <a:bodyPr/>
                    <a:lstStyle/>
                    <a:p>
                      <a:pPr>
                        <a:defRPr sz="1800">
                          <a:solidFill>
                            <a:srgbClr val="1A1F2B"/>
                          </a:solidFill>
                        </a:defRPr>
                      </a:pPr>
                      <a:r>
                        <a:t>Exit-ticket</a:t>
                      </a:r>
                    </a:p>
                  </a:txBody>
                  <a:tcPr anchor="ctr">
                    <a:solidFill>
                      <a:srgbClr val="F5F7FA"/>
                    </a:solidFill>
                  </a:tcPr>
                </a:tc>
                <a:tc>
                  <a:txBody>
                    <a:bodyPr/>
                    <a:lstStyle/>
                    <a:p>
                      <a:pPr>
                        <a:defRPr sz="1800">
                          <a:solidFill>
                            <a:srgbClr val="1A1F2B"/>
                          </a:solidFill>
                        </a:defRPr>
                      </a:pPr>
                      <a:r>
                        <a:t>Refleksi tertulis singkat — masuk nilai partisipatif</a:t>
                      </a:r>
                    </a:p>
                  </a:txBody>
                  <a:tcPr anchor="ctr">
                    <a:solidFill>
                      <a:srgbClr val="F5F7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Kelas ini tidak bisa diikuti secara pasif.</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Bawa laptop mulai Pertemuan 2. Enam puluh menit setiap minggu adalah waktu Anda bekerja, bukan waktu saya bicara.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Komponen dan bobot penilaian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Pendekatan Outcome-Based Education (OBE). Rubrik menilai konsep, kode, aplikasi, dokumentasi, kerja sama.</a:t>
            </a:r>
          </a:p>
        </p:txBody>
      </p:sp>
      <p:graphicFrame>
        <p:nvGraphicFramePr>
          <p:cNvPr id="6" name="Table 5"/>
          <p:cNvGraphicFramePr>
            <a:graphicFrameLocks noGrp="1"/>
          </p:cNvGraphicFramePr>
          <p:nvPr/>
        </p:nvGraphicFramePr>
        <p:xfrm>
          <a:off x="777240" y="1783080"/>
          <a:ext cx="10652758" cy="3621024"/>
        </p:xfrm>
        <a:graphic>
          <a:graphicData uri="http://schemas.openxmlformats.org/drawingml/2006/table">
            <a:tbl>
              <a:tblPr firstRow="1" bandRow="1">
                <a:tableStyleId>{5C22544A-7EE6-4342-B048-85BDC9FD1C3A}</a:tableStyleId>
              </a:tblPr>
              <a:tblGrid>
                <a:gridCol w="2828166"/>
                <a:gridCol w="6127693"/>
                <a:gridCol w="1696899"/>
              </a:tblGrid>
              <a:tr h="402336">
                <a:tc>
                  <a:txBody>
                    <a:bodyPr/>
                    <a:lstStyle/>
                    <a:p>
                      <a:pPr>
                        <a:defRPr sz="1700" b="1">
                          <a:solidFill>
                            <a:srgbClr val="FFFFFF"/>
                          </a:solidFill>
                        </a:defRPr>
                      </a:pPr>
                      <a:r>
                        <a:t>Komponen</a:t>
                      </a:r>
                    </a:p>
                  </a:txBody>
                  <a:tcPr anchor="ctr">
                    <a:solidFill>
                      <a:srgbClr val="102545"/>
                    </a:solidFill>
                  </a:tcPr>
                </a:tc>
                <a:tc>
                  <a:txBody>
                    <a:bodyPr/>
                    <a:lstStyle/>
                    <a:p>
                      <a:pPr>
                        <a:defRPr sz="1700" b="1">
                          <a:solidFill>
                            <a:srgbClr val="FFFFFF"/>
                          </a:solidFill>
                        </a:defRPr>
                      </a:pPr>
                      <a:r>
                        <a:t>Bentuk</a:t>
                      </a:r>
                    </a:p>
                  </a:txBody>
                  <a:tcPr anchor="ctr">
                    <a:solidFill>
                      <a:srgbClr val="102545"/>
                    </a:solidFill>
                  </a:tcPr>
                </a:tc>
                <a:tc>
                  <a:txBody>
                    <a:bodyPr/>
                    <a:lstStyle/>
                    <a:p>
                      <a:pPr>
                        <a:defRPr sz="1700" b="1">
                          <a:solidFill>
                            <a:srgbClr val="FFFFFF"/>
                          </a:solidFill>
                        </a:defRPr>
                      </a:pPr>
                      <a:r>
                        <a:t>Bobot</a:t>
                      </a:r>
                    </a:p>
                  </a:txBody>
                  <a:tcPr anchor="ctr">
                    <a:solidFill>
                      <a:srgbClr val="102545"/>
                    </a:solidFill>
                  </a:tcPr>
                </a:tc>
              </a:tr>
              <a:tr h="402336">
                <a:tc>
                  <a:txBody>
                    <a:bodyPr/>
                    <a:lstStyle/>
                    <a:p>
                      <a:pPr>
                        <a:defRPr sz="1700" b="1">
                          <a:solidFill>
                            <a:srgbClr val="102545"/>
                          </a:solidFill>
                        </a:defRPr>
                      </a:pPr>
                      <a:r>
                        <a:t>Partisipatif</a:t>
                      </a:r>
                    </a:p>
                  </a:txBody>
                  <a:tcPr anchor="ctr">
                    <a:solidFill>
                      <a:srgbClr val="F5F7FA"/>
                    </a:solidFill>
                  </a:tcPr>
                </a:tc>
                <a:tc>
                  <a:txBody>
                    <a:bodyPr/>
                    <a:lstStyle/>
                    <a:p>
                      <a:pPr>
                        <a:defRPr sz="1700">
                          <a:solidFill>
                            <a:srgbClr val="1A1F2B"/>
                          </a:solidFill>
                        </a:defRPr>
                      </a:pPr>
                      <a:r>
                        <a:t>Kehadiran, keaktifan, exit-ticket</a:t>
                      </a:r>
                    </a:p>
                  </a:txBody>
                  <a:tcPr anchor="ctr">
                    <a:solidFill>
                      <a:srgbClr val="F5F7FA"/>
                    </a:solidFill>
                  </a:tcPr>
                </a:tc>
                <a:tc>
                  <a:txBody>
                    <a:bodyPr/>
                    <a:lstStyle/>
                    <a:p>
                      <a:pPr>
                        <a:defRPr sz="1700">
                          <a:solidFill>
                            <a:srgbClr val="1A1F2B"/>
                          </a:solidFill>
                        </a:defRPr>
                      </a:pPr>
                      <a:r>
                        <a:t>10%</a:t>
                      </a:r>
                    </a:p>
                  </a:txBody>
                  <a:tcPr anchor="ctr">
                    <a:solidFill>
                      <a:srgbClr val="F5F7FA"/>
                    </a:solidFill>
                  </a:tcPr>
                </a:tc>
              </a:tr>
              <a:tr h="402336">
                <a:tc>
                  <a:txBody>
                    <a:bodyPr/>
                    <a:lstStyle/>
                    <a:p>
                      <a:pPr>
                        <a:defRPr sz="1700" b="1">
                          <a:solidFill>
                            <a:srgbClr val="102545"/>
                          </a:solidFill>
                        </a:defRPr>
                      </a:pPr>
                      <a:r>
                        <a:t>Observasi</a:t>
                      </a:r>
                    </a:p>
                  </a:txBody>
                  <a:tcPr anchor="ctr">
                    <a:solidFill>
                      <a:srgbClr val="FFFFFF"/>
                    </a:solidFill>
                  </a:tcPr>
                </a:tc>
                <a:tc>
                  <a:txBody>
                    <a:bodyPr/>
                    <a:lstStyle/>
                    <a:p>
                      <a:pPr>
                        <a:defRPr sz="1700">
                          <a:solidFill>
                            <a:srgbClr val="1A1F2B"/>
                          </a:solidFill>
                        </a:defRPr>
                      </a:pPr>
                      <a:r>
                        <a:t>Praktikum / studio coding</a:t>
                      </a:r>
                    </a:p>
                  </a:txBody>
                  <a:tcPr anchor="ctr">
                    <a:solidFill>
                      <a:srgbClr val="FFFFFF"/>
                    </a:solidFill>
                  </a:tcPr>
                </a:tc>
                <a:tc>
                  <a:txBody>
                    <a:bodyPr/>
                    <a:lstStyle/>
                    <a:p>
                      <a:pPr>
                        <a:defRPr sz="1700">
                          <a:solidFill>
                            <a:srgbClr val="1A1F2B"/>
                          </a:solidFill>
                        </a:defRPr>
                      </a:pPr>
                      <a:r>
                        <a:t>20%</a:t>
                      </a:r>
                    </a:p>
                  </a:txBody>
                  <a:tcPr anchor="ctr">
                    <a:solidFill>
                      <a:srgbClr val="FFFFFF"/>
                    </a:solidFill>
                  </a:tcPr>
                </a:tc>
              </a:tr>
              <a:tr h="402336">
                <a:tc>
                  <a:txBody>
                    <a:bodyPr/>
                    <a:lstStyle/>
                    <a:p>
                      <a:pPr>
                        <a:defRPr sz="1700" b="1">
                          <a:solidFill>
                            <a:srgbClr val="102545"/>
                          </a:solidFill>
                        </a:defRPr>
                      </a:pPr>
                      <a:r>
                        <a:t>Unjuk Kerja</a:t>
                      </a:r>
                    </a:p>
                  </a:txBody>
                  <a:tcPr anchor="ctr">
                    <a:solidFill>
                      <a:srgbClr val="F5F7FA"/>
                    </a:solidFill>
                  </a:tcPr>
                </a:tc>
                <a:tc>
                  <a:txBody>
                    <a:bodyPr/>
                    <a:lstStyle/>
                    <a:p>
                      <a:pPr>
                        <a:defRPr sz="1700">
                          <a:solidFill>
                            <a:srgbClr val="1A1F2B"/>
                          </a:solidFill>
                        </a:defRPr>
                      </a:pPr>
                      <a:r>
                        <a:t>Presentasi &amp; proyek</a:t>
                      </a:r>
                    </a:p>
                  </a:txBody>
                  <a:tcPr anchor="ctr">
                    <a:solidFill>
                      <a:srgbClr val="F5F7FA"/>
                    </a:solidFill>
                  </a:tcPr>
                </a:tc>
                <a:tc>
                  <a:txBody>
                    <a:bodyPr/>
                    <a:lstStyle/>
                    <a:p>
                      <a:pPr>
                        <a:defRPr sz="1700">
                          <a:solidFill>
                            <a:srgbClr val="1A1F2B"/>
                          </a:solidFill>
                        </a:defRPr>
                      </a:pPr>
                      <a:r>
                        <a:t>20%</a:t>
                      </a:r>
                    </a:p>
                  </a:txBody>
                  <a:tcPr anchor="ctr">
                    <a:solidFill>
                      <a:srgbClr val="F5F7FA"/>
                    </a:solidFill>
                  </a:tcPr>
                </a:tc>
              </a:tr>
              <a:tr h="402336">
                <a:tc>
                  <a:txBody>
                    <a:bodyPr/>
                    <a:lstStyle/>
                    <a:p>
                      <a:pPr>
                        <a:defRPr sz="1700" b="1">
                          <a:solidFill>
                            <a:srgbClr val="102545"/>
                          </a:solidFill>
                        </a:defRPr>
                      </a:pPr>
                      <a:r>
                        <a:t>Quiz</a:t>
                      </a:r>
                    </a:p>
                  </a:txBody>
                  <a:tcPr anchor="ctr">
                    <a:solidFill>
                      <a:srgbClr val="FFFFFF"/>
                    </a:solidFill>
                  </a:tcPr>
                </a:tc>
                <a:tc>
                  <a:txBody>
                    <a:bodyPr/>
                    <a:lstStyle/>
                    <a:p>
                      <a:pPr>
                        <a:defRPr sz="1700">
                          <a:solidFill>
                            <a:srgbClr val="1A1F2B"/>
                          </a:solidFill>
                        </a:defRPr>
                      </a:pPr>
                      <a:r>
                        <a:t>Tes tulis / observasi</a:t>
                      </a:r>
                    </a:p>
                  </a:txBody>
                  <a:tcPr anchor="ctr">
                    <a:solidFill>
                      <a:srgbClr val="FFFFFF"/>
                    </a:solidFill>
                  </a:tcPr>
                </a:tc>
                <a:tc>
                  <a:txBody>
                    <a:bodyPr/>
                    <a:lstStyle/>
                    <a:p>
                      <a:pPr>
                        <a:defRPr sz="1700">
                          <a:solidFill>
                            <a:srgbClr val="1A1F2B"/>
                          </a:solidFill>
                        </a:defRPr>
                      </a:pPr>
                      <a:r>
                        <a:t>10%</a:t>
                      </a:r>
                    </a:p>
                  </a:txBody>
                  <a:tcPr anchor="ctr">
                    <a:solidFill>
                      <a:srgbClr val="FFFFFF"/>
                    </a:solidFill>
                  </a:tcPr>
                </a:tc>
              </a:tr>
              <a:tr h="402336">
                <a:tc>
                  <a:txBody>
                    <a:bodyPr/>
                    <a:lstStyle/>
                    <a:p>
                      <a:pPr>
                        <a:defRPr sz="1700" b="1">
                          <a:solidFill>
                            <a:srgbClr val="102545"/>
                          </a:solidFill>
                        </a:defRPr>
                      </a:pPr>
                      <a:r>
                        <a:t>Tugas individu</a:t>
                      </a:r>
                    </a:p>
                  </a:txBody>
                  <a:tcPr anchor="ctr">
                    <a:solidFill>
                      <a:srgbClr val="F5F7FA"/>
                    </a:solidFill>
                  </a:tcPr>
                </a:tc>
                <a:tc>
                  <a:txBody>
                    <a:bodyPr/>
                    <a:lstStyle/>
                    <a:p>
                      <a:pPr>
                        <a:defRPr sz="1700">
                          <a:solidFill>
                            <a:srgbClr val="1A1F2B"/>
                          </a:solidFill>
                        </a:defRPr>
                      </a:pPr>
                      <a:r>
                        <a:t>Weekly lab notebook</a:t>
                      </a:r>
                    </a:p>
                  </a:txBody>
                  <a:tcPr anchor="ctr">
                    <a:solidFill>
                      <a:srgbClr val="F5F7FA"/>
                    </a:solidFill>
                  </a:tcPr>
                </a:tc>
                <a:tc>
                  <a:txBody>
                    <a:bodyPr/>
                    <a:lstStyle/>
                    <a:p>
                      <a:pPr>
                        <a:defRPr sz="1700">
                          <a:solidFill>
                            <a:srgbClr val="1A1F2B"/>
                          </a:solidFill>
                        </a:defRPr>
                      </a:pPr>
                      <a:r>
                        <a:t>10%</a:t>
                      </a:r>
                    </a:p>
                  </a:txBody>
                  <a:tcPr anchor="ctr">
                    <a:solidFill>
                      <a:srgbClr val="F5F7FA"/>
                    </a:solidFill>
                  </a:tcPr>
                </a:tc>
              </a:tr>
              <a:tr h="402336">
                <a:tc>
                  <a:txBody>
                    <a:bodyPr/>
                    <a:lstStyle/>
                    <a:p>
                      <a:pPr>
                        <a:defRPr sz="1700" b="1">
                          <a:solidFill>
                            <a:srgbClr val="102545"/>
                          </a:solidFill>
                        </a:defRPr>
                      </a:pPr>
                      <a:r>
                        <a:t>UTS</a:t>
                      </a:r>
                    </a:p>
                  </a:txBody>
                  <a:tcPr anchor="ctr">
                    <a:solidFill>
                      <a:srgbClr val="FFFFFF"/>
                    </a:solidFill>
                  </a:tcPr>
                </a:tc>
                <a:tc>
                  <a:txBody>
                    <a:bodyPr/>
                    <a:lstStyle/>
                    <a:p>
                      <a:pPr>
                        <a:defRPr sz="1700">
                          <a:solidFill>
                            <a:srgbClr val="1A1F2B"/>
                          </a:solidFill>
                        </a:defRPr>
                      </a:pPr>
                      <a:r>
                        <a:t>Ujian Tengah Semester</a:t>
                      </a:r>
                    </a:p>
                  </a:txBody>
                  <a:tcPr anchor="ctr">
                    <a:solidFill>
                      <a:srgbClr val="FFFFFF"/>
                    </a:solidFill>
                  </a:tcPr>
                </a:tc>
                <a:tc>
                  <a:txBody>
                    <a:bodyPr/>
                    <a:lstStyle/>
                    <a:p>
                      <a:pPr>
                        <a:defRPr sz="1700">
                          <a:solidFill>
                            <a:srgbClr val="1A1F2B"/>
                          </a:solidFill>
                        </a:defRPr>
                      </a:pPr>
                      <a:r>
                        <a:t>15%</a:t>
                      </a:r>
                    </a:p>
                  </a:txBody>
                  <a:tcPr anchor="ctr">
                    <a:solidFill>
                      <a:srgbClr val="FFFFFF"/>
                    </a:solidFill>
                  </a:tcPr>
                </a:tc>
              </a:tr>
              <a:tr h="402336">
                <a:tc>
                  <a:txBody>
                    <a:bodyPr/>
                    <a:lstStyle/>
                    <a:p>
                      <a:pPr>
                        <a:defRPr sz="1700" b="1">
                          <a:solidFill>
                            <a:srgbClr val="102545"/>
                          </a:solidFill>
                        </a:defRPr>
                      </a:pPr>
                      <a:r>
                        <a:t>UAS</a:t>
                      </a:r>
                    </a:p>
                  </a:txBody>
                  <a:tcPr anchor="ctr">
                    <a:solidFill>
                      <a:srgbClr val="F5F7FA"/>
                    </a:solidFill>
                  </a:tcPr>
                </a:tc>
                <a:tc>
                  <a:txBody>
                    <a:bodyPr/>
                    <a:lstStyle/>
                    <a:p>
                      <a:pPr>
                        <a:defRPr sz="1700">
                          <a:solidFill>
                            <a:srgbClr val="1A1F2B"/>
                          </a:solidFill>
                        </a:defRPr>
                      </a:pPr>
                      <a:r>
                        <a:t>Final project: laporan + pameran</a:t>
                      </a:r>
                    </a:p>
                  </a:txBody>
                  <a:tcPr anchor="ctr">
                    <a:solidFill>
                      <a:srgbClr val="F5F7FA"/>
                    </a:solidFill>
                  </a:tcPr>
                </a:tc>
                <a:tc>
                  <a:txBody>
                    <a:bodyPr/>
                    <a:lstStyle/>
                    <a:p>
                      <a:pPr>
                        <a:defRPr sz="1700">
                          <a:solidFill>
                            <a:srgbClr val="1A1F2B"/>
                          </a:solidFill>
                        </a:defRPr>
                      </a:pPr>
                      <a:r>
                        <a:t>15%</a:t>
                      </a:r>
                    </a:p>
                  </a:txBody>
                  <a:tcPr anchor="ctr">
                    <a:solidFill>
                      <a:srgbClr val="F5F7FA"/>
                    </a:solidFill>
                  </a:tcPr>
                </a:tc>
              </a:tr>
              <a:tr h="402336">
                <a:tc>
                  <a:txBody>
                    <a:bodyPr/>
                    <a:lstStyle/>
                    <a:p>
                      <a:pPr>
                        <a:defRPr sz="1700" b="1">
                          <a:solidFill>
                            <a:srgbClr val="102545"/>
                          </a:solidFill>
                        </a:defRPr>
                      </a:pPr>
                      <a:r>
                        <a:t>TOTAL</a:t>
                      </a:r>
                    </a:p>
                  </a:txBody>
                  <a:tcPr anchor="ctr">
                    <a:solidFill>
                      <a:srgbClr val="FFFFFF"/>
                    </a:solidFill>
                  </a:tcPr>
                </a:tc>
                <a:tc>
                  <a:txBody>
                    <a:bodyPr/>
                    <a:lstStyle/>
                    <a:p>
                      <a:pPr>
                        <a:defRPr sz="1700">
                          <a:solidFill>
                            <a:srgbClr val="1A1F2B"/>
                          </a:solidFill>
                        </a:defRPr>
                      </a:pPr>
                    </a:p>
                  </a:txBody>
                  <a:tcPr anchor="ctr">
                    <a:solidFill>
                      <a:srgbClr val="FFFFFF"/>
                    </a:solidFill>
                  </a:tcPr>
                </a:tc>
                <a:tc>
                  <a:txBody>
                    <a:bodyPr/>
                    <a:lstStyle/>
                    <a:p>
                      <a:pPr>
                        <a:defRPr sz="1700" b="1">
                          <a:solidFill>
                            <a:srgbClr val="102545"/>
                          </a:solidFill>
                        </a:defRPr>
                      </a:pPr>
                      <a:r>
                        <a:t>100%</a:t>
                      </a:r>
                    </a:p>
                  </a:txBody>
                  <a:tcPr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Alur penugasan sepanjang semester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Weekly Labs (P2–P13)</a:t>
            </a:r>
            <a:r>
              <a:rPr sz="2100">
                <a:solidFill>
                  <a:srgbClr val="1A1F2B"/>
                </a:solidFill>
              </a:rPr>
              <a:t> — notebook dengan lima bagian tetap:</a:t>
            </a:r>
          </a:p>
          <a:p>
            <a:pPr lvl="1">
              <a:spcBef>
                <a:spcPts val="300"/>
              </a:spcBef>
            </a:pPr>
            <a:r>
              <a:rPr sz="1800">
                <a:solidFill>
                  <a:srgbClr val="5A6372"/>
                </a:solidFill>
              </a:rPr>
              <a:t>–  </a:t>
            </a:r>
            <a:r>
              <a:rPr sz="1800" i="1">
                <a:solidFill>
                  <a:srgbClr val="5A6372"/>
                </a:solidFill>
              </a:rPr>
              <a:t>Problem · Data · Method · Result · Insight</a:t>
            </a:r>
          </a:p>
          <a:p>
            <a:pPr>
              <a:spcBef>
                <a:spcPts val="1100"/>
              </a:spcBef>
            </a:pPr>
            <a:r>
              <a:rPr sz="2100">
                <a:solidFill>
                  <a:srgbClr val="1A1F2B"/>
                </a:solidFill>
              </a:rPr>
              <a:t>•  </a:t>
            </a:r>
            <a:r>
              <a:rPr sz="2100" b="1">
                <a:solidFill>
                  <a:srgbClr val="102545"/>
                </a:solidFill>
              </a:rPr>
              <a:t>Mini-Project</a:t>
            </a:r>
            <a:r>
              <a:rPr sz="2100">
                <a:solidFill>
                  <a:srgbClr val="1A1F2B"/>
                </a:solidFill>
              </a:rPr>
              <a:t> — mulai Pertemuan 8, diserahkan sekitar P10–P11. Fokus: reproducibility</a:t>
            </a:r>
          </a:p>
          <a:p>
            <a:pPr>
              <a:spcBef>
                <a:spcPts val="1100"/>
              </a:spcBef>
            </a:pPr>
            <a:r>
              <a:rPr sz="2100">
                <a:solidFill>
                  <a:srgbClr val="1A1F2B"/>
                </a:solidFill>
              </a:rPr>
              <a:t>•  </a:t>
            </a:r>
            <a:r>
              <a:rPr sz="2100" b="1">
                <a:solidFill>
                  <a:srgbClr val="102545"/>
                </a:solidFill>
              </a:rPr>
              <a:t>Proyek Akhir</a:t>
            </a:r>
            <a:r>
              <a:rPr sz="2100">
                <a:solidFill>
                  <a:srgbClr val="1A1F2B"/>
                </a:solidFill>
              </a:rPr>
              <a:t> — mulai P14, dipamerkan P15, laporan jadi UAS</a:t>
            </a:r>
          </a:p>
          <a:p>
            <a:pPr lvl="1">
              <a:spcBef>
                <a:spcPts val="300"/>
              </a:spcBef>
            </a:pPr>
            <a:r>
              <a:rPr sz="1800">
                <a:solidFill>
                  <a:srgbClr val="5A6372"/>
                </a:solidFill>
              </a:rPr>
              <a:t>–  Tim 2–3 orang · repositori bersih · model card + ethics checklist</a:t>
            </a:r>
          </a:p>
          <a:p>
            <a:pPr>
              <a:spcBef>
                <a:spcPts val="1100"/>
              </a:spcBef>
            </a:pPr>
          </a:p>
          <a:p>
            <a:pPr>
              <a:spcBef>
                <a:spcPts val="1100"/>
              </a:spcBef>
            </a:pPr>
            <a:r>
              <a:rPr sz="2100">
                <a:solidFill>
                  <a:srgbClr val="1A1F2B"/>
                </a:solidFill>
              </a:rPr>
              <a:t>•  </a:t>
            </a:r>
            <a:r>
              <a:rPr sz="2100" b="1">
                <a:solidFill>
                  <a:srgbClr val="102545"/>
                </a:solidFill>
              </a:rPr>
              <a:t>Semua tugas dikumpulkan lewat eBelajar</a:t>
            </a:r>
            <a:r>
              <a:rPr sz="2100">
                <a:solidFill>
                  <a:srgbClr val="1A1F2B"/>
                </a:solidFill>
              </a:rPr>
              <a:t> — bukan WhatsApp, bukan email.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kehadiran</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200">
                <a:solidFill>
                  <a:srgbClr val="1A1F2B"/>
                </a:solidFill>
              </a:rPr>
              <a:t>•  Kehadiran minimal </a:t>
            </a:r>
            <a:r>
              <a:rPr sz="2200" b="1">
                <a:solidFill>
                  <a:srgbClr val="102545"/>
                </a:solidFill>
              </a:rPr>
              <a:t>75%</a:t>
            </a:r>
            <a:r>
              <a:rPr sz="2200">
                <a:solidFill>
                  <a:srgbClr val="1A1F2B"/>
                </a:solidFill>
              </a:rPr>
              <a:t> dari pertemuan terlaksana untuk berhak ikut </a:t>
            </a:r>
            <a:r>
              <a:rPr sz="2200" b="1">
                <a:solidFill>
                  <a:srgbClr val="102545"/>
                </a:solidFill>
              </a:rPr>
              <a:t>UAS</a:t>
            </a:r>
          </a:p>
          <a:p>
            <a:pPr>
              <a:spcBef>
                <a:spcPts val="1100"/>
              </a:spcBef>
            </a:pPr>
            <a:r>
              <a:rPr sz="2200">
                <a:solidFill>
                  <a:srgbClr val="1A1F2B"/>
                </a:solidFill>
              </a:rPr>
              <a:t>•  Toleransi keterlambatan </a:t>
            </a:r>
            <a:r>
              <a:rPr sz="2200" b="1">
                <a:solidFill>
                  <a:srgbClr val="102545"/>
                </a:solidFill>
              </a:rPr>
              <a:t>15 menit</a:t>
            </a:r>
            <a:r>
              <a:rPr sz="2200">
                <a:solidFill>
                  <a:srgbClr val="1A1F2B"/>
                </a:solidFill>
              </a:rPr>
              <a:t>. Lewat itu tetap boleh masuk, tapi dicatat terlambat</a:t>
            </a:r>
          </a:p>
          <a:p>
            <a:pPr>
              <a:spcBef>
                <a:spcPts val="1100"/>
              </a:spcBef>
            </a:pPr>
            <a:r>
              <a:rPr sz="2200">
                <a:solidFill>
                  <a:srgbClr val="1A1F2B"/>
                </a:solidFill>
              </a:rPr>
              <a:t>•  </a:t>
            </a:r>
            <a:r>
              <a:rPr sz="2200" b="1">
                <a:solidFill>
                  <a:srgbClr val="102545"/>
                </a:solidFill>
              </a:rPr>
              <a:t>3× terlambat = 1× tidak hadir</a:t>
            </a:r>
          </a:p>
          <a:p>
            <a:pPr>
              <a:spcBef>
                <a:spcPts val="1100"/>
              </a:spcBef>
            </a:pPr>
            <a:r>
              <a:rPr sz="2200">
                <a:solidFill>
                  <a:srgbClr val="1A1F2B"/>
                </a:solidFill>
              </a:rPr>
              <a:t>•  Sakit / tugas kampus / musibah: kirimkan surat keterangan </a:t>
            </a:r>
            <a:r>
              <a:rPr sz="2200" b="1">
                <a:solidFill>
                  <a:srgbClr val="102545"/>
                </a:solidFill>
              </a:rPr>
              <a:t>paling lambat pertemuan berikutnya</a:t>
            </a:r>
          </a:p>
          <a:p>
            <a:pPr>
              <a:spcBef>
                <a:spcPts val="1100"/>
              </a:spcBef>
            </a:pPr>
          </a:p>
          <a:p>
            <a:pPr>
              <a:spcBef>
                <a:spcPts val="1100"/>
              </a:spcBef>
            </a:pPr>
            <a:r>
              <a:rPr sz="2200">
                <a:solidFill>
                  <a:srgbClr val="1A1F2B"/>
                </a:solidFill>
              </a:rPr>
              <a:t>•  Absensi dicatat lewat sistem kampus — bukan titip tanda tangan.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tugas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Format nama berkas: </a:t>
            </a:r>
            <a:r>
              <a:rPr sz="2100" b="1">
                <a:solidFill>
                  <a:srgbClr val="102545"/>
                </a:solidFill>
              </a:rPr>
              <a:t>NIM_Nama_P&lt;nomor&gt;_&lt;Topik&gt;.ipynb</a:t>
            </a:r>
          </a:p>
          <a:p>
            <a:pPr lvl="1">
              <a:spcBef>
                <a:spcPts val="300"/>
              </a:spcBef>
            </a:pPr>
            <a:r>
              <a:rPr sz="1800">
                <a:solidFill>
                  <a:srgbClr val="5A6372"/>
                </a:solidFill>
              </a:rPr>
              <a:t>–  contoh:  2023001_Budi_P1_Preprocessing.ipynb</a:t>
            </a:r>
          </a:p>
          <a:p>
            <a:pPr>
              <a:spcBef>
                <a:spcPts val="1100"/>
              </a:spcBef>
            </a:pPr>
            <a:r>
              <a:rPr sz="2100">
                <a:solidFill>
                  <a:srgbClr val="1A1F2B"/>
                </a:solidFill>
              </a:rPr>
              <a:t>•  Notebook wajib </a:t>
            </a:r>
            <a:r>
              <a:rPr sz="2100" b="1">
                <a:solidFill>
                  <a:srgbClr val="102545"/>
                </a:solidFill>
              </a:rPr>
              <a:t>reproducible</a:t>
            </a:r>
            <a:r>
              <a:rPr sz="2100">
                <a:solidFill>
                  <a:srgbClr val="1A1F2B"/>
                </a:solidFill>
              </a:rPr>
              <a:t>: random_state disetel, jalan dari atas ke bawah tanpa error, semua transformasi di dalam Pipeline</a:t>
            </a:r>
          </a:p>
          <a:p>
            <a:pPr>
              <a:spcBef>
                <a:spcPts val="1100"/>
              </a:spcBef>
            </a:pPr>
            <a:r>
              <a:rPr sz="2100">
                <a:solidFill>
                  <a:srgbClr val="1A1F2B"/>
                </a:solidFill>
              </a:rPr>
              <a:t>•  Batas pengumpulan: </a:t>
            </a:r>
            <a:r>
              <a:rPr sz="2100" b="1">
                <a:solidFill>
                  <a:srgbClr val="102545"/>
                </a:solidFill>
              </a:rPr>
              <a:t>Minggu 23.55 pada minggu berikutnya</a:t>
            </a:r>
            <a:r>
              <a:rPr sz="2100">
                <a:solidFill>
                  <a:srgbClr val="1A1F2B"/>
                </a:solidFill>
              </a:rPr>
              <a:t>, kecuali dinyatakan lain</a:t>
            </a:r>
          </a:p>
          <a:p>
            <a:pPr>
              <a:spcBef>
                <a:spcPts val="1100"/>
              </a:spcBef>
            </a:pPr>
            <a:r>
              <a:rPr sz="2100">
                <a:solidFill>
                  <a:srgbClr val="1A1F2B"/>
                </a:solidFill>
              </a:rPr>
              <a:t>•  Terlambat: </a:t>
            </a:r>
            <a:r>
              <a:rPr sz="2100" b="1">
                <a:solidFill>
                  <a:srgbClr val="102545"/>
                </a:solidFill>
              </a:rPr>
              <a:t>−10% per hari</a:t>
            </a:r>
            <a:r>
              <a:rPr sz="2100">
                <a:solidFill>
                  <a:srgbClr val="1A1F2B"/>
                </a:solidFill>
              </a:rPr>
              <a:t>, maksimal 3 hari</a:t>
            </a:r>
          </a:p>
          <a:p>
            <a:pPr lvl="1">
              <a:spcBef>
                <a:spcPts val="300"/>
              </a:spcBef>
            </a:pPr>
            <a:r>
              <a:rPr sz="1800">
                <a:solidFill>
                  <a:srgbClr val="5A6372"/>
                </a:solidFill>
              </a:rPr>
              <a:t>–  Lewat 3 hari dinilai 0 — tapi tetap wajib dikumpulkan sebagai kelengkapan portofolio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Integritas akademik</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Diskusi dianjurkan. Penyalinan dilarang.</a:t>
            </a:r>
            <a:r>
              <a:rPr sz="2100">
                <a:solidFill>
                  <a:srgbClr val="1A1F2B"/>
                </a:solidFill>
              </a:rPr>
              <a:t> Boleh berdiskusi soal pendekatan; kode dan tulisan susun sendiri</a:t>
            </a:r>
          </a:p>
          <a:p>
            <a:pPr>
              <a:spcBef>
                <a:spcPts val="1100"/>
              </a:spcBef>
            </a:pPr>
            <a:r>
              <a:rPr sz="2100">
                <a:solidFill>
                  <a:srgbClr val="1A1F2B"/>
                </a:solidFill>
              </a:rPr>
              <a:t>•  Dua notebook identik atau nyaris identik: </a:t>
            </a:r>
            <a:r>
              <a:rPr sz="2100" b="1">
                <a:solidFill>
                  <a:srgbClr val="102545"/>
                </a:solidFill>
              </a:rPr>
              <a:t>keduanya dinilai 0</a:t>
            </a:r>
            <a:r>
              <a:rPr sz="2100">
                <a:solidFill>
                  <a:srgbClr val="1A1F2B"/>
                </a:solidFill>
              </a:rPr>
              <a:t> — tanpa memeriksa siapa menyalin siapa</a:t>
            </a:r>
          </a:p>
          <a:p>
            <a:pPr>
              <a:spcBef>
                <a:spcPts val="1100"/>
              </a:spcBef>
            </a:pPr>
            <a:r>
              <a:rPr sz="2100">
                <a:solidFill>
                  <a:srgbClr val="1A1F2B"/>
                </a:solidFill>
              </a:rPr>
              <a:t>•  Setiap klaim di laporan harus bisa Anda pertanggungjawabkan saat ditanya lisan</a:t>
            </a:r>
          </a:p>
          <a:p>
            <a:pPr lvl="1">
              <a:spcBef>
                <a:spcPts val="300"/>
              </a:spcBef>
            </a:pPr>
            <a:r>
              <a:rPr sz="1800">
                <a:solidFill>
                  <a:srgbClr val="5A6372"/>
                </a:solidFill>
              </a:rPr>
              <a:t>–  Klaim yang tidak bisa dijelaskan pemiliknya dinilai 0 — meskipun angkanya kebetulan benar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AI itu alat untuk mengerti — bukan pengganti mengerti.</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Kelas ini tidak melarang AI. Yang diatur adalah cara memakainya: sebagai alat belajar, bukan sebagai jalan pintas menyelesaikan tugas.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memakai AI yang membuat Anda paham</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Minta </a:t>
            </a:r>
            <a:r>
              <a:rPr sz="2000" b="1">
                <a:solidFill>
                  <a:srgbClr val="102545"/>
                </a:solidFill>
              </a:rPr>
              <a:t>penjelasan konsep</a:t>
            </a:r>
            <a:r>
              <a:rPr sz="2000">
                <a:solidFill>
                  <a:srgbClr val="1A1F2B"/>
                </a:solidFill>
              </a:rPr>
              <a:t> sampai Anda bisa mengulanginya dengan kalimat sendiri</a:t>
            </a:r>
          </a:p>
          <a:p>
            <a:pPr>
              <a:spcBef>
                <a:spcPts val="1100"/>
              </a:spcBef>
            </a:pPr>
            <a:r>
              <a:rPr sz="2000">
                <a:solidFill>
                  <a:srgbClr val="1A1F2B"/>
                </a:solidFill>
              </a:rPr>
              <a:t>•  Minta AI </a:t>
            </a:r>
            <a:r>
              <a:rPr sz="2000" b="1">
                <a:solidFill>
                  <a:srgbClr val="102545"/>
                </a:solidFill>
              </a:rPr>
              <a:t>menanyai Anda balik</a:t>
            </a:r>
            <a:r>
              <a:rPr sz="2000">
                <a:solidFill>
                  <a:srgbClr val="1A1F2B"/>
                </a:solidFill>
              </a:rPr>
              <a:t> — </a:t>
            </a:r>
            <a:r>
              <a:rPr sz="2000" i="1">
                <a:solidFill>
                  <a:srgbClr val="1A1F2B"/>
                </a:solidFill>
              </a:rPr>
              <a:t>"uji saya soal data leakage"</a:t>
            </a:r>
            <a:r>
              <a:rPr sz="2000">
                <a:solidFill>
                  <a:srgbClr val="1A1F2B"/>
                </a:solidFill>
              </a:rPr>
              <a:t> — lalu jawab tanpa melihat</a:t>
            </a:r>
          </a:p>
          <a:p>
            <a:pPr>
              <a:spcBef>
                <a:spcPts val="1100"/>
              </a:spcBef>
            </a:pPr>
            <a:r>
              <a:rPr sz="2000">
                <a:solidFill>
                  <a:srgbClr val="1A1F2B"/>
                </a:solidFill>
              </a:rPr>
              <a:t>•  Minta </a:t>
            </a:r>
            <a:r>
              <a:rPr sz="2000" b="1">
                <a:solidFill>
                  <a:srgbClr val="102545"/>
                </a:solidFill>
              </a:rPr>
              <a:t>dua pendekatan berbeda</a:t>
            </a:r>
            <a:r>
              <a:rPr sz="2000">
                <a:solidFill>
                  <a:srgbClr val="1A1F2B"/>
                </a:solidFill>
              </a:rPr>
              <a:t>, lalu Anda yang memutuskan mana yang cocok, dan bisa menjelaskan kenapa</a:t>
            </a:r>
          </a:p>
          <a:p>
            <a:pPr>
              <a:spcBef>
                <a:spcPts val="1100"/>
              </a:spcBef>
            </a:pPr>
            <a:r>
              <a:rPr sz="2000">
                <a:solidFill>
                  <a:srgbClr val="1A1F2B"/>
                </a:solidFill>
              </a:rPr>
              <a:t>•  Pakai AI untuk </a:t>
            </a:r>
            <a:r>
              <a:rPr sz="2000" b="1">
                <a:solidFill>
                  <a:srgbClr val="102545"/>
                </a:solidFill>
              </a:rPr>
              <a:t>menemukan bug</a:t>
            </a:r>
            <a:r>
              <a:rPr sz="2000">
                <a:solidFill>
                  <a:srgbClr val="1A1F2B"/>
                </a:solidFill>
              </a:rPr>
              <a:t>, lalu perbaiki sendiri supaya Anda tahu penyebabnya</a:t>
            </a:r>
          </a:p>
          <a:p>
            <a:pPr>
              <a:spcBef>
                <a:spcPts val="1100"/>
              </a:spcBef>
            </a:pPr>
            <a:r>
              <a:rPr sz="2000">
                <a:solidFill>
                  <a:srgbClr val="1A1F2B"/>
                </a:solidFill>
              </a:rPr>
              <a:t>•  Selesai mengerjakan: </a:t>
            </a:r>
            <a:r>
              <a:rPr sz="2000" b="1">
                <a:solidFill>
                  <a:srgbClr val="102545"/>
                </a:solidFill>
              </a:rPr>
              <a:t>tutup AI-nya</a:t>
            </a:r>
            <a:r>
              <a:rPr sz="2000">
                <a:solidFill>
                  <a:srgbClr val="1A1F2B"/>
                </a:solidFill>
              </a:rPr>
              <a:t>, lalu jelaskan ulang notebook Anda dari nol</a:t>
            </a:r>
          </a:p>
          <a:p>
            <a:pPr>
              <a:spcBef>
                <a:spcPts val="1100"/>
              </a:spcBef>
            </a:pPr>
          </a:p>
          <a:p>
            <a:pPr>
              <a:spcBef>
                <a:spcPts val="1100"/>
              </a:spcBef>
            </a:pPr>
            <a:r>
              <a:rPr sz="2000">
                <a:solidFill>
                  <a:srgbClr val="1A1F2B"/>
                </a:solidFill>
              </a:rPr>
              <a:t>•  Semua ini menambah pemahaman. Menempel jawaban jadi tidak.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Batasnya</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Aturan ini turunan dari prinsipnya, bukan daftar larangan yang berdiri sendiri.</a:t>
            </a:r>
          </a:p>
        </p:txBody>
      </p:sp>
      <p:graphicFrame>
        <p:nvGraphicFramePr>
          <p:cNvPr id="6" name="Table 5"/>
          <p:cNvGraphicFramePr>
            <a:graphicFrameLocks noGrp="1"/>
          </p:cNvGraphicFramePr>
          <p:nvPr/>
        </p:nvGraphicFramePr>
        <p:xfrm>
          <a:off x="777240" y="1783080"/>
          <a:ext cx="10652759" cy="1700784"/>
        </p:xfrm>
        <a:graphic>
          <a:graphicData uri="http://schemas.openxmlformats.org/drawingml/2006/table">
            <a:tbl>
              <a:tblPr firstRow="1" bandRow="1">
                <a:tableStyleId>{5C22544A-7EE6-4342-B048-85BDC9FD1C3A}</a:tableStyleId>
              </a:tblPr>
              <a:tblGrid>
                <a:gridCol w="2166663"/>
                <a:gridCol w="8486096"/>
              </a:tblGrid>
              <a:tr h="425196">
                <a:tc>
                  <a:txBody>
                    <a:bodyPr/>
                    <a:lstStyle/>
                    <a:p>
                      <a:pPr>
                        <a:defRPr sz="1700" b="1">
                          <a:solidFill>
                            <a:srgbClr val="FFFFFF"/>
                          </a:solidFill>
                        </a:defRPr>
                      </a:pPr>
                    </a:p>
                  </a:txBody>
                  <a:tcPr anchor="ctr">
                    <a:solidFill>
                      <a:srgbClr val="102545"/>
                    </a:solidFill>
                  </a:tcPr>
                </a:tc>
                <a:tc>
                  <a:txBody>
                    <a:bodyPr/>
                    <a:lstStyle/>
                    <a:p>
                      <a:pPr>
                        <a:defRPr sz="1700" b="1">
                          <a:solidFill>
                            <a:srgbClr val="FFFFFF"/>
                          </a:solidFill>
                        </a:defRPr>
                      </a:pPr>
                      <a:r>
                        <a:t>Aturan</a:t>
                      </a:r>
                    </a:p>
                  </a:txBody>
                  <a:tcPr anchor="ctr">
                    <a:solidFill>
                      <a:srgbClr val="102545"/>
                    </a:solidFill>
                  </a:tcPr>
                </a:tc>
              </a:tr>
              <a:tr h="425196">
                <a:tc>
                  <a:txBody>
                    <a:bodyPr/>
                    <a:lstStyle/>
                    <a:p>
                      <a:pPr>
                        <a:defRPr sz="1700" b="1">
                          <a:solidFill>
                            <a:srgbClr val="102545"/>
                          </a:solidFill>
                        </a:defRPr>
                      </a:pPr>
                      <a:r>
                        <a:t>BOLEH</a:t>
                      </a:r>
                    </a:p>
                  </a:txBody>
                  <a:tcPr anchor="ctr">
                    <a:solidFill>
                      <a:srgbClr val="F5F7FA"/>
                    </a:solidFill>
                  </a:tcPr>
                </a:tc>
                <a:tc>
                  <a:txBody>
                    <a:bodyPr/>
                    <a:lstStyle/>
                    <a:p>
                      <a:pPr>
                        <a:defRPr sz="1700">
                          <a:solidFill>
                            <a:srgbClr val="1A1F2B"/>
                          </a:solidFill>
                        </a:defRPr>
                      </a:pPr>
                      <a:r>
                        <a:t>Boilerplate kode · debugging pesan error · menjelaskan konsep · merapikan bahasa laporan</a:t>
                      </a:r>
                    </a:p>
                  </a:txBody>
                  <a:tcPr anchor="ctr">
                    <a:solidFill>
                      <a:srgbClr val="F5F7FA"/>
                    </a:solidFill>
                  </a:tcPr>
                </a:tc>
              </a:tr>
              <a:tr h="425196">
                <a:tc>
                  <a:txBody>
                    <a:bodyPr/>
                    <a:lstStyle/>
                    <a:p>
                      <a:pPr>
                        <a:defRPr sz="1700" b="1">
                          <a:solidFill>
                            <a:srgbClr val="102545"/>
                          </a:solidFill>
                        </a:defRPr>
                      </a:pPr>
                      <a:r>
                        <a:t>TIDAK BOLEH</a:t>
                      </a:r>
                    </a:p>
                  </a:txBody>
                  <a:tcPr anchor="ctr">
                    <a:solidFill>
                      <a:srgbClr val="FFFFFF"/>
                    </a:solidFill>
                  </a:tcPr>
                </a:tc>
                <a:tc>
                  <a:txBody>
                    <a:bodyPr/>
                    <a:lstStyle/>
                    <a:p>
                      <a:pPr>
                        <a:defRPr sz="1700">
                          <a:solidFill>
                            <a:srgbClr val="1A1F2B"/>
                          </a:solidFill>
                        </a:defRPr>
                      </a:pPr>
                      <a:r>
                        <a:t>Menulis analisis / insight / kesimpulan otomatis tanpa Anda verifikasi;  menyerahkan kode yang belum pernah Anda jalankan</a:t>
                      </a:r>
                    </a:p>
                  </a:txBody>
                  <a:tcPr anchor="ctr">
                    <a:solidFill>
                      <a:srgbClr val="FFFFFF"/>
                    </a:solidFill>
                  </a:tcPr>
                </a:tc>
              </a:tr>
              <a:tr h="425196">
                <a:tc>
                  <a:txBody>
                    <a:bodyPr/>
                    <a:lstStyle/>
                    <a:p>
                      <a:pPr>
                        <a:defRPr sz="1700" b="1">
                          <a:solidFill>
                            <a:srgbClr val="102545"/>
                          </a:solidFill>
                        </a:defRPr>
                      </a:pPr>
                      <a:r>
                        <a:t>WAJIB</a:t>
                      </a:r>
                    </a:p>
                  </a:txBody>
                  <a:tcPr anchor="ctr">
                    <a:solidFill>
                      <a:srgbClr val="F5F7FA"/>
                    </a:solidFill>
                  </a:tcPr>
                </a:tc>
                <a:tc>
                  <a:txBody>
                    <a:bodyPr/>
                    <a:lstStyle/>
                    <a:p>
                      <a:pPr>
                        <a:defRPr sz="1700">
                          <a:solidFill>
                            <a:srgbClr val="1A1F2B"/>
                          </a:solidFill>
                        </a:defRPr>
                      </a:pPr>
                      <a:r>
                        <a:t>Disclosure di akhir notebook: alat apa, untuk bagian mana. Satu paragraf cukup</a:t>
                      </a:r>
                    </a:p>
                  </a:txBody>
                  <a:tcPr anchor="ctr">
                    <a:solidFill>
                      <a:srgbClr val="F5F7FA"/>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B32D2D"/>
                </a:solidFill>
              </a:defRPr>
            </a:pPr>
            <a:r>
              <a:t>Yang rusak dari AI biasanya bukan kodenya.</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Kode yang salah gagal jalan dan langsung ketahuan. Yang berbahaya adalah kalimat yang terdengar benar padahal isinya karangan — metode yang tidak sesuai sumbernya, angka yang bukan dari eksperimen Anda, rujukan yang tidak pernah ada.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Kalau AI-nya dimatikan sekarang,</a:t>
            </a:r>
            <a:br/>
            <a:r>
              <a:t>apakah Anda masih bisa menjelaskan pekerjaan Anda?</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Kalau tidak, Anda belum belajar — Anda baru menyalin. Itu satu-satunya uji yang perlu Anda ingat, dan itu juga yang akan saya tanyakan saat menilai.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Komunikasi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Pertanyaan teknis diarahkan ke forum, bukan japri — satu jawaban menolong banyak orang.</a:t>
            </a:r>
          </a:p>
        </p:txBody>
      </p:sp>
      <p:graphicFrame>
        <p:nvGraphicFramePr>
          <p:cNvPr id="6" name="Table 5"/>
          <p:cNvGraphicFramePr>
            <a:graphicFrameLocks noGrp="1"/>
          </p:cNvGraphicFramePr>
          <p:nvPr/>
        </p:nvGraphicFramePr>
        <p:xfrm>
          <a:off x="777240" y="1783080"/>
          <a:ext cx="10652758" cy="2084832"/>
        </p:xfrm>
        <a:graphic>
          <a:graphicData uri="http://schemas.openxmlformats.org/drawingml/2006/table">
            <a:tbl>
              <a:tblPr firstRow="1" bandRow="1">
                <a:tableStyleId>{5C22544A-7EE6-4342-B048-85BDC9FD1C3A}</a:tableStyleId>
              </a:tblPr>
              <a:tblGrid>
                <a:gridCol w="2571355"/>
                <a:gridCol w="5693716"/>
                <a:gridCol w="2387687"/>
              </a:tblGrid>
              <a:tr h="416966">
                <a:tc>
                  <a:txBody>
                    <a:bodyPr/>
                    <a:lstStyle/>
                    <a:p>
                      <a:pPr>
                        <a:defRPr sz="1800" b="1">
                          <a:solidFill>
                            <a:srgbClr val="FFFFFF"/>
                          </a:solidFill>
                        </a:defRPr>
                      </a:pPr>
                      <a:r>
                        <a:t>Saluran</a:t>
                      </a:r>
                    </a:p>
                  </a:txBody>
                  <a:tcPr anchor="ctr">
                    <a:solidFill>
                      <a:srgbClr val="102545"/>
                    </a:solidFill>
                  </a:tcPr>
                </a:tc>
                <a:tc>
                  <a:txBody>
                    <a:bodyPr/>
                    <a:lstStyle/>
                    <a:p>
                      <a:pPr>
                        <a:defRPr sz="1800" b="1">
                          <a:solidFill>
                            <a:srgbClr val="FFFFFF"/>
                          </a:solidFill>
                        </a:defRPr>
                      </a:pPr>
                      <a:r>
                        <a:t>Untuk apa</a:t>
                      </a:r>
                    </a:p>
                  </a:txBody>
                  <a:tcPr anchor="ctr">
                    <a:solidFill>
                      <a:srgbClr val="102545"/>
                    </a:solidFill>
                  </a:tcPr>
                </a:tc>
                <a:tc>
                  <a:txBody>
                    <a:bodyPr/>
                    <a:lstStyle/>
                    <a:p>
                      <a:pPr>
                        <a:defRPr sz="1800" b="1">
                          <a:solidFill>
                            <a:srgbClr val="FFFFFF"/>
                          </a:solidFill>
                        </a:defRPr>
                      </a:pPr>
                      <a:r>
                        <a:t>Waktu tanggap</a:t>
                      </a:r>
                    </a:p>
                  </a:txBody>
                  <a:tcPr anchor="ctr">
                    <a:solidFill>
                      <a:srgbClr val="102545"/>
                    </a:solidFill>
                  </a:tcPr>
                </a:tc>
              </a:tr>
              <a:tr h="416966">
                <a:tc>
                  <a:txBody>
                    <a:bodyPr/>
                    <a:lstStyle/>
                    <a:p>
                      <a:pPr>
                        <a:defRPr sz="1800" b="1">
                          <a:solidFill>
                            <a:srgbClr val="102545"/>
                          </a:solidFill>
                        </a:defRPr>
                      </a:pPr>
                      <a:r>
                        <a:t>Forum eBelajar</a:t>
                      </a:r>
                    </a:p>
                  </a:txBody>
                  <a:tcPr anchor="ctr">
                    <a:solidFill>
                      <a:srgbClr val="F5F7FA"/>
                    </a:solidFill>
                  </a:tcPr>
                </a:tc>
                <a:tc>
                  <a:txBody>
                    <a:bodyPr/>
                    <a:lstStyle/>
                    <a:p>
                      <a:pPr>
                        <a:defRPr sz="1800">
                          <a:solidFill>
                            <a:srgbClr val="1A1F2B"/>
                          </a:solidFill>
                        </a:defRPr>
                      </a:pPr>
                      <a:r>
                        <a:t>Pertanyaan teknis &amp; materi</a:t>
                      </a:r>
                    </a:p>
                  </a:txBody>
                  <a:tcPr anchor="ctr">
                    <a:solidFill>
                      <a:srgbClr val="F5F7FA"/>
                    </a:solidFill>
                  </a:tcPr>
                </a:tc>
                <a:tc>
                  <a:txBody>
                    <a:bodyPr/>
                    <a:lstStyle/>
                    <a:p>
                      <a:pPr>
                        <a:defRPr sz="1800">
                          <a:solidFill>
                            <a:srgbClr val="1A1F2B"/>
                          </a:solidFill>
                        </a:defRPr>
                      </a:pPr>
                      <a:r>
                        <a:t>Hari kerja, ≤ 1×24 jam</a:t>
                      </a:r>
                    </a:p>
                  </a:txBody>
                  <a:tcPr anchor="ctr">
                    <a:solidFill>
                      <a:srgbClr val="F5F7FA"/>
                    </a:solidFill>
                  </a:tcPr>
                </a:tc>
              </a:tr>
              <a:tr h="416966">
                <a:tc>
                  <a:txBody>
                    <a:bodyPr/>
                    <a:lstStyle/>
                    <a:p>
                      <a:pPr>
                        <a:defRPr sz="1800" b="1">
                          <a:solidFill>
                            <a:srgbClr val="102545"/>
                          </a:solidFill>
                        </a:defRPr>
                      </a:pPr>
                      <a:r>
                        <a:t>Grup WhatsApp</a:t>
                      </a:r>
                    </a:p>
                  </a:txBody>
                  <a:tcPr anchor="ctr">
                    <a:solidFill>
                      <a:srgbClr val="FFFFFF"/>
                    </a:solidFill>
                  </a:tcPr>
                </a:tc>
                <a:tc>
                  <a:txBody>
                    <a:bodyPr/>
                    <a:lstStyle/>
                    <a:p>
                      <a:pPr>
                        <a:defRPr sz="1800">
                          <a:solidFill>
                            <a:srgbClr val="1A1F2B"/>
                          </a:solidFill>
                        </a:defRPr>
                      </a:pPr>
                      <a:r>
                        <a:t>Pengumuman mendadak, koordinasi</a:t>
                      </a:r>
                    </a:p>
                  </a:txBody>
                  <a:tcPr anchor="ctr">
                    <a:solidFill>
                      <a:srgbClr val="FFFFFF"/>
                    </a:solidFill>
                  </a:tcPr>
                </a:tc>
                <a:tc>
                  <a:txBody>
                    <a:bodyPr/>
                    <a:lstStyle/>
                    <a:p>
                      <a:pPr>
                        <a:defRPr sz="1800">
                          <a:solidFill>
                            <a:srgbClr val="1A1F2B"/>
                          </a:solidFill>
                        </a:defRPr>
                      </a:pPr>
                      <a:r>
                        <a:t>—</a:t>
                      </a:r>
                    </a:p>
                  </a:txBody>
                  <a:tcPr anchor="ctr">
                    <a:solidFill>
                      <a:srgbClr val="FFFFFF"/>
                    </a:solidFill>
                  </a:tcPr>
                </a:tc>
              </a:tr>
              <a:tr h="416966">
                <a:tc>
                  <a:txBody>
                    <a:bodyPr/>
                    <a:lstStyle/>
                    <a:p>
                      <a:pPr>
                        <a:defRPr sz="1800" b="1">
                          <a:solidFill>
                            <a:srgbClr val="102545"/>
                          </a:solidFill>
                        </a:defRPr>
                      </a:pPr>
                      <a:r>
                        <a:t>Forum Pengumuman</a:t>
                      </a:r>
                    </a:p>
                  </a:txBody>
                  <a:tcPr anchor="ctr">
                    <a:solidFill>
                      <a:srgbClr val="F5F7FA"/>
                    </a:solidFill>
                  </a:tcPr>
                </a:tc>
                <a:tc>
                  <a:txBody>
                    <a:bodyPr/>
                    <a:lstStyle/>
                    <a:p>
                      <a:pPr>
                        <a:defRPr sz="1800">
                          <a:solidFill>
                            <a:srgbClr val="1A1F2B"/>
                          </a:solidFill>
                        </a:defRPr>
                      </a:pPr>
                      <a:r>
                        <a:t>Perubahan jadwal, info resmi</a:t>
                      </a:r>
                    </a:p>
                  </a:txBody>
                  <a:tcPr anchor="ctr">
                    <a:solidFill>
                      <a:srgbClr val="F5F7FA"/>
                    </a:solidFill>
                  </a:tcPr>
                </a:tc>
                <a:tc>
                  <a:txBody>
                    <a:bodyPr/>
                    <a:lstStyle/>
                    <a:p>
                      <a:pPr>
                        <a:defRPr sz="1800">
                          <a:solidFill>
                            <a:srgbClr val="1A1F2B"/>
                          </a:solidFill>
                        </a:defRPr>
                      </a:pPr>
                      <a:r>
                        <a:t>—</a:t>
                      </a:r>
                    </a:p>
                  </a:txBody>
                  <a:tcPr anchor="ctr">
                    <a:solidFill>
                      <a:srgbClr val="F5F7FA"/>
                    </a:solidFill>
                  </a:tcPr>
                </a:tc>
              </a:tr>
              <a:tr h="416968">
                <a:tc>
                  <a:txBody>
                    <a:bodyPr/>
                    <a:lstStyle/>
                    <a:p>
                      <a:pPr>
                        <a:defRPr sz="1800" b="1">
                          <a:solidFill>
                            <a:srgbClr val="102545"/>
                          </a:solidFill>
                        </a:defRPr>
                      </a:pPr>
                      <a:r>
                        <a:t>Tatap muka</a:t>
                      </a:r>
                    </a:p>
                  </a:txBody>
                  <a:tcPr anchor="ctr">
                    <a:solidFill>
                      <a:srgbClr val="FFFFFF"/>
                    </a:solidFill>
                  </a:tcPr>
                </a:tc>
                <a:tc>
                  <a:txBody>
                    <a:bodyPr/>
                    <a:lstStyle/>
                    <a:p>
                      <a:pPr>
                        <a:defRPr sz="1800">
                          <a:solidFill>
                            <a:srgbClr val="1A1F2B"/>
                          </a:solidFill>
                        </a:defRPr>
                      </a:pPr>
                      <a:r>
                        <a:t>Konsultasi proyek — setelah kelas / janji</a:t>
                      </a:r>
                    </a:p>
                  </a:txBody>
                  <a:tcPr anchor="ctr">
                    <a:solidFill>
                      <a:srgbClr val="FFFFFF"/>
                    </a:solidFill>
                  </a:tcPr>
                </a:tc>
                <a:tc>
                  <a:txBody>
                    <a:bodyPr/>
                    <a:lstStyle/>
                    <a:p>
                      <a:pPr>
                        <a:defRPr sz="1800">
                          <a:solidFill>
                            <a:srgbClr val="1A1F2B"/>
                          </a:solidFill>
                        </a:defRPr>
                      </a:pPr>
                      <a:r>
                        <a:t>—</a:t>
                      </a:r>
                    </a:p>
                  </a:txBody>
                  <a:tcPr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Referensi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Géron, A. (2017)</a:t>
            </a:r>
            <a:r>
              <a:rPr sz="2000">
                <a:solidFill>
                  <a:srgbClr val="1A1F2B"/>
                </a:solidFill>
              </a:rPr>
              <a:t> — </a:t>
            </a:r>
            <a:r>
              <a:rPr sz="2000" i="1">
                <a:solidFill>
                  <a:srgbClr val="1A1F2B"/>
                </a:solidFill>
              </a:rPr>
              <a:t>Hands-On Machine Learning with Scikit-Learn and TensorFlow</a:t>
            </a:r>
            <a:r>
              <a:rPr sz="2000">
                <a:solidFill>
                  <a:srgbClr val="1A1F2B"/>
                </a:solidFill>
              </a:rPr>
              <a:t>, O'Reilly</a:t>
            </a:r>
          </a:p>
          <a:p>
            <a:pPr lvl="1">
              <a:spcBef>
                <a:spcPts val="300"/>
              </a:spcBef>
            </a:pPr>
            <a:r>
              <a:rPr sz="1700">
                <a:solidFill>
                  <a:srgbClr val="5A6372"/>
                </a:solidFill>
              </a:rPr>
              <a:t>–  buku pegangan utama kelas ini</a:t>
            </a:r>
          </a:p>
          <a:p>
            <a:pPr>
              <a:spcBef>
                <a:spcPts val="1100"/>
              </a:spcBef>
            </a:pPr>
            <a:r>
              <a:rPr sz="2000">
                <a:solidFill>
                  <a:srgbClr val="1A1F2B"/>
                </a:solidFill>
              </a:rPr>
              <a:t>•  </a:t>
            </a:r>
            <a:r>
              <a:rPr sz="2000" b="1">
                <a:solidFill>
                  <a:srgbClr val="102545"/>
                </a:solidFill>
              </a:rPr>
              <a:t>Goodfellow, Bengio &amp; Courville (2016)</a:t>
            </a:r>
            <a:r>
              <a:rPr sz="2000">
                <a:solidFill>
                  <a:srgbClr val="1A1F2B"/>
                </a:solidFill>
              </a:rPr>
              <a:t> — </a:t>
            </a:r>
            <a:r>
              <a:rPr sz="2000" i="1">
                <a:solidFill>
                  <a:srgbClr val="1A1F2B"/>
                </a:solidFill>
              </a:rPr>
              <a:t>Deep Learning</a:t>
            </a:r>
            <a:r>
              <a:rPr sz="2000">
                <a:solidFill>
                  <a:srgbClr val="1A1F2B"/>
                </a:solidFill>
              </a:rPr>
              <a:t>, MIT Press</a:t>
            </a:r>
          </a:p>
          <a:p>
            <a:pPr>
              <a:spcBef>
                <a:spcPts val="1100"/>
              </a:spcBef>
            </a:pPr>
            <a:r>
              <a:rPr sz="2000">
                <a:solidFill>
                  <a:srgbClr val="1A1F2B"/>
                </a:solidFill>
              </a:rPr>
              <a:t>•  </a:t>
            </a:r>
            <a:r>
              <a:rPr sz="2000" b="1">
                <a:solidFill>
                  <a:srgbClr val="102545"/>
                </a:solidFill>
              </a:rPr>
              <a:t>Sutton &amp; Barto (2018)</a:t>
            </a:r>
            <a:r>
              <a:rPr sz="2000">
                <a:solidFill>
                  <a:srgbClr val="1A1F2B"/>
                </a:solidFill>
              </a:rPr>
              <a:t> — </a:t>
            </a:r>
            <a:r>
              <a:rPr sz="2000" i="1">
                <a:solidFill>
                  <a:srgbClr val="1A1F2B"/>
                </a:solidFill>
              </a:rPr>
              <a:t>Reinforcement Learning: An Introduction</a:t>
            </a:r>
            <a:r>
              <a:rPr sz="2000">
                <a:solidFill>
                  <a:srgbClr val="1A1F2B"/>
                </a:solidFill>
              </a:rPr>
              <a:t>, MIT Press</a:t>
            </a:r>
          </a:p>
          <a:p>
            <a:pPr>
              <a:spcBef>
                <a:spcPts val="1100"/>
              </a:spcBef>
            </a:pPr>
          </a:p>
          <a:p>
            <a:pPr>
              <a:spcBef>
                <a:spcPts val="1100"/>
              </a:spcBef>
            </a:pPr>
            <a:r>
              <a:rPr sz="2000">
                <a:solidFill>
                  <a:srgbClr val="1A1F2B"/>
                </a:solidFill>
              </a:rPr>
              <a:t>•  Pendukung: Kuhn &amp; Johnson (2019) · dokumentasi resmi scikit-learn &amp; PyTorch/TensorFlow · MachineLearningMastery.com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Ada yang ingin diubah?</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Kontrak ini kesepakatan, bukan pengumuman. Usulan perubahan dibahas sekarang — setelah disepakati, berlaku satu semester dan diumumkan lewat forum Pengumuman.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Kenapa Machine Learning?</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Dan kenapa kita mulai dari data, bukan dari algoritma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Model bagus tidak menyelamatkan data buruk.</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70–80% waktu sebuah proyek machine learning habis di data — bukan di pemilihan algoritma. Itu sebabnya pertemuan pertama kita bukan tentang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itu Machine Learning?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200">
                <a:solidFill>
                  <a:srgbClr val="1A1F2B"/>
                </a:solidFill>
              </a:rPr>
              <a:t>•  Cabang kecerdasan buatan yang membuat komputer </a:t>
            </a:r>
            <a:r>
              <a:rPr sz="2200" b="1">
                <a:solidFill>
                  <a:srgbClr val="102545"/>
                </a:solidFill>
              </a:rPr>
              <a:t>belajar dari data</a:t>
            </a:r>
            <a:r>
              <a:rPr sz="2200">
                <a:solidFill>
                  <a:srgbClr val="1A1F2B"/>
                </a:solidFill>
              </a:rPr>
              <a:t>, bukan dari aturan yang kita tulis satu per satu</a:t>
            </a:r>
          </a:p>
          <a:p>
            <a:pPr>
              <a:spcBef>
                <a:spcPts val="1100"/>
              </a:spcBef>
            </a:pPr>
          </a:p>
          <a:p>
            <a:pPr>
              <a:spcBef>
                <a:spcPts val="1100"/>
              </a:spcBef>
            </a:pPr>
            <a:r>
              <a:rPr sz="2200">
                <a:solidFill>
                  <a:srgbClr val="1A1F2B"/>
                </a:solidFill>
              </a:rPr>
              <a:t>•  </a:t>
            </a:r>
            <a:r>
              <a:rPr sz="2200" b="1">
                <a:solidFill>
                  <a:srgbClr val="102545"/>
                </a:solidFill>
              </a:rPr>
              <a:t>Pemrograman biasa:</a:t>
            </a:r>
            <a:r>
              <a:rPr sz="2200">
                <a:solidFill>
                  <a:srgbClr val="1A1F2B"/>
                </a:solidFill>
              </a:rPr>
              <a:t>    aturan  +  data   →   jawaban</a:t>
            </a:r>
          </a:p>
          <a:p>
            <a:pPr>
              <a:spcBef>
                <a:spcPts val="1100"/>
              </a:spcBef>
            </a:pPr>
            <a:r>
              <a:rPr sz="2200">
                <a:solidFill>
                  <a:srgbClr val="1A1F2B"/>
                </a:solidFill>
              </a:rPr>
              <a:t>•  </a:t>
            </a:r>
            <a:r>
              <a:rPr sz="2200" b="1">
                <a:solidFill>
                  <a:srgbClr val="102545"/>
                </a:solidFill>
              </a:rPr>
              <a:t>Machine Learning:</a:t>
            </a:r>
            <a:r>
              <a:rPr sz="2200">
                <a:solidFill>
                  <a:srgbClr val="1A1F2B"/>
                </a:solidFill>
              </a:rPr>
              <a:t>      data  +  jawaban   →   </a:t>
            </a:r>
            <a:r>
              <a:rPr sz="2200" b="1">
                <a:solidFill>
                  <a:srgbClr val="102545"/>
                </a:solidFill>
              </a:rPr>
              <a:t>aturan</a:t>
            </a:r>
          </a:p>
          <a:p>
            <a:pPr>
              <a:spcBef>
                <a:spcPts val="1100"/>
              </a:spcBef>
            </a:pPr>
          </a:p>
          <a:p>
            <a:pPr>
              <a:spcBef>
                <a:spcPts val="1100"/>
              </a:spcBef>
            </a:pPr>
            <a:r>
              <a:rPr sz="2200">
                <a:solidFill>
                  <a:srgbClr val="1A1F2B"/>
                </a:solidFill>
              </a:rPr>
              <a:t>•  Kita tidak memberi tahu mesin </a:t>
            </a:r>
            <a:r>
              <a:rPr sz="2200" i="1">
                <a:solidFill>
                  <a:srgbClr val="1A1F2B"/>
                </a:solidFill>
              </a:rPr>
              <a:t>bagaimana</a:t>
            </a:r>
            <a:r>
              <a:rPr sz="2200">
                <a:solidFill>
                  <a:srgbClr val="1A1F2B"/>
                </a:solidFill>
              </a:rPr>
              <a:t> caranya. Kita memberi contoh, lalu mesin menemukan polanya sendiri.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Tiga paradigma yang akan kita pelajari</a:t>
            </a:r>
          </a:p>
        </p:txBody>
      </p:sp>
      <p:graphicFrame>
        <p:nvGraphicFramePr>
          <p:cNvPr id="5" name="Table 4"/>
          <p:cNvGraphicFramePr>
            <a:graphicFrameLocks noGrp="1"/>
          </p:cNvGraphicFramePr>
          <p:nvPr/>
        </p:nvGraphicFramePr>
        <p:xfrm>
          <a:off x="777240" y="1371600"/>
          <a:ext cx="10652759" cy="1700784"/>
        </p:xfrm>
        <a:graphic>
          <a:graphicData uri="http://schemas.openxmlformats.org/drawingml/2006/table">
            <a:tbl>
              <a:tblPr firstRow="1" bandRow="1">
                <a:tableStyleId>{5C22544A-7EE6-4342-B048-85BDC9FD1C3A}</a:tableStyleId>
              </a:tblPr>
              <a:tblGrid>
                <a:gridCol w="2166663"/>
                <a:gridCol w="2347218"/>
                <a:gridCol w="4694436"/>
                <a:gridCol w="1444442"/>
              </a:tblGrid>
              <a:tr h="425196">
                <a:tc>
                  <a:txBody>
                    <a:bodyPr/>
                    <a:lstStyle/>
                    <a:p>
                      <a:pPr>
                        <a:defRPr sz="1700" b="1">
                          <a:solidFill>
                            <a:srgbClr val="FFFFFF"/>
                          </a:solidFill>
                        </a:defRPr>
                      </a:pPr>
                      <a:r>
                        <a:t>Paradigma</a:t>
                      </a:r>
                    </a:p>
                  </a:txBody>
                  <a:tcPr anchor="ctr">
                    <a:solidFill>
                      <a:srgbClr val="102545"/>
                    </a:solidFill>
                  </a:tcPr>
                </a:tc>
                <a:tc>
                  <a:txBody>
                    <a:bodyPr/>
                    <a:lstStyle/>
                    <a:p>
                      <a:pPr>
                        <a:defRPr sz="1700" b="1">
                          <a:solidFill>
                            <a:srgbClr val="FFFFFF"/>
                          </a:solidFill>
                        </a:defRPr>
                      </a:pPr>
                      <a:r>
                        <a:t>Data latih</a:t>
                      </a:r>
                    </a:p>
                  </a:txBody>
                  <a:tcPr anchor="ctr">
                    <a:solidFill>
                      <a:srgbClr val="102545"/>
                    </a:solidFill>
                  </a:tcPr>
                </a:tc>
                <a:tc>
                  <a:txBody>
                    <a:bodyPr/>
                    <a:lstStyle/>
                    <a:p>
                      <a:pPr>
                        <a:defRPr sz="1700" b="1">
                          <a:solidFill>
                            <a:srgbClr val="FFFFFF"/>
                          </a:solidFill>
                        </a:defRPr>
                      </a:pPr>
                      <a:r>
                        <a:t>Contoh</a:t>
                      </a:r>
                    </a:p>
                  </a:txBody>
                  <a:tcPr anchor="ctr">
                    <a:solidFill>
                      <a:srgbClr val="102545"/>
                    </a:solidFill>
                  </a:tcPr>
                </a:tc>
                <a:tc>
                  <a:txBody>
                    <a:bodyPr/>
                    <a:lstStyle/>
                    <a:p>
                      <a:pPr>
                        <a:defRPr sz="1700" b="1">
                          <a:solidFill>
                            <a:srgbClr val="FFFFFF"/>
                          </a:solidFill>
                        </a:defRPr>
                      </a:pPr>
                      <a:r>
                        <a:t>Pertemuan</a:t>
                      </a:r>
                    </a:p>
                  </a:txBody>
                  <a:tcPr anchor="ctr">
                    <a:solidFill>
                      <a:srgbClr val="102545"/>
                    </a:solidFill>
                  </a:tcPr>
                </a:tc>
              </a:tr>
              <a:tr h="425196">
                <a:tc>
                  <a:txBody>
                    <a:bodyPr/>
                    <a:lstStyle/>
                    <a:p>
                      <a:pPr>
                        <a:defRPr sz="1700" b="1">
                          <a:solidFill>
                            <a:srgbClr val="102545"/>
                          </a:solidFill>
                        </a:defRPr>
                      </a:pPr>
                      <a:r>
                        <a:t>Supervised</a:t>
                      </a:r>
                    </a:p>
                  </a:txBody>
                  <a:tcPr anchor="ctr">
                    <a:solidFill>
                      <a:srgbClr val="F5F7FA"/>
                    </a:solidFill>
                  </a:tcPr>
                </a:tc>
                <a:tc>
                  <a:txBody>
                    <a:bodyPr/>
                    <a:lstStyle/>
                    <a:p>
                      <a:pPr>
                        <a:defRPr sz="1700">
                          <a:solidFill>
                            <a:srgbClr val="1A1F2B"/>
                          </a:solidFill>
                        </a:defRPr>
                      </a:pPr>
                      <a:r>
                        <a:t>Punya label / jawaban</a:t>
                      </a:r>
                    </a:p>
                  </a:txBody>
                  <a:tcPr anchor="ctr">
                    <a:solidFill>
                      <a:srgbClr val="F5F7FA"/>
                    </a:solidFill>
                  </a:tcPr>
                </a:tc>
                <a:tc>
                  <a:txBody>
                    <a:bodyPr/>
                    <a:lstStyle/>
                    <a:p>
                      <a:pPr>
                        <a:defRPr sz="1700">
                          <a:solidFill>
                            <a:srgbClr val="1A1F2B"/>
                          </a:solidFill>
                        </a:defRPr>
                      </a:pPr>
                      <a:r>
                        <a:t>Prediksi harga, klasifikasi gambar, deteksi spam</a:t>
                      </a:r>
                    </a:p>
                  </a:txBody>
                  <a:tcPr anchor="ctr">
                    <a:solidFill>
                      <a:srgbClr val="F5F7FA"/>
                    </a:solidFill>
                  </a:tcPr>
                </a:tc>
                <a:tc>
                  <a:txBody>
                    <a:bodyPr/>
                    <a:lstStyle/>
                    <a:p>
                      <a:pPr>
                        <a:defRPr sz="1700">
                          <a:solidFill>
                            <a:srgbClr val="1A1F2B"/>
                          </a:solidFill>
                        </a:defRPr>
                      </a:pPr>
                      <a:r>
                        <a:t>1–11</a:t>
                      </a:r>
                    </a:p>
                  </a:txBody>
                  <a:tcPr anchor="ctr">
                    <a:solidFill>
                      <a:srgbClr val="F5F7FA"/>
                    </a:solidFill>
                  </a:tcPr>
                </a:tc>
              </a:tr>
              <a:tr h="425196">
                <a:tc>
                  <a:txBody>
                    <a:bodyPr/>
                    <a:lstStyle/>
                    <a:p>
                      <a:pPr>
                        <a:defRPr sz="1700" b="1">
                          <a:solidFill>
                            <a:srgbClr val="102545"/>
                          </a:solidFill>
                        </a:defRPr>
                      </a:pPr>
                      <a:r>
                        <a:t>Unsupervised</a:t>
                      </a:r>
                    </a:p>
                  </a:txBody>
                  <a:tcPr anchor="ctr">
                    <a:solidFill>
                      <a:srgbClr val="FFFFFF"/>
                    </a:solidFill>
                  </a:tcPr>
                </a:tc>
                <a:tc>
                  <a:txBody>
                    <a:bodyPr/>
                    <a:lstStyle/>
                    <a:p>
                      <a:pPr>
                        <a:defRPr sz="1700">
                          <a:solidFill>
                            <a:srgbClr val="1A1F2B"/>
                          </a:solidFill>
                        </a:defRPr>
                      </a:pPr>
                      <a:r>
                        <a:t>Tanpa label</a:t>
                      </a:r>
                    </a:p>
                  </a:txBody>
                  <a:tcPr anchor="ctr">
                    <a:solidFill>
                      <a:srgbClr val="FFFFFF"/>
                    </a:solidFill>
                  </a:tcPr>
                </a:tc>
                <a:tc>
                  <a:txBody>
                    <a:bodyPr/>
                    <a:lstStyle/>
                    <a:p>
                      <a:pPr>
                        <a:defRPr sz="1700">
                          <a:solidFill>
                            <a:srgbClr val="1A1F2B"/>
                          </a:solidFill>
                        </a:defRPr>
                      </a:pPr>
                      <a:r>
                        <a:t>Clustering pelanggan, deteksi anomali</a:t>
                      </a:r>
                    </a:p>
                  </a:txBody>
                  <a:tcPr anchor="ctr">
                    <a:solidFill>
                      <a:srgbClr val="FFFFFF"/>
                    </a:solidFill>
                  </a:tcPr>
                </a:tc>
                <a:tc>
                  <a:txBody>
                    <a:bodyPr/>
                    <a:lstStyle/>
                    <a:p>
                      <a:pPr>
                        <a:defRPr sz="1700">
                          <a:solidFill>
                            <a:srgbClr val="1A1F2B"/>
                          </a:solidFill>
                        </a:defRPr>
                      </a:pPr>
                      <a:r>
                        <a:t>sekilas</a:t>
                      </a:r>
                    </a:p>
                  </a:txBody>
                  <a:tcPr anchor="ctr">
                    <a:solidFill>
                      <a:srgbClr val="FFFFFF"/>
                    </a:solidFill>
                  </a:tcPr>
                </a:tc>
              </a:tr>
              <a:tr h="425196">
                <a:tc>
                  <a:txBody>
                    <a:bodyPr/>
                    <a:lstStyle/>
                    <a:p>
                      <a:pPr>
                        <a:defRPr sz="1700" b="1">
                          <a:solidFill>
                            <a:srgbClr val="102545"/>
                          </a:solidFill>
                        </a:defRPr>
                      </a:pPr>
                      <a:r>
                        <a:t>Reinforcement</a:t>
                      </a:r>
                    </a:p>
                  </a:txBody>
                  <a:tcPr anchor="ctr">
                    <a:solidFill>
                      <a:srgbClr val="F5F7FA"/>
                    </a:solidFill>
                  </a:tcPr>
                </a:tc>
                <a:tc>
                  <a:txBody>
                    <a:bodyPr/>
                    <a:lstStyle/>
                    <a:p>
                      <a:pPr>
                        <a:defRPr sz="1700">
                          <a:solidFill>
                            <a:srgbClr val="1A1F2B"/>
                          </a:solidFill>
                        </a:defRPr>
                      </a:pPr>
                      <a:r>
                        <a:t>Reward dari lingkungan</a:t>
                      </a:r>
                    </a:p>
                  </a:txBody>
                  <a:tcPr anchor="ctr">
                    <a:solidFill>
                      <a:srgbClr val="F5F7FA"/>
                    </a:solidFill>
                  </a:tcPr>
                </a:tc>
                <a:tc>
                  <a:txBody>
                    <a:bodyPr/>
                    <a:lstStyle/>
                    <a:p>
                      <a:pPr>
                        <a:defRPr sz="1700">
                          <a:solidFill>
                            <a:srgbClr val="1A1F2B"/>
                          </a:solidFill>
                        </a:defRPr>
                      </a:pPr>
                      <a:r>
                        <a:t>Agen main game, robot belajar berjalan</a:t>
                      </a:r>
                    </a:p>
                  </a:txBody>
                  <a:tcPr anchor="ctr">
                    <a:solidFill>
                      <a:srgbClr val="F5F7FA"/>
                    </a:solidFill>
                  </a:tcPr>
                </a:tc>
                <a:tc>
                  <a:txBody>
                    <a:bodyPr/>
                    <a:lstStyle/>
                    <a:p>
                      <a:pPr>
                        <a:defRPr sz="1700">
                          <a:solidFill>
                            <a:srgbClr val="1A1F2B"/>
                          </a:solidFill>
                        </a:defRPr>
                      </a:pPr>
                      <a:r>
                        <a:t>12–13</a:t>
                      </a:r>
                    </a:p>
                  </a:txBody>
                  <a:tcPr anchor="ctr">
                    <a:solidFill>
                      <a:srgbClr val="F5F7FA"/>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Alur proyek ML dari ujung ke ujung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1. Rumusan masalah</a:t>
            </a:r>
            <a:r>
              <a:rPr sz="2000">
                <a:solidFill>
                  <a:srgbClr val="1A1F2B"/>
                </a:solidFill>
              </a:rPr>
              <a:t> — apa yang diprediksi, dan apa ukuran berhasilnya?</a:t>
            </a:r>
          </a:p>
          <a:p>
            <a:pPr>
              <a:spcBef>
                <a:spcPts val="1100"/>
              </a:spcBef>
            </a:pPr>
            <a:r>
              <a:rPr sz="2000">
                <a:solidFill>
                  <a:srgbClr val="1A1F2B"/>
                </a:solidFill>
              </a:rPr>
              <a:t>•  </a:t>
            </a:r>
            <a:r>
              <a:rPr sz="2000" b="1">
                <a:solidFill>
                  <a:srgbClr val="102545"/>
                </a:solidFill>
              </a:rPr>
              <a:t>2. Kumpulkan data</a:t>
            </a:r>
            <a:r>
              <a:rPr sz="2000">
                <a:solidFill>
                  <a:srgbClr val="1A1F2B"/>
                </a:solidFill>
              </a:rPr>
              <a:t> — dari mana, seberapa banyak, seberapa dipercaya?</a:t>
            </a:r>
          </a:p>
          <a:p>
            <a:pPr>
              <a:spcBef>
                <a:spcPts val="1100"/>
              </a:spcBef>
            </a:pPr>
            <a:r>
              <a:rPr sz="2000">
                <a:solidFill>
                  <a:srgbClr val="1A1F2B"/>
                </a:solidFill>
              </a:rPr>
              <a:t>•  </a:t>
            </a:r>
            <a:r>
              <a:rPr sz="2000" b="1">
                <a:solidFill>
                  <a:srgbClr val="102545"/>
                </a:solidFill>
              </a:rPr>
              <a:t>3. EDA &amp; preprocessing</a:t>
            </a:r>
            <a:r>
              <a:rPr sz="2000">
                <a:solidFill>
                  <a:srgbClr val="1A1F2B"/>
                </a:solidFill>
              </a:rPr>
              <a:t> ← </a:t>
            </a:r>
            <a:r>
              <a:rPr sz="2000" b="1">
                <a:solidFill>
                  <a:srgbClr val="102545"/>
                </a:solidFill>
              </a:rPr>
              <a:t>di sinilah sebagian besar waktu habis</a:t>
            </a:r>
          </a:p>
          <a:p>
            <a:pPr>
              <a:spcBef>
                <a:spcPts val="1100"/>
              </a:spcBef>
            </a:pPr>
            <a:r>
              <a:rPr sz="2000">
                <a:solidFill>
                  <a:srgbClr val="1A1F2B"/>
                </a:solidFill>
              </a:rPr>
              <a:t>•  </a:t>
            </a:r>
            <a:r>
              <a:rPr sz="2000" b="1">
                <a:solidFill>
                  <a:srgbClr val="102545"/>
                </a:solidFill>
              </a:rPr>
              <a:t>4. Latih model</a:t>
            </a:r>
            <a:r>
              <a:rPr sz="2000">
                <a:solidFill>
                  <a:srgbClr val="1A1F2B"/>
                </a:solidFill>
              </a:rPr>
              <a:t> — mulai dari baseline yang paling sederhana</a:t>
            </a:r>
          </a:p>
          <a:p>
            <a:pPr>
              <a:spcBef>
                <a:spcPts val="1100"/>
              </a:spcBef>
            </a:pPr>
            <a:r>
              <a:rPr sz="2000">
                <a:solidFill>
                  <a:srgbClr val="1A1F2B"/>
                </a:solidFill>
              </a:rPr>
              <a:t>•  </a:t>
            </a:r>
            <a:r>
              <a:rPr sz="2000" b="1">
                <a:solidFill>
                  <a:srgbClr val="102545"/>
                </a:solidFill>
              </a:rPr>
              <a:t>5. Evaluasi</a:t>
            </a:r>
            <a:r>
              <a:rPr sz="2000">
                <a:solidFill>
                  <a:srgbClr val="1A1F2B"/>
                </a:solidFill>
              </a:rPr>
              <a:t> — dengan metrik yang tepat, bukan yang enak dilihat</a:t>
            </a:r>
          </a:p>
          <a:p>
            <a:pPr>
              <a:spcBef>
                <a:spcPts val="1100"/>
              </a:spcBef>
            </a:pPr>
            <a:r>
              <a:rPr sz="2000">
                <a:solidFill>
                  <a:srgbClr val="1A1F2B"/>
                </a:solidFill>
              </a:rPr>
              <a:t>•  </a:t>
            </a:r>
            <a:r>
              <a:rPr sz="2000" b="1">
                <a:solidFill>
                  <a:srgbClr val="102545"/>
                </a:solidFill>
              </a:rPr>
              <a:t>6. Iterasi</a:t>
            </a:r>
            <a:r>
              <a:rPr sz="2000">
                <a:solidFill>
                  <a:srgbClr val="1A1F2B"/>
                </a:solidFill>
              </a:rPr>
              <a:t> — kembali ke langkah 3, berkali-kali</a:t>
            </a:r>
          </a:p>
          <a:p>
            <a:pPr>
              <a:spcBef>
                <a:spcPts val="1100"/>
              </a:spcBef>
            </a:pPr>
            <a:r>
              <a:rPr sz="2000">
                <a:solidFill>
                  <a:srgbClr val="1A1F2B"/>
                </a:solidFill>
              </a:rPr>
              <a:t>•  </a:t>
            </a:r>
            <a:r>
              <a:rPr sz="2000" b="1">
                <a:solidFill>
                  <a:srgbClr val="102545"/>
                </a:solidFill>
              </a:rPr>
              <a:t>7. Deploy &amp; pantau</a:t>
            </a:r>
            <a:r>
              <a:rPr sz="2000">
                <a:solidFill>
                  <a:srgbClr val="1A1F2B"/>
                </a:solidFill>
              </a:rPr>
              <a:t> — dunia berubah, model ikut basi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2b</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Preprocessing itu Pondasi</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Tiga masalah yang selalu ada di data nyata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Data dunia nyata itu kotor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Tidak lengkap</a:t>
            </a:r>
            <a:r>
              <a:rPr sz="2000">
                <a:solidFill>
                  <a:srgbClr val="1A1F2B"/>
                </a:solidFill>
              </a:rPr>
              <a:t> — ada nilai kosong: umur penumpang tidak tercatat, alamat tidak diisi</a:t>
            </a:r>
          </a:p>
          <a:p>
            <a:pPr>
              <a:spcBef>
                <a:spcPts val="1100"/>
              </a:spcBef>
            </a:pPr>
            <a:r>
              <a:rPr sz="2000">
                <a:solidFill>
                  <a:srgbClr val="1A1F2B"/>
                </a:solidFill>
              </a:rPr>
              <a:t>•  </a:t>
            </a:r>
            <a:r>
              <a:rPr sz="2000" b="1">
                <a:solidFill>
                  <a:srgbClr val="102545"/>
                </a:solidFill>
              </a:rPr>
              <a:t>Skala berbeda-beda</a:t>
            </a:r>
            <a:r>
              <a:rPr sz="2000">
                <a:solidFill>
                  <a:srgbClr val="1A1F2B"/>
                </a:solidFill>
              </a:rPr>
              <a:t> — usia 0–80, penghasilan 0–100.000.000. Model berbasis jarak akan didominasi kolom yang angkanya besar</a:t>
            </a:r>
          </a:p>
          <a:p>
            <a:pPr>
              <a:spcBef>
                <a:spcPts val="1100"/>
              </a:spcBef>
            </a:pPr>
            <a:r>
              <a:rPr sz="2000">
                <a:solidFill>
                  <a:srgbClr val="1A1F2B"/>
                </a:solidFill>
              </a:rPr>
              <a:t>•  </a:t>
            </a:r>
            <a:r>
              <a:rPr sz="2000" b="1">
                <a:solidFill>
                  <a:srgbClr val="102545"/>
                </a:solidFill>
              </a:rPr>
              <a:t>Berbentuk kategori</a:t>
            </a:r>
            <a:r>
              <a:rPr sz="2000">
                <a:solidFill>
                  <a:srgbClr val="1A1F2B"/>
                </a:solidFill>
              </a:rPr>
              <a:t> — 'laki-laki', 'perempuan', 'Southampton'. Algoritma butuh angka, bukan teks</a:t>
            </a:r>
          </a:p>
          <a:p>
            <a:pPr>
              <a:spcBef>
                <a:spcPts val="1100"/>
              </a:spcBef>
            </a:pPr>
            <a:r>
              <a:rPr sz="2000">
                <a:solidFill>
                  <a:srgbClr val="1A1F2B"/>
                </a:solidFill>
              </a:rPr>
              <a:t>•  </a:t>
            </a:r>
            <a:r>
              <a:rPr sz="2000" b="1">
                <a:solidFill>
                  <a:srgbClr val="102545"/>
                </a:solidFill>
              </a:rPr>
              <a:t>Tidak konsisten</a:t>
            </a:r>
            <a:r>
              <a:rPr sz="2000">
                <a:solidFill>
                  <a:srgbClr val="1A1F2B"/>
                </a:solidFill>
              </a:rPr>
              <a:t> — 'Jakarta', 'JAKARTA', 'DKI Jakarta' dianggap tiga hal berbeda</a:t>
            </a:r>
          </a:p>
          <a:p>
            <a:pPr>
              <a:spcBef>
                <a:spcPts val="1100"/>
              </a:spcBef>
            </a:pPr>
          </a:p>
          <a:p>
            <a:pPr>
              <a:spcBef>
                <a:spcPts val="1100"/>
              </a:spcBef>
            </a:pPr>
            <a:r>
              <a:rPr sz="2000">
                <a:solidFill>
                  <a:srgbClr val="1A1F2B"/>
                </a:solidFill>
              </a:rPr>
              <a:t>•  Tanpa preprocessing, model </a:t>
            </a:r>
            <a:r>
              <a:rPr sz="2000" b="1">
                <a:solidFill>
                  <a:srgbClr val="102545"/>
                </a:solidFill>
              </a:rPr>
              <a:t>salah membaca pola</a:t>
            </a:r>
            <a:r>
              <a:rPr sz="2000">
                <a:solidFill>
                  <a:srgbClr val="1A1F2B"/>
                </a:solidFill>
              </a:rPr>
              <a:t> — dan tetap memberi angka akurasi yang terlihat meyakinkan.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1 — Missing values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Kenali dulu</a:t>
            </a:r>
            <a:r>
              <a:rPr sz="2000">
                <a:solidFill>
                  <a:srgbClr val="1A1F2B"/>
                </a:solidFill>
              </a:rPr>
              <a:t>: berapa persen kosong per kolom? Apakah acak, atau ada polanya?</a:t>
            </a:r>
          </a:p>
          <a:p>
            <a:pPr>
              <a:spcBef>
                <a:spcPts val="1100"/>
              </a:spcBef>
            </a:pPr>
            <a:r>
              <a:rPr sz="2000">
                <a:solidFill>
                  <a:srgbClr val="1A1F2B"/>
                </a:solidFill>
              </a:rPr>
              <a:t>•  </a:t>
            </a:r>
            <a:r>
              <a:rPr sz="2000" b="1">
                <a:solidFill>
                  <a:srgbClr val="102545"/>
                </a:solidFill>
              </a:rPr>
              <a:t>Pilihan penanganan:</a:t>
            </a:r>
          </a:p>
          <a:p>
            <a:pPr lvl="1">
              <a:spcBef>
                <a:spcPts val="300"/>
              </a:spcBef>
            </a:pPr>
            <a:r>
              <a:rPr sz="1700">
                <a:solidFill>
                  <a:srgbClr val="5A6372"/>
                </a:solidFill>
              </a:rPr>
              <a:t>–  Buang barisnya — aman kalau sedikit, boros kalau banyak</a:t>
            </a:r>
          </a:p>
          <a:p>
            <a:pPr lvl="1">
              <a:spcBef>
                <a:spcPts val="300"/>
              </a:spcBef>
            </a:pPr>
            <a:r>
              <a:rPr sz="1700">
                <a:solidFill>
                  <a:srgbClr val="5A6372"/>
                </a:solidFill>
              </a:rPr>
              <a:t>–  Buang kolomnya — kalau kosongnya dominan</a:t>
            </a:r>
          </a:p>
          <a:p>
            <a:pPr lvl="1">
              <a:spcBef>
                <a:spcPts val="300"/>
              </a:spcBef>
            </a:pPr>
            <a:r>
              <a:rPr sz="1700">
                <a:solidFill>
                  <a:srgbClr val="5A6372"/>
                </a:solidFill>
              </a:rPr>
              <a:t>–  Imputasi: mean · median · most_frequent · KNNImputer</a:t>
            </a:r>
          </a:p>
          <a:p>
            <a:pPr>
              <a:spcBef>
                <a:spcPts val="1100"/>
              </a:spcBef>
            </a:pPr>
          </a:p>
          <a:p>
            <a:pPr>
              <a:spcBef>
                <a:spcPts val="1100"/>
              </a:spcBef>
            </a:pPr>
            <a:r>
              <a:rPr sz="2000">
                <a:solidFill>
                  <a:srgbClr val="1A1F2B"/>
                </a:solidFill>
              </a:rPr>
              <a:t>•  </a:t>
            </a:r>
            <a:r>
              <a:rPr sz="2000" b="1">
                <a:solidFill>
                  <a:srgbClr val="102545"/>
                </a:solidFill>
              </a:rPr>
              <a:t>Aturan praktis:</a:t>
            </a:r>
            <a:r>
              <a:rPr sz="2000">
                <a:solidFill>
                  <a:srgbClr val="1A1F2B"/>
                </a:solidFill>
              </a:rPr>
              <a:t> pakai </a:t>
            </a:r>
            <a:r>
              <a:rPr sz="2000" b="1">
                <a:solidFill>
                  <a:srgbClr val="102545"/>
                </a:solidFill>
              </a:rPr>
              <a:t>median</a:t>
            </a:r>
            <a:r>
              <a:rPr sz="2000">
                <a:solidFill>
                  <a:srgbClr val="1A1F2B"/>
                </a:solidFill>
              </a:rPr>
              <a:t> kalau ada pencilan (outlier); pakai </a:t>
            </a:r>
            <a:r>
              <a:rPr sz="2000" b="1">
                <a:solidFill>
                  <a:srgbClr val="102545"/>
                </a:solidFill>
              </a:rPr>
              <a:t>most_frequent</a:t>
            </a:r>
            <a:r>
              <a:rPr sz="2000">
                <a:solidFill>
                  <a:srgbClr val="1A1F2B"/>
                </a:solidFill>
              </a:rPr>
              <a:t> untuk kategori.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2 — Skala fitur</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Kenapa penting: tanpa penyeragaman skala, fitur berangka besar mendominasi hanya karena satuannya, bukan karena lebih informatif.</a:t>
            </a:r>
          </a:p>
        </p:txBody>
      </p:sp>
      <p:graphicFrame>
        <p:nvGraphicFramePr>
          <p:cNvPr id="6" name="Table 5"/>
          <p:cNvGraphicFramePr>
            <a:graphicFrameLocks noGrp="1"/>
          </p:cNvGraphicFramePr>
          <p:nvPr/>
        </p:nvGraphicFramePr>
        <p:xfrm>
          <a:off x="777240" y="1783080"/>
          <a:ext cx="10652758" cy="1316736"/>
        </p:xfrm>
        <a:graphic>
          <a:graphicData uri="http://schemas.openxmlformats.org/drawingml/2006/table">
            <a:tbl>
              <a:tblPr firstRow="1" bandRow="1">
                <a:tableStyleId>{5C22544A-7EE6-4342-B048-85BDC9FD1C3A}</a:tableStyleId>
              </a:tblPr>
              <a:tblGrid>
                <a:gridCol w="2347218"/>
                <a:gridCol w="2708328"/>
                <a:gridCol w="5597212"/>
              </a:tblGrid>
              <a:tr h="438912">
                <a:tc>
                  <a:txBody>
                    <a:bodyPr/>
                    <a:lstStyle/>
                    <a:p>
                      <a:pPr>
                        <a:defRPr sz="1700" b="1">
                          <a:solidFill>
                            <a:srgbClr val="FFFFFF"/>
                          </a:solidFill>
                        </a:defRPr>
                      </a:pPr>
                      <a:r>
                        <a:t>Metode</a:t>
                      </a:r>
                    </a:p>
                  </a:txBody>
                  <a:tcPr anchor="ctr">
                    <a:solidFill>
                      <a:srgbClr val="102545"/>
                    </a:solidFill>
                  </a:tcPr>
                </a:tc>
                <a:tc>
                  <a:txBody>
                    <a:bodyPr/>
                    <a:lstStyle/>
                    <a:p>
                      <a:pPr>
                        <a:defRPr sz="1700" b="1">
                          <a:solidFill>
                            <a:srgbClr val="FFFFFF"/>
                          </a:solidFill>
                        </a:defRPr>
                      </a:pPr>
                      <a:r>
                        <a:t>Hasilnya</a:t>
                      </a:r>
                    </a:p>
                  </a:txBody>
                  <a:tcPr anchor="ctr">
                    <a:solidFill>
                      <a:srgbClr val="102545"/>
                    </a:solidFill>
                  </a:tcPr>
                </a:tc>
                <a:tc>
                  <a:txBody>
                    <a:bodyPr/>
                    <a:lstStyle/>
                    <a:p>
                      <a:pPr>
                        <a:defRPr sz="1700" b="1">
                          <a:solidFill>
                            <a:srgbClr val="FFFFFF"/>
                          </a:solidFill>
                        </a:defRPr>
                      </a:pPr>
                      <a:r>
                        <a:t>Dipakai kapan</a:t>
                      </a:r>
                    </a:p>
                  </a:txBody>
                  <a:tcPr anchor="ctr">
                    <a:solidFill>
                      <a:srgbClr val="102545"/>
                    </a:solidFill>
                  </a:tcPr>
                </a:tc>
              </a:tr>
              <a:tr h="438912">
                <a:tc>
                  <a:txBody>
                    <a:bodyPr/>
                    <a:lstStyle/>
                    <a:p>
                      <a:pPr>
                        <a:defRPr sz="1700" b="1">
                          <a:solidFill>
                            <a:srgbClr val="102545"/>
                          </a:solidFill>
                        </a:defRPr>
                      </a:pPr>
                      <a:r>
                        <a:t>StandardScaler</a:t>
                      </a:r>
                    </a:p>
                  </a:txBody>
                  <a:tcPr anchor="ctr">
                    <a:solidFill>
                      <a:srgbClr val="F5F7FA"/>
                    </a:solidFill>
                  </a:tcPr>
                </a:tc>
                <a:tc>
                  <a:txBody>
                    <a:bodyPr/>
                    <a:lstStyle/>
                    <a:p>
                      <a:pPr>
                        <a:defRPr sz="1700">
                          <a:solidFill>
                            <a:srgbClr val="1A1F2B"/>
                          </a:solidFill>
                        </a:defRPr>
                      </a:pPr>
                      <a:r>
                        <a:t>mean = 0, std = 1</a:t>
                      </a:r>
                    </a:p>
                  </a:txBody>
                  <a:tcPr anchor="ctr">
                    <a:solidFill>
                      <a:srgbClr val="F5F7FA"/>
                    </a:solidFill>
                  </a:tcPr>
                </a:tc>
                <a:tc>
                  <a:txBody>
                    <a:bodyPr/>
                    <a:lstStyle/>
                    <a:p>
                      <a:pPr>
                        <a:defRPr sz="1700">
                          <a:solidFill>
                            <a:srgbClr val="1A1F2B"/>
                          </a:solidFill>
                        </a:defRPr>
                      </a:pPr>
                      <a:r>
                        <a:t>Model berbasis jarak / gradien: KNN, SVM, Logistic Regression</a:t>
                      </a:r>
                    </a:p>
                  </a:txBody>
                  <a:tcPr anchor="ctr">
                    <a:solidFill>
                      <a:srgbClr val="F5F7FA"/>
                    </a:solidFill>
                  </a:tcPr>
                </a:tc>
              </a:tr>
              <a:tr h="438912">
                <a:tc>
                  <a:txBody>
                    <a:bodyPr/>
                    <a:lstStyle/>
                    <a:p>
                      <a:pPr>
                        <a:defRPr sz="1700" b="1">
                          <a:solidFill>
                            <a:srgbClr val="102545"/>
                          </a:solidFill>
                        </a:defRPr>
                      </a:pPr>
                      <a:r>
                        <a:t>MinMaxScaler</a:t>
                      </a:r>
                    </a:p>
                  </a:txBody>
                  <a:tcPr anchor="ctr">
                    <a:solidFill>
                      <a:srgbClr val="FFFFFF"/>
                    </a:solidFill>
                  </a:tcPr>
                </a:tc>
                <a:tc>
                  <a:txBody>
                    <a:bodyPr/>
                    <a:lstStyle/>
                    <a:p>
                      <a:pPr>
                        <a:defRPr sz="1700">
                          <a:solidFill>
                            <a:srgbClr val="1A1F2B"/>
                          </a:solidFill>
                        </a:defRPr>
                      </a:pPr>
                      <a:r>
                        <a:t>skala ke [0, 1]</a:t>
                      </a:r>
                    </a:p>
                  </a:txBody>
                  <a:tcPr anchor="ctr">
                    <a:solidFill>
                      <a:srgbClr val="FFFFFF"/>
                    </a:solidFill>
                  </a:tcPr>
                </a:tc>
                <a:tc>
                  <a:txBody>
                    <a:bodyPr/>
                    <a:lstStyle/>
                    <a:p>
                      <a:pPr>
                        <a:defRPr sz="1700">
                          <a:solidFill>
                            <a:srgbClr val="1A1F2B"/>
                          </a:solidFill>
                        </a:defRPr>
                      </a:pPr>
                      <a:r>
                        <a:t>Menjaga bentuk distribusi — tapi sensitif terhadap pencilan</a:t>
                      </a:r>
                    </a:p>
                  </a:txBody>
                  <a:tcPr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3 — Data kategorikal (encoding)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One-Hot Encoding</a:t>
            </a:r>
            <a:r>
              <a:rPr sz="2000">
                <a:solidFill>
                  <a:srgbClr val="1A1F2B"/>
                </a:solidFill>
              </a:rPr>
              <a:t> — satu kolom biner per kategori. Untuk data </a:t>
            </a:r>
            <a:r>
              <a:rPr sz="2000" b="1">
                <a:solidFill>
                  <a:srgbClr val="102545"/>
                </a:solidFill>
              </a:rPr>
              <a:t>nominal</a:t>
            </a:r>
            <a:r>
              <a:rPr sz="2000">
                <a:solidFill>
                  <a:srgbClr val="1A1F2B"/>
                </a:solidFill>
              </a:rPr>
              <a:t> (tanpa urutan)</a:t>
            </a:r>
          </a:p>
          <a:p>
            <a:pPr lvl="1">
              <a:spcBef>
                <a:spcPts val="300"/>
              </a:spcBef>
            </a:pPr>
            <a:r>
              <a:rPr sz="1700">
                <a:solidFill>
                  <a:srgbClr val="5A6372"/>
                </a:solidFill>
              </a:rPr>
              <a:t>–  'Southampton', 'Cherbourg', 'Queenstown' → tiga kolom 0/1</a:t>
            </a:r>
          </a:p>
          <a:p>
            <a:pPr>
              <a:spcBef>
                <a:spcPts val="1100"/>
              </a:spcBef>
            </a:pPr>
            <a:r>
              <a:rPr sz="2000">
                <a:solidFill>
                  <a:srgbClr val="1A1F2B"/>
                </a:solidFill>
              </a:rPr>
              <a:t>•  </a:t>
            </a:r>
            <a:r>
              <a:rPr sz="2000" b="1">
                <a:solidFill>
                  <a:srgbClr val="102545"/>
                </a:solidFill>
              </a:rPr>
              <a:t>Ordinal Encoding</a:t>
            </a:r>
            <a:r>
              <a:rPr sz="2000">
                <a:solidFill>
                  <a:srgbClr val="1A1F2B"/>
                </a:solidFill>
              </a:rPr>
              <a:t> — angka berurutan. Hanya kalau urutannya </a:t>
            </a:r>
            <a:r>
              <a:rPr sz="2000" b="1">
                <a:solidFill>
                  <a:srgbClr val="102545"/>
                </a:solidFill>
              </a:rPr>
              <a:t>memang bermakna</a:t>
            </a:r>
          </a:p>
          <a:p>
            <a:pPr lvl="1">
              <a:spcBef>
                <a:spcPts val="300"/>
              </a:spcBef>
            </a:pPr>
            <a:r>
              <a:rPr sz="1700">
                <a:solidFill>
                  <a:srgbClr val="5A6372"/>
                </a:solidFill>
              </a:rPr>
              <a:t>–  'rendah' &lt; 'sedang' &lt; 'tinggi' → 0, 1, 2</a:t>
            </a:r>
          </a:p>
          <a:p>
            <a:pPr>
              <a:spcBef>
                <a:spcPts val="1100"/>
              </a:spcBef>
            </a:pPr>
          </a:p>
          <a:p>
            <a:pPr>
              <a:spcBef>
                <a:spcPts val="1100"/>
              </a:spcBef>
            </a:pPr>
            <a:r>
              <a:rPr sz="2000">
                <a:solidFill>
                  <a:srgbClr val="1A1F2B"/>
                </a:solidFill>
              </a:rPr>
              <a:t>•  </a:t>
            </a:r>
            <a:r>
              <a:rPr sz="2000" b="1">
                <a:solidFill>
                  <a:srgbClr val="102545"/>
                </a:solidFill>
              </a:rPr>
              <a:t>Kesalahan klasik:</a:t>
            </a:r>
            <a:r>
              <a:rPr sz="2000">
                <a:solidFill>
                  <a:srgbClr val="1A1F2B"/>
                </a:solidFill>
              </a:rPr>
              <a:t> memberi nomor 0/1/2 pada kota. Model lalu menyimpulkan Queenstown 'dua kali lipat' Southampton — padahal tidak ada artinya.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B32D2D"/>
                </a:solidFill>
              </a:defRPr>
            </a:pPr>
            <a:r>
              <a:t>Kesalahan nomor satu pemula: data leakage</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Informasi dari data uji 'bocor' ke proses latih — misalnya scaler di-fit pada gabungan train + test. Akibatnya: akurasi terlihat bagus di laptop Anda, lalu jatuh di dunia nyata.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menghindarinya: Pipeline</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Split dulu, baru fit.</a:t>
            </a:r>
            <a:r>
              <a:rPr sz="2000">
                <a:solidFill>
                  <a:srgbClr val="1A1F2B"/>
                </a:solidFill>
              </a:rPr>
              <a:t> Semua transformasi di-</a:t>
            </a:r>
            <a:r>
              <a:rPr sz="2000" i="1">
                <a:solidFill>
                  <a:srgbClr val="1A1F2B"/>
                </a:solidFill>
              </a:rPr>
              <a:t>fit</a:t>
            </a:r>
            <a:r>
              <a:rPr sz="2000">
                <a:solidFill>
                  <a:srgbClr val="1A1F2B"/>
                </a:solidFill>
              </a:rPr>
              <a:t> </a:t>
            </a:r>
            <a:r>
              <a:rPr sz="2000" b="1">
                <a:solidFill>
                  <a:srgbClr val="102545"/>
                </a:solidFill>
              </a:rPr>
              <a:t>hanya pada data latih</a:t>
            </a:r>
          </a:p>
          <a:p>
            <a:pPr>
              <a:spcBef>
                <a:spcPts val="1100"/>
              </a:spcBef>
            </a:pPr>
            <a:r>
              <a:rPr sz="2000">
                <a:solidFill>
                  <a:srgbClr val="1A1F2B"/>
                </a:solidFill>
              </a:rPr>
              <a:t>•  </a:t>
            </a:r>
            <a:r>
              <a:rPr sz="2000" b="1">
                <a:solidFill>
                  <a:srgbClr val="102545"/>
                </a:solidFill>
              </a:rPr>
              <a:t>Bungkus semuanya</a:t>
            </a:r>
            <a:r>
              <a:rPr sz="2000">
                <a:solidFill>
                  <a:srgbClr val="1A1F2B"/>
                </a:solidFill>
              </a:rPr>
              <a:t> dalam Pipeline + ColumnTransformer</a:t>
            </a:r>
          </a:p>
          <a:p>
            <a:pPr lvl="1">
              <a:spcBef>
                <a:spcPts val="300"/>
              </a:spcBef>
            </a:pPr>
            <a:r>
              <a:rPr sz="1700">
                <a:solidFill>
                  <a:srgbClr val="5A6372"/>
                </a:solidFill>
              </a:rPr>
              <a:t>–  kolom numerik → imputer → scaler</a:t>
            </a:r>
          </a:p>
          <a:p>
            <a:pPr lvl="1">
              <a:spcBef>
                <a:spcPts val="300"/>
              </a:spcBef>
            </a:pPr>
            <a:r>
              <a:rPr sz="1700">
                <a:solidFill>
                  <a:srgbClr val="5A6372"/>
                </a:solidFill>
              </a:rPr>
              <a:t>–  kolom kategorikal → imputer → one-hot encoder</a:t>
            </a:r>
          </a:p>
          <a:p>
            <a:pPr>
              <a:spcBef>
                <a:spcPts val="1100"/>
              </a:spcBef>
            </a:pPr>
            <a:r>
              <a:rPr sz="2000">
                <a:solidFill>
                  <a:srgbClr val="1A1F2B"/>
                </a:solidFill>
              </a:rPr>
              <a:t>•  </a:t>
            </a:r>
            <a:r>
              <a:rPr sz="2000" b="1">
                <a:solidFill>
                  <a:srgbClr val="102545"/>
                </a:solidFill>
              </a:rPr>
              <a:t>Hasilnya:</a:t>
            </a:r>
            <a:r>
              <a:rPr sz="2000">
                <a:solidFill>
                  <a:srgbClr val="1A1F2B"/>
                </a:solidFill>
              </a:rPr>
              <a:t> kebocoran nyaris mustahil terjadi, dan seluruh alur bisa dijalankan ulang oleh orang lain</a:t>
            </a:r>
          </a:p>
          <a:p>
            <a:pPr>
              <a:spcBef>
                <a:spcPts val="1100"/>
              </a:spcBef>
            </a:pPr>
          </a:p>
          <a:p>
            <a:pPr>
              <a:spcBef>
                <a:spcPts val="1100"/>
              </a:spcBef>
            </a:pPr>
            <a:r>
              <a:rPr sz="2000">
                <a:solidFill>
                  <a:srgbClr val="1A1F2B"/>
                </a:solidFill>
              </a:rPr>
              <a:t>•  Ini bukan sekadar kerapian. Ini </a:t>
            </a:r>
            <a:r>
              <a:rPr sz="2000" b="1">
                <a:solidFill>
                  <a:srgbClr val="102545"/>
                </a:solidFill>
              </a:rPr>
              <a:t>syarat agar hasil Anda bisa dipercaya</a:t>
            </a:r>
            <a:r>
              <a:rPr sz="2000">
                <a:solidFill>
                  <a:srgbClr val="1A1F2B"/>
                </a:solidFill>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Kerangka yang akan kita pakai sepanjang Fase 1</a:t>
            </a:r>
          </a:p>
        </p:txBody>
      </p:sp>
      <p:sp>
        <p:nvSpPr>
          <p:cNvPr id="5" name="Rectangle 4"/>
          <p:cNvSpPr/>
          <p:nvPr/>
        </p:nvSpPr>
        <p:spPr>
          <a:xfrm>
            <a:off x="777240" y="1417320"/>
            <a:ext cx="10652760" cy="4206240"/>
          </a:xfrm>
          <a:prstGeom prst="rect">
            <a:avLst/>
          </a:prstGeom>
          <a:solidFill>
            <a:srgbClr val="14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10241280" cy="4023360"/>
          </a:xfrm>
          <a:prstGeom prst="rect">
            <a:avLst/>
          </a:prstGeom>
          <a:noFill/>
        </p:spPr>
        <p:txBody>
          <a:bodyPr wrap="square">
            <a:spAutoFit/>
          </a:bodyPr>
          <a:lstStyle/>
          <a:p>
            <a:pPr>
              <a:defRPr sz="1500">
                <a:solidFill>
                  <a:srgbClr val="D8E2F0"/>
                </a:solidFill>
                <a:latin typeface="Consolas"/>
              </a:defRPr>
            </a:pPr>
            <a:r>
              <a:t>num_pipe = Pipeline([</a:t>
            </a:r>
          </a:p>
          <a:p>
            <a:pPr>
              <a:defRPr sz="1500">
                <a:solidFill>
                  <a:srgbClr val="D8E2F0"/>
                </a:solidFill>
                <a:latin typeface="Consolas"/>
              </a:defRPr>
            </a:pPr>
            <a:r>
              <a:t>    ('imputer', SimpleImputer(strategy='median')),</a:t>
            </a:r>
          </a:p>
          <a:p>
            <a:pPr>
              <a:defRPr sz="1500">
                <a:solidFill>
                  <a:srgbClr val="D8E2F0"/>
                </a:solidFill>
                <a:latin typeface="Consolas"/>
              </a:defRPr>
            </a:pPr>
            <a:r>
              <a:t>    ('scaler',  StandardScaler())</a:t>
            </a:r>
          </a:p>
          <a:p>
            <a:pPr>
              <a:defRPr sz="1500">
                <a:solidFill>
                  <a:srgbClr val="D8E2F0"/>
                </a:solidFill>
                <a:latin typeface="Consolas"/>
              </a:defRPr>
            </a:pPr>
            <a:r>
              <a:t>])</a:t>
            </a:r>
          </a:p>
          <a:p>
            <a:pPr>
              <a:defRPr sz="1500">
                <a:solidFill>
                  <a:srgbClr val="D8E2F0"/>
                </a:solidFill>
                <a:latin typeface="Consolas"/>
              </a:defRPr>
            </a:pPr>
            <a:r>
              <a:t>cat_pipe = Pipeline([</a:t>
            </a:r>
          </a:p>
          <a:p>
            <a:pPr>
              <a:defRPr sz="1500">
                <a:solidFill>
                  <a:srgbClr val="D8E2F0"/>
                </a:solidFill>
                <a:latin typeface="Consolas"/>
              </a:defRPr>
            </a:pPr>
            <a:r>
              <a:t>    ('imputer', SimpleImputer(strategy='most_frequent')),</a:t>
            </a:r>
          </a:p>
          <a:p>
            <a:pPr>
              <a:defRPr sz="1500">
                <a:solidFill>
                  <a:srgbClr val="D8E2F0"/>
                </a:solidFill>
                <a:latin typeface="Consolas"/>
              </a:defRPr>
            </a:pPr>
            <a:r>
              <a:t>    ('ohe',     OneHotEncoder(handle_unknown='ignore'))</a:t>
            </a:r>
          </a:p>
          <a:p>
            <a:pPr>
              <a:defRPr sz="1500">
                <a:solidFill>
                  <a:srgbClr val="D8E2F0"/>
                </a:solidFill>
                <a:latin typeface="Consolas"/>
              </a:defRPr>
            </a:pPr>
            <a:r>
              <a:t>])</a:t>
            </a:r>
          </a:p>
          <a:p>
            <a:pPr>
              <a:defRPr sz="1500">
                <a:solidFill>
                  <a:srgbClr val="D8E2F0"/>
                </a:solidFill>
                <a:latin typeface="Consolas"/>
              </a:defRPr>
            </a:pPr>
            <a:r>
              <a:t>preprocess = ColumnTransformer([</a:t>
            </a:r>
          </a:p>
          <a:p>
            <a:pPr>
              <a:defRPr sz="1500">
                <a:solidFill>
                  <a:srgbClr val="D8E2F0"/>
                </a:solidFill>
                <a:latin typeface="Consolas"/>
              </a:defRPr>
            </a:pPr>
            <a:r>
              <a:t>    ('num', num_pipe, num_cols),</a:t>
            </a:r>
          </a:p>
          <a:p>
            <a:pPr>
              <a:defRPr sz="1500">
                <a:solidFill>
                  <a:srgbClr val="D8E2F0"/>
                </a:solidFill>
                <a:latin typeface="Consolas"/>
              </a:defRPr>
            </a:pPr>
            <a:r>
              <a:t>    ('cat', cat_pipe, cat_cols)</a:t>
            </a:r>
          </a:p>
          <a:p>
            <a:pPr>
              <a:defRPr sz="1500">
                <a:solidFill>
                  <a:srgbClr val="D8E2F0"/>
                </a:solidFill>
                <a:latin typeface="Consolas"/>
              </a:defRPr>
            </a:pPr>
            <a:r>
              <a:t>])</a:t>
            </a:r>
          </a:p>
          <a:p>
            <a:pPr>
              <a:defRPr sz="1500">
                <a:solidFill>
                  <a:srgbClr val="D8E2F0"/>
                </a:solidFill>
                <a:latin typeface="Consolas"/>
              </a:defRPr>
            </a:pPr>
          </a:p>
          <a:p>
            <a:pPr>
              <a:defRPr sz="1500">
                <a:solidFill>
                  <a:srgbClr val="D8E2F0"/>
                </a:solidFill>
                <a:latin typeface="Consolas"/>
              </a:defRPr>
            </a:pPr>
            <a:r>
              <a:t>pipe = Pipeline([('prep', preprocess),</a:t>
            </a:r>
          </a:p>
          <a:p>
            <a:pPr>
              <a:defRPr sz="1500">
                <a:solidFill>
                  <a:srgbClr val="D8E2F0"/>
                </a:solidFill>
                <a:latin typeface="Consolas"/>
              </a:defRPr>
            </a:pPr>
            <a:r>
              <a:t>                 ('model', LogisticRegression(max_iter=1000))])</a:t>
            </a:r>
          </a:p>
          <a:p>
            <a:pPr>
              <a:defRPr sz="1500">
                <a:solidFill>
                  <a:srgbClr val="D8E2F0"/>
                </a:solidFill>
                <a:latin typeface="Consolas"/>
              </a:defRPr>
            </a:pPr>
            <a:r>
              <a:t>pipe.fit(X_train, y_train)          # fit HANYA pada train</a:t>
            </a:r>
          </a:p>
        </p:txBody>
      </p:sp>
      <p:sp>
        <p:nvSpPr>
          <p:cNvPr id="7" name="TextBox 6"/>
          <p:cNvSpPr txBox="1"/>
          <p:nvPr/>
        </p:nvSpPr>
        <p:spPr>
          <a:xfrm>
            <a:off x="777240" y="5806440"/>
            <a:ext cx="10652760" cy="731520"/>
          </a:xfrm>
          <a:prstGeom prst="rect">
            <a:avLst/>
          </a:prstGeom>
          <a:noFill/>
        </p:spPr>
        <p:txBody>
          <a:bodyPr wrap="square">
            <a:spAutoFit/>
          </a:bodyPr>
          <a:lstStyle/>
          <a:p>
            <a:pPr>
              <a:defRPr sz="1900" i="1">
                <a:solidFill>
                  <a:srgbClr val="5A6372"/>
                </a:solidFill>
              </a:defRPr>
            </a:pPr>
            <a:r>
              <a:t>Hafalkan bentuknya. Sisa semester kita akan mengganti-ganti isinya, bukan kerangkanya.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3</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Studio — 60 menit</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Sekarang giliran Anda. Saya berkeliling.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Studio: temukan sendiri masalah datanya</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Warm-up (10')</a:t>
            </a:r>
            <a:r>
              <a:rPr sz="1900">
                <a:solidFill>
                  <a:srgbClr val="1A1F2B"/>
                </a:solidFill>
              </a:rPr>
              <a:t> — buka dataset </a:t>
            </a:r>
            <a:r>
              <a:rPr sz="1900" b="1">
                <a:solidFill>
                  <a:srgbClr val="102545"/>
                </a:solidFill>
              </a:rPr>
              <a:t>Titanic</a:t>
            </a:r>
            <a:r>
              <a:rPr sz="1900">
                <a:solidFill>
                  <a:srgbClr val="1A1F2B"/>
                </a:solidFill>
              </a:rPr>
              <a:t> (atau Iris). Jalankan df.head() dan df.info()</a:t>
            </a:r>
          </a:p>
          <a:p>
            <a:pPr>
              <a:spcBef>
                <a:spcPts val="1100"/>
              </a:spcBef>
            </a:pPr>
            <a:r>
              <a:rPr sz="1900">
                <a:solidFill>
                  <a:srgbClr val="1A1F2B"/>
                </a:solidFill>
              </a:rPr>
              <a:t>•  </a:t>
            </a:r>
            <a:r>
              <a:rPr sz="1900" b="1">
                <a:solidFill>
                  <a:srgbClr val="102545"/>
                </a:solidFill>
              </a:rPr>
              <a:t>Diagnosis (20')</a:t>
            </a:r>
          </a:p>
          <a:p>
            <a:pPr lvl="1">
              <a:spcBef>
                <a:spcPts val="300"/>
              </a:spcBef>
            </a:pPr>
            <a:r>
              <a:rPr sz="1600">
                <a:solidFill>
                  <a:srgbClr val="5A6372"/>
                </a:solidFill>
              </a:rPr>
              <a:t>–  Hitung persentase missing per kolom:  df.isna().mean().sort_values(ascending=False)</a:t>
            </a:r>
          </a:p>
          <a:p>
            <a:pPr lvl="1">
              <a:spcBef>
                <a:spcPts val="300"/>
              </a:spcBef>
            </a:pPr>
            <a:r>
              <a:rPr sz="1600">
                <a:solidFill>
                  <a:srgbClr val="5A6372"/>
                </a:solidFill>
              </a:rPr>
              <a:t>–  Plot histogram minimal 3 kolom numerik — mana yang 'berekor panjang'?</a:t>
            </a:r>
          </a:p>
          <a:p>
            <a:pPr lvl="1">
              <a:spcBef>
                <a:spcPts val="300"/>
              </a:spcBef>
            </a:pPr>
            <a:r>
              <a:rPr sz="1600">
                <a:solidFill>
                  <a:srgbClr val="5A6372"/>
                </a:solidFill>
              </a:rPr>
              <a:t>–  value_counts() untuk 3 kolom kategorikal — berapa kardinalitasnya?</a:t>
            </a:r>
          </a:p>
          <a:p>
            <a:pPr>
              <a:spcBef>
                <a:spcPts val="1100"/>
              </a:spcBef>
            </a:pPr>
            <a:r>
              <a:rPr sz="1900">
                <a:solidFill>
                  <a:srgbClr val="1A1F2B"/>
                </a:solidFill>
              </a:rPr>
              <a:t>•  </a:t>
            </a:r>
            <a:r>
              <a:rPr sz="1900" b="1">
                <a:solidFill>
                  <a:srgbClr val="102545"/>
                </a:solidFill>
              </a:rPr>
              <a:t>Diskusi kelompok (20')</a:t>
            </a:r>
            <a:r>
              <a:rPr sz="1900">
                <a:solidFill>
                  <a:srgbClr val="1A1F2B"/>
                </a:solidFill>
              </a:rPr>
              <a:t> — bertiga: sepakati strategi untuk tiap masalah yang ditemukan</a:t>
            </a:r>
          </a:p>
          <a:p>
            <a:pPr>
              <a:spcBef>
                <a:spcPts val="1100"/>
              </a:spcBef>
            </a:pPr>
            <a:r>
              <a:rPr sz="1900">
                <a:solidFill>
                  <a:srgbClr val="1A1F2B"/>
                </a:solidFill>
              </a:rPr>
              <a:t>•  </a:t>
            </a:r>
            <a:r>
              <a:rPr sz="1900" b="1">
                <a:solidFill>
                  <a:srgbClr val="102545"/>
                </a:solidFill>
              </a:rPr>
              <a:t>Siapkan 1 temuan (10')</a:t>
            </a:r>
            <a:r>
              <a:rPr sz="1900">
                <a:solidFill>
                  <a:srgbClr val="1A1F2B"/>
                </a:solidFill>
              </a:rPr>
              <a:t> — satu kelompok satu temuan, untuk debrief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011680"/>
          </a:xfrm>
          <a:prstGeom prst="rect">
            <a:avLst/>
          </a:prstGeom>
          <a:noFill/>
        </p:spPr>
        <p:txBody>
          <a:bodyPr wrap="square">
            <a:spAutoFit/>
          </a:bodyPr>
          <a:lstStyle/>
          <a:p>
            <a:pPr>
              <a:defRPr sz="4000" b="1">
                <a:solidFill>
                  <a:srgbClr val="102545"/>
                </a:solidFill>
              </a:defRPr>
            </a:pPr>
            <a:r>
              <a:t>Yang saya nilai hari ini bukan jawaban benar.</a:t>
            </a:r>
          </a:p>
        </p:txBody>
      </p:sp>
      <p:sp>
        <p:nvSpPr>
          <p:cNvPr id="5" name="TextBox 4"/>
          <p:cNvSpPr txBox="1"/>
          <p:nvPr/>
        </p:nvSpPr>
        <p:spPr>
          <a:xfrm>
            <a:off x="1234440" y="4343400"/>
            <a:ext cx="9966960" cy="1280160"/>
          </a:xfrm>
          <a:prstGeom prst="rect">
            <a:avLst/>
          </a:prstGeom>
          <a:noFill/>
        </p:spPr>
        <p:txBody>
          <a:bodyPr wrap="square">
            <a:spAutoFit/>
          </a:bodyPr>
          <a:lstStyle/>
          <a:p>
            <a:pPr>
              <a:defRPr sz="2200">
                <a:solidFill>
                  <a:srgbClr val="5A6372"/>
                </a:solidFill>
              </a:defRPr>
            </a:pPr>
            <a:r>
              <a:t>Yang dinilai: seberapa teliti Anda melihat data sebelum menyentuh model. Kebiasaan itu yang membedakan praktisi dari pemakai tutorial.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PENUTUP</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Debrief &amp; Exit-Ticket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Exit-ticket (5 menit, dikumpulkan di eBelajar)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Sebutkan </a:t>
            </a:r>
            <a:r>
              <a:rPr sz="2100" b="1">
                <a:solidFill>
                  <a:srgbClr val="102545"/>
                </a:solidFill>
              </a:rPr>
              <a:t>3 risiko</a:t>
            </a:r>
            <a:r>
              <a:rPr sz="2100">
                <a:solidFill>
                  <a:srgbClr val="1A1F2B"/>
                </a:solidFill>
              </a:rPr>
              <a:t> kalau preprocessing diabaikan — beserta contoh akibatnya pada akurasi</a:t>
            </a:r>
          </a:p>
          <a:p>
            <a:pPr>
              <a:spcBef>
                <a:spcPts val="1100"/>
              </a:spcBef>
            </a:pPr>
            <a:r>
              <a:rPr sz="2100">
                <a:solidFill>
                  <a:srgbClr val="1A1F2B"/>
                </a:solidFill>
              </a:rPr>
              <a:t>•  Satu hal dari hari ini yang </a:t>
            </a:r>
            <a:r>
              <a:rPr sz="2100" b="1">
                <a:solidFill>
                  <a:srgbClr val="102545"/>
                </a:solidFill>
              </a:rPr>
              <a:t>masih membingungkan</a:t>
            </a:r>
            <a:r>
              <a:rPr sz="2100">
                <a:solidFill>
                  <a:srgbClr val="1A1F2B"/>
                </a:solidFill>
              </a:rPr>
              <a:t> Anda</a:t>
            </a:r>
          </a:p>
          <a:p>
            <a:pPr>
              <a:spcBef>
                <a:spcPts val="1100"/>
              </a:spcBef>
            </a:pPr>
          </a:p>
          <a:p>
            <a:pPr>
              <a:spcBef>
                <a:spcPts val="1100"/>
              </a:spcBef>
            </a:pPr>
            <a:r>
              <a:rPr sz="2100">
                <a:solidFill>
                  <a:srgbClr val="1A1F2B"/>
                </a:solidFill>
              </a:rPr>
              <a:t>•  Ditulis di forum </a:t>
            </a:r>
            <a:r>
              <a:rPr sz="2100" b="1" u="sng">
                <a:hlinkClick r:id="rId2"/>
              </a:rPr>
              <a:t>Diskusi Awal: Apa itu Machine Learning Menurut Anda?</a:t>
            </a:r>
            <a:r>
              <a:rPr sz="2100">
                <a:solidFill>
                  <a:srgbClr val="1A1F2B"/>
                </a:solidFill>
              </a:rPr>
              <a:t> di eBelajar.</a:t>
            </a:r>
          </a:p>
          <a:p>
            <a:pPr>
              <a:spcBef>
                <a:spcPts val="1100"/>
              </a:spcBef>
            </a:pPr>
            <a:r>
              <a:rPr sz="2100">
                <a:solidFill>
                  <a:srgbClr val="1A1F2B"/>
                </a:solidFill>
              </a:rPr>
              <a:t>•  Ini masuk komponen </a:t>
            </a:r>
            <a:r>
              <a:rPr sz="2100" b="1">
                <a:solidFill>
                  <a:srgbClr val="102545"/>
                </a:solidFill>
              </a:rPr>
              <a:t>partisipatif (10%)</a:t>
            </a:r>
            <a:r>
              <a:rPr sz="2100">
                <a:solidFill>
                  <a:srgbClr val="1A1F2B"/>
                </a:solidFill>
              </a:rPr>
              <a:t> — jangan dilewat.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Tugas sebelum Pertemuan 2</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Pasang lingkungan kerja</a:t>
            </a:r>
            <a:r>
              <a:rPr sz="2000">
                <a:solidFill>
                  <a:srgbClr val="1A1F2B"/>
                </a:solidFill>
              </a:rPr>
              <a:t> — Python 3.10+, Jupyter/VS Code, numpy, pandas, matplotlib, scikit-learn</a:t>
            </a:r>
          </a:p>
          <a:p>
            <a:pPr lvl="1">
              <a:spcBef>
                <a:spcPts val="300"/>
              </a:spcBef>
            </a:pPr>
            <a:r>
              <a:rPr sz="1700">
                <a:solidFill>
                  <a:srgbClr val="5A6372"/>
                </a:solidFill>
              </a:rPr>
              <a:t>–  kendala instalasi → tanyakan di forum, jangan menunggu sampai hari-H</a:t>
            </a:r>
          </a:p>
          <a:p>
            <a:pPr>
              <a:spcBef>
                <a:spcPts val="1100"/>
              </a:spcBef>
            </a:pPr>
            <a:r>
              <a:rPr sz="2000">
                <a:solidFill>
                  <a:srgbClr val="1A1F2B"/>
                </a:solidFill>
              </a:rPr>
              <a:t>•  </a:t>
            </a:r>
            <a:r>
              <a:rPr sz="2000" b="1">
                <a:solidFill>
                  <a:srgbClr val="102545"/>
                </a:solidFill>
              </a:rPr>
              <a:t>Cari satu dataset publik kecil</a:t>
            </a:r>
            <a:r>
              <a:rPr sz="2000">
                <a:solidFill>
                  <a:srgbClr val="1A1F2B"/>
                </a:solidFill>
              </a:rPr>
              <a:t> yang relevan dengan minat Anda; tuliskan </a:t>
            </a:r>
            <a:r>
              <a:rPr sz="2000" b="1">
                <a:solidFill>
                  <a:srgbClr val="102545"/>
                </a:solidFill>
              </a:rPr>
              <a:t>5 temuan awal</a:t>
            </a:r>
            <a:r>
              <a:rPr sz="2000">
                <a:solidFill>
                  <a:srgbClr val="1A1F2B"/>
                </a:solidFill>
              </a:rPr>
              <a:t> dari EDA ringkas</a:t>
            </a:r>
          </a:p>
          <a:p>
            <a:pPr>
              <a:spcBef>
                <a:spcPts val="1100"/>
              </a:spcBef>
            </a:pPr>
            <a:r>
              <a:rPr sz="2000">
                <a:solidFill>
                  <a:srgbClr val="1A1F2B"/>
                </a:solidFill>
              </a:rPr>
              <a:t>•  Baca </a:t>
            </a:r>
            <a:r>
              <a:rPr sz="2000" b="1" u="sng">
                <a:hlinkClick r:id="rId2"/>
              </a:rPr>
              <a:t>**Modul Mandiri Pertemuan 1**</a:t>
            </a:r>
            <a:r>
              <a:rPr sz="2000">
                <a:solidFill>
                  <a:srgbClr val="1A1F2B"/>
                </a:solidFill>
              </a:rPr>
              <a:t> — panduan langkah demi langkah + template notebook</a:t>
            </a:r>
          </a:p>
          <a:p>
            <a:pPr lvl="1">
              <a:spcBef>
                <a:spcPts val="300"/>
              </a:spcBef>
            </a:pPr>
            <a:r>
              <a:rPr sz="1700">
                <a:solidFill>
                  <a:srgbClr val="5A6372"/>
                </a:solidFill>
              </a:rPr>
              <a:t>–  hasilnya diunggah di </a:t>
            </a:r>
            <a:r>
              <a:rPr sz="1700" b="1" u="sng">
                <a:hlinkClick r:id="rId3"/>
              </a:rPr>
              <a:t>Tugas 1: Praktek Preprocessing Data</a:t>
            </a:r>
            <a:r>
              <a:rPr sz="1700">
                <a:solidFill>
                  <a:srgbClr val="5A6372"/>
                </a:solidFill>
              </a:rPr>
              <a:t>, Pertemuan 2 — tenggat Minggu 27 Sep 23.55</a:t>
            </a:r>
          </a:p>
          <a:p>
            <a:pPr>
              <a:spcBef>
                <a:spcPts val="1100"/>
              </a:spcBef>
            </a:pPr>
          </a:p>
          <a:p>
            <a:pPr>
              <a:spcBef>
                <a:spcPts val="1100"/>
              </a:spcBef>
            </a:pPr>
            <a:r>
              <a:rPr sz="2000">
                <a:solidFill>
                  <a:srgbClr val="1A1F2B"/>
                </a:solidFill>
              </a:rPr>
              <a:t>•  </a:t>
            </a:r>
            <a:r>
              <a:rPr sz="2000" b="1">
                <a:solidFill>
                  <a:srgbClr val="102545"/>
                </a:solidFill>
              </a:rPr>
              <a:t>Pertemuan 2:</a:t>
            </a:r>
            <a:r>
              <a:rPr sz="2000">
                <a:solidFill>
                  <a:srgbClr val="1A1F2B"/>
                </a:solidFill>
              </a:rPr>
              <a:t> Missing Values, Normalization &amp; Standardization — dan </a:t>
            </a:r>
            <a:r>
              <a:rPr sz="2000" b="1">
                <a:solidFill>
                  <a:srgbClr val="102545"/>
                </a:solidFill>
              </a:rPr>
              <a:t>laptop wajib dibawa</a:t>
            </a:r>
            <a:r>
              <a:rPr sz="2000">
                <a:solidFill>
                  <a:srgbClr val="1A1F2B"/>
                </a:solidFill>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Tautan cepat — klik langsung dari slide ini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Salindia ini tersimpan di Google Drive; semua tautan aktif saat dibuka di PowerPoint atau Google Slides.</a:t>
            </a:r>
          </a:p>
        </p:txBody>
      </p:sp>
      <p:sp>
        <p:nvSpPr>
          <p:cNvPr id="6" name="TextBox 5"/>
          <p:cNvSpPr txBox="1"/>
          <p:nvPr/>
        </p:nvSpPr>
        <p:spPr>
          <a:xfrm>
            <a:off x="777240" y="1783080"/>
            <a:ext cx="10789920" cy="4617720"/>
          </a:xfrm>
          <a:prstGeom prst="rect">
            <a:avLst/>
          </a:prstGeom>
          <a:noFill/>
        </p:spPr>
        <p:txBody>
          <a:bodyPr wrap="square">
            <a:spAutoFit/>
          </a:bodyPr>
          <a:lstStyle/>
          <a:p>
            <a:pPr>
              <a:spcBef>
                <a:spcPts val="900"/>
              </a:spcBef>
            </a:pPr>
            <a:r>
              <a:rPr sz="1900" b="1">
                <a:solidFill>
                  <a:srgbClr val="E6A023"/>
                </a:solidFill>
              </a:rPr>
              <a:t>▸  </a:t>
            </a:r>
            <a:r>
              <a:rPr sz="1900" b="1" u="sng">
                <a:hlinkClick r:id="rId2"/>
              </a:rPr>
              <a:t>Kursus Pembelajaran Mesin A di eBelajar</a:t>
            </a:r>
          </a:p>
          <a:p>
            <a:pPr>
              <a:spcBef>
                <a:spcPts val="900"/>
              </a:spcBef>
            </a:pPr>
            <a:r>
              <a:rPr sz="1900" b="1">
                <a:solidFill>
                  <a:srgbClr val="E6A023"/>
                </a:solidFill>
              </a:rPr>
              <a:t>▸  </a:t>
            </a:r>
            <a:r>
              <a:rPr sz="1900" b="1" u="sng">
                <a:hlinkClick r:id="rId3"/>
              </a:rPr>
              <a:t>Kontrak Kuliah (versi lengkap)</a:t>
            </a:r>
          </a:p>
          <a:p>
            <a:pPr>
              <a:spcBef>
                <a:spcPts val="900"/>
              </a:spcBef>
            </a:pPr>
            <a:r>
              <a:rPr sz="1900" b="1">
                <a:solidFill>
                  <a:srgbClr val="E6A023"/>
                </a:solidFill>
              </a:rPr>
              <a:t>▸  </a:t>
            </a:r>
            <a:r>
              <a:rPr sz="1900" b="1" u="sng">
                <a:hlinkClick r:id="rId4"/>
              </a:rPr>
              <a:t>Materi Pertemuan 1</a:t>
            </a:r>
          </a:p>
          <a:p>
            <a:pPr>
              <a:spcBef>
                <a:spcPts val="900"/>
              </a:spcBef>
            </a:pPr>
            <a:r>
              <a:rPr sz="1900" b="1">
                <a:solidFill>
                  <a:srgbClr val="E6A023"/>
                </a:solidFill>
              </a:rPr>
              <a:t>▸  </a:t>
            </a:r>
            <a:r>
              <a:rPr sz="1900" b="1" u="sng">
                <a:hlinkClick r:id="rId5"/>
              </a:rPr>
              <a:t>Modul Mandiri Pertemuan 1 — panduan + template notebook</a:t>
            </a:r>
          </a:p>
          <a:p>
            <a:pPr>
              <a:spcBef>
                <a:spcPts val="900"/>
              </a:spcBef>
            </a:pPr>
            <a:r>
              <a:rPr sz="1900" b="1">
                <a:solidFill>
                  <a:srgbClr val="E6A023"/>
                </a:solidFill>
              </a:rPr>
              <a:t>▸  </a:t>
            </a:r>
            <a:r>
              <a:rPr sz="1900" b="1" u="sng">
                <a:hlinkClick r:id="rId6"/>
              </a:rPr>
              <a:t>Forum Diskusi Awal — exit-ticket dikumpulkan di sini</a:t>
            </a:r>
          </a:p>
          <a:p>
            <a:pPr>
              <a:spcBef>
                <a:spcPts val="900"/>
              </a:spcBef>
            </a:pPr>
            <a:r>
              <a:rPr sz="1900" b="1">
                <a:solidFill>
                  <a:srgbClr val="E6A023"/>
                </a:solidFill>
              </a:rPr>
              <a:t>▸  </a:t>
            </a:r>
            <a:r>
              <a:rPr sz="1900" b="1" u="sng">
                <a:hlinkClick r:id="rId7"/>
              </a:rPr>
              <a:t>Tugas 1: Praktek Preprocessing Data (Pertemuan 2)</a:t>
            </a:r>
          </a:p>
          <a:p>
            <a:pPr>
              <a:spcBef>
                <a:spcPts val="900"/>
              </a:spcBef>
            </a:pPr>
            <a:r>
              <a:rPr sz="1900" b="1">
                <a:solidFill>
                  <a:srgbClr val="E6A023"/>
                </a:solidFill>
              </a:rPr>
              <a:t>▸  </a:t>
            </a:r>
            <a:r>
              <a:rPr sz="1900" b="1" u="sng">
                <a:hlinkClick r:id="rId8"/>
              </a:rPr>
              <a:t>Survey Awal Mahasiswa</a:t>
            </a:r>
          </a:p>
          <a:p>
            <a:pPr>
              <a:spcBef>
                <a:spcPts val="900"/>
              </a:spcBef>
            </a:pPr>
            <a:r>
              <a:rPr sz="1900" b="1">
                <a:solidFill>
                  <a:srgbClr val="E6A023"/>
                </a:solidFill>
              </a:rPr>
              <a:t>▸  </a:t>
            </a:r>
            <a:r>
              <a:rPr sz="1900" b="1" u="sng">
                <a:hlinkClick r:id="rId9"/>
              </a:rPr>
              <a:t>Forum Diskusi Umum — tempat bertanya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SAMPAI PEKAN DEPAN</a:t>
            </a:r>
          </a:p>
        </p:txBody>
      </p:sp>
      <p:sp>
        <p:nvSpPr>
          <p:cNvPr id="5" name="TextBox 4"/>
          <p:cNvSpPr txBox="1"/>
          <p:nvPr/>
        </p:nvSpPr>
        <p:spPr>
          <a:xfrm>
            <a:off x="1005840" y="2286000"/>
            <a:ext cx="10241280" cy="1828800"/>
          </a:xfrm>
          <a:prstGeom prst="rect">
            <a:avLst/>
          </a:prstGeom>
          <a:noFill/>
        </p:spPr>
        <p:txBody>
          <a:bodyPr wrap="square">
            <a:spAutoFit/>
          </a:bodyPr>
          <a:lstStyle/>
          <a:p>
            <a:pPr>
              <a:defRPr sz="5200" b="1">
                <a:solidFill>
                  <a:srgbClr val="FFFFFF"/>
                </a:solidFill>
              </a:defRPr>
            </a:pPr>
            <a:r>
              <a:t>Terima kasih</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a:solidFill>
                  <a:srgbClr val="C8D4E6"/>
                </a:solidFill>
              </a:defRPr>
            </a:pPr>
            <a:r>
              <a:t>Pertanyaan? Forum eBelajar dijawab pada hari kerja.</a:t>
            </a:r>
          </a:p>
        </p:txBody>
      </p:sp>
      <p:sp>
        <p:nvSpPr>
          <p:cNvPr id="7" name="TextBox 6"/>
          <p:cNvSpPr txBox="1"/>
          <p:nvPr/>
        </p:nvSpPr>
        <p:spPr>
          <a:xfrm>
            <a:off x="1005840" y="5760720"/>
            <a:ext cx="10241280" cy="640080"/>
          </a:xfrm>
          <a:prstGeom prst="rect">
            <a:avLst/>
          </a:prstGeom>
          <a:noFill/>
        </p:spPr>
        <p:txBody>
          <a:bodyPr wrap="square">
            <a:spAutoFit/>
          </a:bodyPr>
          <a:lstStyle/>
          <a:p>
            <a:pPr>
              <a:defRPr sz="1600">
                <a:solidFill>
                  <a:srgbClr val="8FA3BF"/>
                </a:solidFill>
              </a:defRPr>
            </a:pPr>
            <a:r>
              <a:t>Mukhlis Amien, M.Kom.  ·  Pembelajaran Mesin A  ·  Ganjil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