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Ritual pembuka. Posting forum P1 hari ini dinilai 80-90 (rubrik ringan: ketepatan konsep + contoh). Sebut satu-dua nama: Dico (90 - satu-satunya yang menyebut umpan balik/koreksi sebagai bagian pembelajaran), Adinda (87 - satu-satunya yang memberi contoh penerapan).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Minta mahasiswa menebak dulu: kolom apa yang paling bermasalah? Sebagian sudah tahu Titanic. Poinnya: ini dataset LKS hari ini - semua akan menghitung, bukan mendengar saja.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Kunci K3 modul: KNNImputer unggul saat ada struktur antar-kolom; gagal saat data kecil atau belum diskalakan. Minta mahasiswa tebak: apa yang terjadi kalau Fare (0-512) dan SibSp (0-8) dipakai bersama tanpa scaling? Fare mendominasi jarak.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Jawaban yang diharapkan: Age pakai median (atau KNNImputer SETELAH scaling); Fare median dulu karena outlier. KNNImputer sebelum scaling = jarak didominasi kolom berskala besar.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Ilustrasi dengan Titanic: Fare mayoritas 0-100, satu penumpang 512. Tanpa outlier proporsional; dengan outlier hampir semua data terjepit di bawah 0,2.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Kunci bonus rubrik (maks 5 poin). Juga pertanyaan klasik Tugas 1. Minta mahasiswa catat kalimat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Jawaban: praktis tidak ada perubahan berarti - pohon tak peduli skala. Kerugiannya cuma waktu &amp; kompleksitas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kerangka persis di LKS. Tekankan dua jalur: kategorikal selalu most_frequent + one-hot; numerik yang diganti-ganti (median vs KNNImputer, std vs minmax).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kenapa CV: satu split bisa keberuntungan. Stratified menjaga proporsi kelas di tiap fold. Skor yang dilaporkan = rata-rata +- simpangan baku 5 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Kunci K5 modul. Coba tanya: kalau RSFK yang paling jarang selamat (kelas 3, laki-laki, dewasa) - prediksi 'selamat semua' apa akibatnya untuk recall kelas 1?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Berkeliling; dua jebakan paling sering: (1) lupa stratify, (2) mencocokkan num_cols/cat_cols dari X bukan X_train. Arahkan ke pertanyaan, bukan jawaban.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Rubrik sama dengan Modul Mandiri P2. Ingatkan: feedback &amp; nilai LKS tercatat di eBelajar - kaitkan dengan slide laporan di awal.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Sambungkan ke slide laporan feedback: tugas yang dikumpulkan dinilai minggu yang sama. Teknik hari ini (imputasi + scaling + pipeline) = inti Tugas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Tiga pertanyaan exit ticket = bawaan LKS. Kalau waktu sempit, cukup poin 1 dan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belajar.stiki.ac.id/course/view.php?id=7218" TargetMode="External"/><Relationship Id="rId3" Type="http://schemas.openxmlformats.org/officeDocument/2006/relationships/hyperlink" Target="https://ebelajar.stiki.ac.id/mod/page/view.php?id=491679" TargetMode="External"/><Relationship Id="rId4" Type="http://schemas.openxmlformats.org/officeDocument/2006/relationships/hyperlink" Target="https://ebelajar.stiki.ac.id/mod/forum/view.php?id=501183" TargetMode="External"/><Relationship Id="rId5" Type="http://schemas.openxmlformats.org/officeDocument/2006/relationships/hyperlink" Target="https://ebelajar.stiki.ac.id/mod/assign/view.php?id=491680" TargetMode="External"/><Relationship Id="rId6" Type="http://schemas.openxmlformats.org/officeDocument/2006/relationships/hyperlink" Target="https://ebelajar.stiki.ac.id/mod/page/view.php?id=495555" TargetMode="External"/><Relationship Id="rId7" Type="http://schemas.openxmlformats.org/officeDocument/2006/relationships/hyperlink" Target="https://drive.google.com/drive/folders/1_XPX1i9Lp64tCGiizt98fskWFF4foTkW" TargetMode="External"/><Relationship Id="rId8" Type="http://schemas.openxmlformats.org/officeDocument/2006/relationships/hyperlink" Target="https://drive.google.com/file/d/1Ph98jxlYfg3OLTYr7EUtZG0MTeWOFP5S/view" TargetMode="External"/><Relationship Id="rId9" Type="http://schemas.openxmlformats.org/officeDocument/2006/relationships/hyperlink" Target="https://drive.google.com/file/d/1BHIlEGqa3pumI04R7-fycKByUzG-QTmJ/view" TargetMode="External"/><Relationship Id="rId10" Type="http://schemas.openxmlformats.org/officeDocument/2006/relationships/hyperlink" Target="https://drive.google.com/file/d/1GL3ga15p5mxsPInn8aNwCEClG9mAeOvW/view" TargetMode="External"/><Relationship Id="rId11" Type="http://schemas.openxmlformats.org/officeDocument/2006/relationships/hyperlink" Target="https://drive.google.com/file/d/1qcQVU1mT2bJTqPr-wc3AaVT_Jm61wdE1/view" TargetMode="External"/><Relationship Id="rId12" Type="http://schemas.openxmlformats.org/officeDocument/2006/relationships/hyperlink" Target="https://ebelajar.stiki.ac.id/mod/url/view.php?id=496339" TargetMode="External"/><Relationship Id="rId13" Type="http://schemas.openxmlformats.org/officeDocument/2006/relationships/hyperlink" Target="https://ebelajar.stiki.ac.id/mod/url/view.php?id=491670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PERTEMUAN 2 · PEMBELAJARAN MESIN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NA &amp; Scaling Clinic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8D4E6"/>
                </a:solidFill>
              </a:defRPr>
            </a:pPr>
            <a:r>
              <a:t>Missing Values, Normalization, Standardization - studi kasus dataset Titanic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7607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FA3BF"/>
                </a:solidFill>
              </a:defRPr>
            </a:pPr>
            <a:r>
              <a:t>Mukhlis Amien, M.Kom.  ·  IF24KB53  ·  Kelas A (Reguler) · Senin 13.00-15.30 · A.2.1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Laporan feedback - Minggu 1 (7-13 Sep)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Setiap Senin, deck dibuka dengan slide ini: koreksi dan feedback minggu lalu - tercatat, bukan klaim.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8650"/>
                <a:gridCol w="6214110"/>
              </a:tblGrid>
              <a:tr h="39867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Yang saya lakukan minggu ini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Hasil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Posting forum P1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9 dari 9 posting dibalas dan dinilai hari ini (skala 0-100, masuk gradebook)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Perkenalan mahasiswa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1 dari 22 - Faiz sudah mengisi; sudah dibalas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Tugas 1 (tenggat 27 Sep)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0 dari 22 - baru dibuka, tenggat Minggu 27 Sep 23.55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Waktu respons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&lt; 24 jam pada hari kerja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Alur 150 menit hari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Angka = menit. Semua mengikuti Modul Mandiri P2 &amp; LKS di Google Drive - bahan yang sama yang Anda kerjakan mandiri.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Hook</a:t>
            </a:r>
            <a:r>
              <a:rPr sz="2200">
                <a:solidFill>
                  <a:srgbClr val="1A1F2B"/>
                </a:solidFill>
              </a:rPr>
              <a:t> - kasus Titanic: siapa yang selamat? · 10'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Mini-lecture</a:t>
            </a:r>
            <a:r>
              <a:rPr sz="2200">
                <a:solidFill>
                  <a:srgbClr val="1A1F2B"/>
                </a:solidFill>
              </a:rPr>
              <a:t> - imputasi: drop, SimpleImputer, KNNImputer · 30'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Mini-lecture</a:t>
            </a:r>
            <a:r>
              <a:rPr sz="2200">
                <a:solidFill>
                  <a:srgbClr val="1A1F2B"/>
                </a:solidFill>
              </a:rPr>
              <a:t> - Standardization vs Normalization · 20'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Demo</a:t>
            </a:r>
            <a:r>
              <a:rPr sz="2200">
                <a:solidFill>
                  <a:srgbClr val="1A1F2B"/>
                </a:solidFill>
              </a:rPr>
              <a:t> - Pipeline + ColumnTransformer, grid 8 kombinasi metrik F1 · 15'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Studio</a:t>
            </a:r>
            <a:r>
              <a:rPr sz="2200">
                <a:solidFill>
                  <a:srgbClr val="1A1F2B"/>
                </a:solidFill>
              </a:rPr>
              <a:t> - LKS Titanic di Colab (bawa laptop) · 60'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Debrief</a:t>
            </a:r>
            <a:r>
              <a:rPr sz="2200">
                <a:solidFill>
                  <a:srgbClr val="1A1F2B"/>
                </a:solidFill>
              </a:rPr>
              <a:t> + exit-ticket · 15'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Kasus Titanic:</a:t>
            </a:r>
            <a:br/>
            <a:r>
              <a:t>siapa yang selamat?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Narasi pemantik dari modul - dan dataset resmi LKS hari 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02545"/>
                </a:solidFill>
              </a:defRPr>
            </a:pPr>
            <a:r>
              <a:t>Anda diminta membuat model prediksi</a:t>
            </a:r>
            <a:br/>
            <a:r>
              <a:t>keselamatan penumpang Titanic.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Masalah bawaan datanya: kolom Age banyak yang kosong; Fare sangat bervariasi; Sex dan Embarked kategorikal. Pertanyaan modul: strategi NA dan skala mana yang paling menaikkan F1? Buktikan dengan eksperimen.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Capaian pertemuan ini (Sub-CPMK0821)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Lima kemampuan inilah yang dinilai di LKS dan rubrik modul - semuanya menumpuk di Tugas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Mendiagnosis dan menangani </a:t>
            </a:r>
            <a:r>
              <a:rPr sz="2200" b="1">
                <a:solidFill>
                  <a:srgbClr val="102545"/>
                </a:solidFill>
              </a:rPr>
              <a:t>missing values</a:t>
            </a:r>
            <a:r>
              <a:rPr sz="2200">
                <a:solidFill>
                  <a:srgbClr val="1A1F2B"/>
                </a:solidFill>
              </a:rPr>
              <a:t>: drop, mean/median/most_frequent, </a:t>
            </a:r>
            <a:r>
              <a:rPr sz="2200" b="1">
                <a:solidFill>
                  <a:srgbClr val="102545"/>
                </a:solidFill>
              </a:rPr>
              <a:t>KNNImputer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Menerapkan </a:t>
            </a:r>
            <a:r>
              <a:rPr sz="2200" b="1">
                <a:solidFill>
                  <a:srgbClr val="102545"/>
                </a:solidFill>
              </a:rPr>
              <a:t>Standardization vs Normalization</a:t>
            </a:r>
            <a:r>
              <a:rPr sz="2200">
                <a:solidFill>
                  <a:srgbClr val="1A1F2B"/>
                </a:solidFill>
              </a:rPr>
              <a:t> dan menjelaskan kapan masing-masing dipakai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Menyusun </a:t>
            </a:r>
            <a:r>
              <a:rPr sz="2200" b="1">
                <a:solidFill>
                  <a:srgbClr val="102545"/>
                </a:solidFill>
              </a:rPr>
              <a:t>Pipeline + ColumnTransformer</a:t>
            </a:r>
            <a:r>
              <a:rPr sz="2200">
                <a:solidFill>
                  <a:srgbClr val="1A1F2B"/>
                </a:solidFill>
              </a:rPr>
              <a:t> yang bebas leakage dan reproducible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Mengevaluasi dampak NA &amp; skala pada </a:t>
            </a:r>
            <a:r>
              <a:rPr sz="2200" b="1">
                <a:solidFill>
                  <a:srgbClr val="102545"/>
                </a:solidFill>
              </a:rPr>
              <a:t>Logistic Regression dan KNN</a:t>
            </a:r>
            <a:r>
              <a:rPr sz="2200">
                <a:solidFill>
                  <a:srgbClr val="1A1F2B"/>
                </a:solidFill>
              </a:rPr>
              <a:t> - accuracy, precision, recall, F1, confusion matrix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Menulis ringkasan temuan </a:t>
            </a:r>
            <a:r>
              <a:rPr sz="2200" b="1">
                <a:solidFill>
                  <a:srgbClr val="102545"/>
                </a:solidFill>
              </a:rPr>
              <a:t>berbasis bukti eksperimen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Missing values,</a:t>
            </a:r>
            <a:br/>
            <a:r>
              <a:t>lebih dalam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Drop vs SimpleImputer vs KNNImputer - dan risikonya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Lima strategi, lima konsekuensi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Keputusan imputasi = keputusan tentang sifat kolomnya, bukan selera.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5326380"/>
              </a:tblGrid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Strategi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Cocok untuk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Catatan kritis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Drop rows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Missing acak, proporsi kecil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Buang baris = buang informasi; kalau tidak acak, muncul bias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Numerik, distribusi simetris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Sensitif outlier - satu nilai ekstrem menggesernya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Numerik, ada outlier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Pilihan paling aman; default yang layak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Most frequent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Kategorikal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Isi dengan kategori terbanyak; lalu one-hot encoding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KNNImputer (k=5)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Numerik, pola antar-kolom kuat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Kontekstual - tapi berbasis jarak, jadi butuh scaling &amp; peka outlier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Diagnosis dulu, baru memilih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Aturan praktis modul: isi dulu; drop hanya kalau proporsinya kecil dan hilangnya memang acak.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Titanic 891 baris: </a:t>
            </a:r>
            <a:r>
              <a:rPr sz="2200" b="1">
                <a:solidFill>
                  <a:srgbClr val="102545"/>
                </a:solidFill>
              </a:rPr>
              <a:t>Age</a:t>
            </a:r>
            <a:r>
              <a:rPr sz="2200">
                <a:solidFill>
                  <a:srgbClr val="1A1F2B"/>
                </a:solidFill>
              </a:rPr>
              <a:t> ~20% kosong, </a:t>
            </a:r>
            <a:r>
              <a:rPr sz="2200" b="1">
                <a:solidFill>
                  <a:srgbClr val="102545"/>
                </a:solidFill>
              </a:rPr>
              <a:t>Cabin</a:t>
            </a:r>
            <a:r>
              <a:rPr sz="2200">
                <a:solidFill>
                  <a:srgbClr val="1A1F2B"/>
                </a:solidFill>
              </a:rPr>
              <a:t> ~77% kosong, </a:t>
            </a:r>
            <a:r>
              <a:rPr sz="2200" b="1">
                <a:solidFill>
                  <a:srgbClr val="102545"/>
                </a:solidFill>
              </a:rPr>
              <a:t>Embarked</a:t>
            </a:r>
            <a:r>
              <a:rPr sz="2200">
                <a:solidFill>
                  <a:srgbClr val="1A1F2B"/>
                </a:solidFill>
              </a:rPr>
              <a:t> hanya 2 baris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Embarked: 2 baris - </a:t>
            </a:r>
            <a:r>
              <a:rPr sz="2200" b="1">
                <a:solidFill>
                  <a:srgbClr val="102545"/>
                </a:solidFill>
              </a:rPr>
              <a:t>drop saja</a:t>
            </a:r>
            <a:r>
              <a:rPr sz="2200">
                <a:solidFill>
                  <a:srgbClr val="1A1F2B"/>
                </a:solidFill>
              </a:rPr>
              <a:t>, dampaknya nol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Age: 20% - drop = buang 1 dari 5 penumpang; data yang hilang mungkin </a:t>
            </a:r>
            <a:r>
              <a:rPr sz="2200" b="1">
                <a:solidFill>
                  <a:srgbClr val="102545"/>
                </a:solidFill>
              </a:rPr>
              <a:t>tidak acak</a:t>
            </a:r>
            <a:r>
              <a:rPr sz="2200">
                <a:solidFill>
                  <a:srgbClr val="1A1F2B"/>
                </a:solidFill>
              </a:rPr>
              <a:t> (anak-anak tercatat lebih lengkap?)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Cabin: 77% - terlalu banyak; nanti jadi bahan </a:t>
            </a:r>
            <a:r>
              <a:rPr sz="2200" b="1">
                <a:solidFill>
                  <a:srgbClr val="102545"/>
                </a:solidFill>
              </a:rPr>
              <a:t>feature thinking</a:t>
            </a:r>
            <a:r>
              <a:rPr sz="2200">
                <a:solidFill>
                  <a:srgbClr val="1A1F2B"/>
                </a:solidFill>
              </a:rPr>
              <a:t> (Pertemuan 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KNNImputer - imputasi yang 'pintar'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Isi nilai kosong dengan </a:t>
            </a:r>
            <a:r>
              <a:rPr sz="2200" b="1">
                <a:solidFill>
                  <a:srgbClr val="102545"/>
                </a:solidFill>
              </a:rPr>
              <a:t>rata-rata dari k tetangga terdekat</a:t>
            </a:r>
            <a:r>
              <a:rPr sz="2200">
                <a:solidFill>
                  <a:srgbClr val="1A1F2B"/>
                </a:solidFill>
              </a:rPr>
              <a:t> yang lengkap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Kontekstual: penumpang dengan kelas &amp; tarif serupa saling mengisi - </a:t>
            </a:r>
            <a:r>
              <a:rPr sz="2200" b="1">
                <a:solidFill>
                  <a:srgbClr val="102545"/>
                </a:solidFill>
              </a:rPr>
              <a:t>bukan satu angka untuk semua baris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Tapi hati-hati: berbasis </a:t>
            </a:r>
            <a:r>
              <a:rPr sz="2200" b="1">
                <a:solidFill>
                  <a:srgbClr val="102545"/>
                </a:solidFill>
              </a:rPr>
              <a:t>jarak</a:t>
            </a:r>
            <a:r>
              <a:rPr sz="2200">
                <a:solidFill>
                  <a:srgbClr val="1A1F2B"/>
                </a:solidFill>
              </a:rPr>
              <a:t> - jadi </a:t>
            </a:r>
            <a:r>
              <a:rPr sz="2200" b="1">
                <a:solidFill>
                  <a:srgbClr val="102545"/>
                </a:solidFill>
              </a:rPr>
              <a:t>peka terhadap skala</a:t>
            </a:r>
            <a:r>
              <a:rPr sz="2200">
                <a:solidFill>
                  <a:srgbClr val="1A1F2B"/>
                </a:solidFill>
              </a:rPr>
              <a:t> dan outlier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Konsekuensi: </a:t>
            </a:r>
            <a:r>
              <a:rPr sz="2200" b="1">
                <a:solidFill>
                  <a:srgbClr val="102545"/>
                </a:solidFill>
              </a:rPr>
              <a:t>scaling dulu, baru imputasi</a:t>
            </a:r>
            <a:r>
              <a:rPr sz="2200">
                <a:solidFill>
                  <a:srgbClr val="1A1F2B"/>
                </a:solidFill>
              </a:rPr>
              <a:t> (atau imputasi di dalam Pipeline yang terskala)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Uji cepat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Kolom </a:t>
            </a:r>
            <a:r>
              <a:rPr sz="2200" i="1">
                <a:solidFill>
                  <a:srgbClr val="1A1F2B"/>
                </a:solidFill>
              </a:rPr>
              <a:t>Age</a:t>
            </a:r>
            <a:r>
              <a:rPr sz="2200">
                <a:solidFill>
                  <a:srgbClr val="1A1F2B"/>
                </a:solidFill>
              </a:rPr>
              <a:t>: </a:t>
            </a:r>
            <a:r>
              <a:rPr sz="2200" b="1">
                <a:solidFill>
                  <a:srgbClr val="102545"/>
                </a:solidFill>
              </a:rPr>
              <a:t>20%</a:t>
            </a:r>
            <a:r>
              <a:rPr sz="2200">
                <a:solidFill>
                  <a:srgbClr val="1A1F2B"/>
                </a:solidFill>
              </a:rPr>
              <a:t> kosong. Kolom </a:t>
            </a:r>
            <a:r>
              <a:rPr sz="2200" i="1">
                <a:solidFill>
                  <a:srgbClr val="1A1F2B"/>
                </a:solidFill>
              </a:rPr>
              <a:t>Fare</a:t>
            </a:r>
            <a:r>
              <a:rPr sz="2200">
                <a:solidFill>
                  <a:srgbClr val="1A1F2B"/>
                </a:solidFill>
              </a:rPr>
              <a:t>: punya outlier ekstrem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Imputasi apa yang Anda pilih untuk masing-masing, dan mengapa?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Boleh langsung KNNImputer </a:t>
            </a:r>
            <a:r>
              <a:rPr sz="1900" b="1">
                <a:solidFill>
                  <a:srgbClr val="102545"/>
                </a:solidFill>
              </a:rPr>
              <a:t>sebelum</a:t>
            </a:r>
            <a:r>
              <a:rPr sz="1900">
                <a:solidFill>
                  <a:srgbClr val="5A6372"/>
                </a:solidFill>
              </a:rPr>
              <a:t> scaling? Apa risikonya?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Diskusikan 2 menit - jawab di chat sebelum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Normalization</a:t>
            </a:r>
            <a:br/>
            <a:r>
              <a:t>vs Standardization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Dua teknik penskalaan, dua konsekuensi berbeda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Normalization - Min-Max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Mengubah skala ke rentang tetap, biasanya </a:t>
            </a:r>
            <a:r>
              <a:rPr sz="2200" b="1">
                <a:solidFill>
                  <a:srgbClr val="102545"/>
                </a:solidFill>
              </a:rPr>
              <a:t>[0, 1]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Rumus:  </a:t>
            </a:r>
            <a:r>
              <a:rPr sz="2200" b="1">
                <a:solidFill>
                  <a:srgbClr val="102545"/>
                </a:solidFill>
              </a:rPr>
              <a:t>x' = (x - min) / (max - min)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Menjaga bentuk distribusi</a:t>
            </a:r>
            <a:r>
              <a:rPr sz="2200">
                <a:solidFill>
                  <a:srgbClr val="1A1F2B"/>
                </a:solidFill>
              </a:rPr>
              <a:t> asli - hanya digeser dan dipampatkan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Sensitif pencilan</a:t>
            </a:r>
            <a:r>
              <a:rPr sz="2200">
                <a:solidFill>
                  <a:srgbClr val="1A1F2B"/>
                </a:solidFill>
              </a:rPr>
              <a:t> - satu Fare ekstrem memampatkan semua nilai lain ke rentang sempit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Standardization - Z-score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Di LKS hari ini: StandardScaler vs MinMaxScaler - pengaruhnya diukur, bukan diasumsikan.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Mengubah data agar punya </a:t>
            </a:r>
            <a:r>
              <a:rPr sz="2200" b="1">
                <a:solidFill>
                  <a:srgbClr val="102545"/>
                </a:solidFill>
              </a:rPr>
              <a:t>rata-rata 0</a:t>
            </a:r>
            <a:r>
              <a:rPr sz="2200">
                <a:solidFill>
                  <a:srgbClr val="1A1F2B"/>
                </a:solidFill>
              </a:rPr>
              <a:t> dan </a:t>
            </a:r>
            <a:r>
              <a:rPr sz="2200" b="1">
                <a:solidFill>
                  <a:srgbClr val="102545"/>
                </a:solidFill>
              </a:rPr>
              <a:t>simpangan baku 1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Rumus:  </a:t>
            </a:r>
            <a:r>
              <a:rPr sz="2200" b="1">
                <a:solidFill>
                  <a:srgbClr val="102545"/>
                </a:solidFill>
              </a:rPr>
              <a:t>z = (x - mu) / sigma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Tidak terikat rentang tertentu, relatif tahan outlier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Cocok untuk</a:t>
            </a:r>
            <a:r>
              <a:rPr sz="2200">
                <a:solidFill>
                  <a:srgbClr val="1A1F2B"/>
                </a:solidFill>
              </a:rPr>
              <a:t> model berbasis jarak &amp; gradien: </a:t>
            </a:r>
            <a:r>
              <a:rPr sz="2200" b="1">
                <a:solidFill>
                  <a:srgbClr val="102545"/>
                </a:solidFill>
              </a:rPr>
              <a:t>KNN, Logistic Regression, SVM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Min-Max vs Z-score - ringkasan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Tidak ada yang menang mutlak - yang ada kecocokan dengan algoritma dan sifat datanya.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3550920"/>
                <a:gridCol w="4438650"/>
              </a:tblGrid>
              <a:tr h="39867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Min-Max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Z-score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Rentang hasil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[0, 1] tetap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Tanpa batas tetap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Outlier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Sangat terpengaruh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Relatif tahan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Bentuk distribusi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Terjaga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Terstandarisasi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Umum dipakai 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Neural networks, citra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KNN, LogReg, SVM, PCA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B32D2D"/>
                </a:solidFill>
              </a:defRPr>
            </a:pPr>
            <a:r>
              <a:t>Model berbasis pohon praktis</a:t>
            </a:r>
            <a:br/>
            <a:r>
              <a:t>tidak membutuhkan penskalaan.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Decision Tree &amp; Random Forest memutuskan lewat ambang per fitur, bukan jarak - menskalakan tidak merugikan, tapi juga tidak menolong. Di rubrik modul, membandingkan dengan model pohon = poin bonus.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Uji cepat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Model Anda </a:t>
            </a:r>
            <a:r>
              <a:rPr sz="2200" b="1">
                <a:solidFill>
                  <a:srgbClr val="102545"/>
                </a:solidFill>
              </a:rPr>
              <a:t>Random Forest</a:t>
            </a:r>
            <a:r>
              <a:rPr sz="2200">
                <a:solidFill>
                  <a:srgbClr val="1A1F2B"/>
                </a:solidFill>
              </a:rPr>
              <a:t>, tapi Anda tetap men-standardisasi datanya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Apa yang terjadi pada hasilnya?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Jawabannya harus bisa Anda jelaskan - bukan cuma 'gapapa sih'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Pipeline &amp; eksperimen</a:t>
            </a:r>
            <a:br/>
            <a:r>
              <a:t>yang jujur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ColumnTransformer, grid 8 kombinasi, metrik F1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Kerangka: dua jalur dalam satu ColumnTransformer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52760" cy="3968496"/>
          </a:xfrm>
          <a:prstGeom prst="rect">
            <a:avLst/>
          </a:prstGeom>
          <a:solidFill>
            <a:srgbClr val="14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241280" cy="378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cat_prep = Pipeline([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('imputer', SimpleImputer(strategy='most_frequent')),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('ohe',     OneHotEncoder(handle_unknown='ignore'))])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num_block = Pipeline([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('imputer', SimpleImputer(strategy='median')),   # atau KNNImputer(5)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('scaler',  StandardScaler())])                  # atau MinMaxScaler()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prep = ColumnTransformer([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('num', num_block, num_cols),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('cat', cat_prep,  cat_cols)])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pipe = Pipeline([('prep', prep), ('model', model)])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77256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Numerik dan kategorikal jalan di jalur masing-masing; satu fit() untuk semuanya.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Kenapa fit-nya di data latih saja?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Cek notebook Anda: berapa yang masih menghitung scaler sebelum split?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Min/max, mu/sigma, kategori one-hot = </a:t>
            </a:r>
            <a:r>
              <a:rPr sz="2200" b="1">
                <a:solidFill>
                  <a:srgbClr val="102545"/>
                </a:solidFill>
              </a:rPr>
              <a:t>statistik yang dipelajari</a:t>
            </a:r>
            <a:r>
              <a:rPr sz="2200">
                <a:solidFill>
                  <a:srgbClr val="1A1F2B"/>
                </a:solidFill>
              </a:rPr>
              <a:t> - sama statusnya dengan bobot model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Kalau dihitung dari seluruh data: informasi data uji </a:t>
            </a:r>
            <a:r>
              <a:rPr sz="2200" b="1">
                <a:solidFill>
                  <a:srgbClr val="102545"/>
                </a:solidFill>
              </a:rPr>
              <a:t>bocor</a:t>
            </a:r>
            <a:r>
              <a:rPr sz="2200">
                <a:solidFill>
                  <a:srgbClr val="1A1F2B"/>
                </a:solidFill>
              </a:rPr>
              <a:t> ke pelatihan (kunci K4 modul)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Akurasi naik tipu-panjang di eksperimen, </a:t>
            </a:r>
            <a:r>
              <a:rPr sz="2200" b="1">
                <a:solidFill>
                  <a:srgbClr val="102545"/>
                </a:solidFill>
              </a:rPr>
              <a:t>runtuh</a:t>
            </a:r>
            <a:r>
              <a:rPr sz="2200">
                <a:solidFill>
                  <a:srgbClr val="1A1F2B"/>
                </a:solidFill>
              </a:rPr>
              <a:t> di data baru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Di Pipeline + ColumnTransformer, urutan &amp; pemisahan ini dijaga </a:t>
            </a:r>
            <a:r>
              <a:rPr sz="2200" b="1">
                <a:solidFill>
                  <a:srgbClr val="102545"/>
                </a:solidFill>
              </a:rPr>
              <a:t>otomatis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Eksperimen LKS: 8 kombinasi sekaligus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2 imputasi</a:t>
            </a:r>
            <a:r>
              <a:rPr sz="2200">
                <a:solidFill>
                  <a:srgbClr val="1A1F2B"/>
                </a:solidFill>
              </a:rPr>
              <a:t> numerik: median vs </a:t>
            </a:r>
            <a:r>
              <a:rPr sz="2200" b="1">
                <a:solidFill>
                  <a:srgbClr val="102545"/>
                </a:solidFill>
              </a:rPr>
              <a:t>KNNImputer</a:t>
            </a:r>
            <a:r>
              <a:rPr sz="2200">
                <a:solidFill>
                  <a:srgbClr val="1A1F2B"/>
                </a:solidFill>
              </a:rPr>
              <a:t>(k=5)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x 2 skala</a:t>
            </a:r>
            <a:r>
              <a:rPr sz="2200">
                <a:solidFill>
                  <a:srgbClr val="1A1F2B"/>
                </a:solidFill>
              </a:rPr>
              <a:t>: StandardScaler vs MinMaxScaler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x 2 model</a:t>
            </a:r>
            <a:r>
              <a:rPr sz="2200">
                <a:solidFill>
                  <a:srgbClr val="1A1F2B"/>
                </a:solidFill>
              </a:rPr>
              <a:t>: LogisticRegression vs KNN(k=5) = </a:t>
            </a:r>
            <a:r>
              <a:rPr sz="2200" b="1">
                <a:solidFill>
                  <a:srgbClr val="102545"/>
                </a:solidFill>
              </a:rPr>
              <a:t>8 pipeline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Validasi: </a:t>
            </a:r>
            <a:r>
              <a:rPr sz="2200" b="1">
                <a:solidFill>
                  <a:srgbClr val="102545"/>
                </a:solidFill>
              </a:rPr>
              <a:t>StratifiedKFold(5-fold)</a:t>
            </a:r>
            <a:r>
              <a:rPr sz="2200">
                <a:solidFill>
                  <a:srgbClr val="1A1F2B"/>
                </a:solidFill>
              </a:rPr>
              <a:t>, scoring = </a:t>
            </a:r>
            <a:r>
              <a:rPr sz="2200" b="1">
                <a:solidFill>
                  <a:srgbClr val="102545"/>
                </a:solidFill>
              </a:rPr>
              <a:t>f1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Rangking dari tabel hasil, lalu </a:t>
            </a:r>
            <a:r>
              <a:rPr sz="2200" b="1">
                <a:solidFill>
                  <a:srgbClr val="102545"/>
                </a:solidFill>
              </a:rPr>
              <a:t>fit final</a:t>
            </a:r>
            <a:r>
              <a:rPr sz="2200">
                <a:solidFill>
                  <a:srgbClr val="1A1F2B"/>
                </a:solidFill>
              </a:rPr>
              <a:t> pada kombinasi terbaik ke test set: classification_report + </a:t>
            </a:r>
            <a:r>
              <a:rPr sz="2200" b="1">
                <a:solidFill>
                  <a:srgbClr val="102545"/>
                </a:solidFill>
              </a:rPr>
              <a:t>confusion matrix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Kenapa F1, bukan accuracy?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Titanic tidak seimbang: hanya </a:t>
            </a:r>
            <a:r>
              <a:rPr sz="2200" b="1">
                <a:solidFill>
                  <a:srgbClr val="102545"/>
                </a:solidFill>
              </a:rPr>
              <a:t>~38%</a:t>
            </a:r>
            <a:r>
              <a:rPr sz="2200">
                <a:solidFill>
                  <a:srgbClr val="1A1F2B"/>
                </a:solidFill>
              </a:rPr>
              <a:t> penumpang selamat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Model bodoh 'semua tidak selamat' dapat accuracy </a:t>
            </a:r>
            <a:r>
              <a:rPr sz="2200" b="1">
                <a:solidFill>
                  <a:srgbClr val="102545"/>
                </a:solidFill>
              </a:rPr>
              <a:t>62%</a:t>
            </a:r>
            <a:r>
              <a:rPr sz="2200">
                <a:solidFill>
                  <a:srgbClr val="1A1F2B"/>
                </a:solidFill>
              </a:rPr>
              <a:t> - tanpa menyelamatkan siapa pun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F1</a:t>
            </a:r>
            <a:r>
              <a:rPr sz="2200">
                <a:solidFill>
                  <a:srgbClr val="1A1F2B"/>
                </a:solidFill>
              </a:rPr>
              <a:t> = harmonic mean precision &amp; recall - menyeimbangkan dua arah kesalahan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Tahan dominasi kelas mayoritas - itulah kenapa LKS menskor dengan f1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STUDIO · 60 MENIT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LKS Titanic</a:t>
            </a:r>
            <a:br/>
            <a:r>
              <a:t>di Google Colab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LKS_Pertemuan_2_NA_Scaling.ipynb - di Drive, siap jalan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Langkah kerja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Buka LKS dari Drive </a:t>
            </a:r>
            <a:r>
              <a:rPr sz="2200" b="1">
                <a:solidFill>
                  <a:srgbClr val="102545"/>
                </a:solidFill>
              </a:rPr>
              <a:t>pertemuan 2</a:t>
            </a:r>
            <a:r>
              <a:rPr sz="2200">
                <a:solidFill>
                  <a:srgbClr val="1A1F2B"/>
                </a:solidFill>
              </a:rPr>
              <a:t> - jalan di Colab, dataset Titanic ter-unduh otomatis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EDA: proporsi missing per kolom, urutkan tertinggi; histogram fitur numerik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Split </a:t>
            </a:r>
            <a:r>
              <a:rPr sz="2200" b="1">
                <a:solidFill>
                  <a:srgbClr val="102545"/>
                </a:solidFill>
              </a:rPr>
              <a:t>train/test 80/20, stratify, random_state=42</a:t>
            </a:r>
            <a:r>
              <a:rPr sz="2200">
                <a:solidFill>
                  <a:srgbClr val="1A1F2B"/>
                </a:solidFill>
              </a:rPr>
              <a:t> - cek num_cols vs cat_cols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Jalankan grid 8 kombinasi - baca tabel F1 yang diurutkan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Fit final kombinasi terbaik: classification_report + confusion matrix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Baseline </a:t>
            </a:r>
            <a:r>
              <a:rPr sz="2200" b="1">
                <a:solidFill>
                  <a:srgbClr val="102545"/>
                </a:solidFill>
              </a:rPr>
              <a:t>drop-rows</a:t>
            </a:r>
            <a:r>
              <a:rPr sz="2200">
                <a:solidFill>
                  <a:srgbClr val="1A1F2B"/>
                </a:solidFill>
              </a:rPr>
              <a:t>: berapa F1 yang hilang karena baris dibuang?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Kerjakan berpasangan · exit-ticket di akhir notebook, kirim ke forum sebelum keluar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Deliverables LKS - cara dinilai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Notebook rapi: Pendahuluan, EDA, Strategi NA &amp; Skala, Eksperimen, Evaluasi, Insight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Tabel komparatif </a:t>
            </a:r>
            <a:r>
              <a:rPr sz="2200" b="1">
                <a:solidFill>
                  <a:srgbClr val="102545"/>
                </a:solidFill>
              </a:rPr>
              <a:t>minimal 8 kombinasi</a:t>
            </a:r>
            <a:r>
              <a:rPr sz="2200">
                <a:solidFill>
                  <a:srgbClr val="1A1F2B"/>
                </a:solidFill>
              </a:rPr>
              <a:t> + </a:t>
            </a:r>
            <a:r>
              <a:rPr sz="2200" b="1">
                <a:solidFill>
                  <a:srgbClr val="102545"/>
                </a:solidFill>
              </a:rPr>
              <a:t>3 visualisasi</a:t>
            </a:r>
            <a:r>
              <a:rPr sz="2200">
                <a:solidFill>
                  <a:srgbClr val="1A1F2B"/>
                </a:solidFill>
              </a:rPr>
              <a:t> (histogram, confusion matrix, bar chart F1)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Ringkasan </a:t>
            </a:r>
            <a:r>
              <a:rPr sz="2200" b="1">
                <a:solidFill>
                  <a:srgbClr val="102545"/>
                </a:solidFill>
              </a:rPr>
              <a:t>150-250 kata</a:t>
            </a:r>
            <a:r>
              <a:rPr sz="2200">
                <a:solidFill>
                  <a:srgbClr val="1A1F2B"/>
                </a:solidFill>
              </a:rPr>
              <a:t>: strategi paling berpengaruh + alasan + risiko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Penamaan: </a:t>
            </a:r>
            <a:r>
              <a:rPr sz="2200" b="1">
                <a:solidFill>
                  <a:srgbClr val="102545"/>
                </a:solidFill>
              </a:rPr>
              <a:t>NIM_Nama_P2_NA_Scaling.ipynb</a:t>
            </a:r>
            <a:r>
              <a:rPr sz="2200">
                <a:solidFill>
                  <a:srgbClr val="1A1F2B"/>
                </a:solidFill>
              </a:rPr>
              <a:t> + folder outputs/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Rubrik: EDA 15 · Pipeline &amp; reproduksibilitas 25 · Eksperimen &amp; evaluasi 30 · Analisis &amp; insight 20 · Kerapian 10 · </a:t>
            </a:r>
            <a:r>
              <a:rPr sz="2200" b="1">
                <a:solidFill>
                  <a:srgbClr val="102545"/>
                </a:solidFill>
              </a:rPr>
              <a:t>Bonus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Poin kunci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Missing dibiarkan = </a:t>
            </a:r>
            <a:r>
              <a:rPr sz="2200" b="1">
                <a:solidFill>
                  <a:srgbClr val="102545"/>
                </a:solidFill>
              </a:rPr>
              <a:t>distorsi</a:t>
            </a:r>
            <a:r>
              <a:rPr sz="2200">
                <a:solidFill>
                  <a:srgbClr val="1A1F2B"/>
                </a:solidFill>
              </a:rPr>
              <a:t> estimasi + baris yang hilang saat training/inferensi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StandardScaler</a:t>
            </a:r>
            <a:r>
              <a:rPr sz="2200">
                <a:solidFill>
                  <a:srgbClr val="1A1F2B"/>
                </a:solidFill>
              </a:rPr>
              <a:t> untuk model jarak/gradien &amp; data mendekati Gaussian; </a:t>
            </a:r>
            <a:r>
              <a:rPr sz="2200" b="1">
                <a:solidFill>
                  <a:srgbClr val="102545"/>
                </a:solidFill>
              </a:rPr>
              <a:t>MinMax</a:t>
            </a:r>
            <a:r>
              <a:rPr sz="2200">
                <a:solidFill>
                  <a:srgbClr val="1A1F2B"/>
                </a:solidFill>
              </a:rPr>
              <a:t> menjaga bentuk distribusi tapi peka pencilan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KNNImputer</a:t>
            </a:r>
            <a:r>
              <a:rPr sz="2200">
                <a:solidFill>
                  <a:srgbClr val="1A1F2B"/>
                </a:solidFill>
              </a:rPr>
              <a:t> kontekstual tapi peka skala &amp; outlier - scaling adalah prasyaratnya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fit() scaler &amp; encoder </a:t>
            </a:r>
            <a:r>
              <a:rPr sz="2200" b="1">
                <a:solidFill>
                  <a:srgbClr val="102545"/>
                </a:solidFill>
              </a:rPr>
              <a:t>hanya pada data latih</a:t>
            </a:r>
            <a:r>
              <a:rPr sz="2200">
                <a:solidFill>
                  <a:srgbClr val="1A1F2B"/>
                </a:solidFill>
              </a:rPr>
              <a:t>, di dalam Pipeline - selalu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Kelas tidak seimbang → laporkan </a:t>
            </a:r>
            <a:r>
              <a:rPr sz="2200" b="1">
                <a:solidFill>
                  <a:srgbClr val="102545"/>
                </a:solidFill>
              </a:rPr>
              <a:t>F1</a:t>
            </a:r>
            <a:r>
              <a:rPr sz="2200">
                <a:solidFill>
                  <a:srgbClr val="1A1F2B"/>
                </a:solidFill>
              </a:rPr>
              <a:t>, bukan hanya accuracy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Uji pemahaman mandiri (kuis modul)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Lima pertanyaan ini persis dari modul; kunci jawaban singkat ada di halaman materi P2 di eBelajar.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Apa </a:t>
            </a:r>
            <a:r>
              <a:rPr sz="2200" b="1">
                <a:solidFill>
                  <a:srgbClr val="102545"/>
                </a:solidFill>
              </a:rPr>
              <a:t>dua risiko utama</a:t>
            </a:r>
            <a:r>
              <a:rPr sz="2200">
                <a:solidFill>
                  <a:srgbClr val="1A1F2B"/>
                </a:solidFill>
              </a:rPr>
              <a:t> jika missing values dibiarkan?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Kapan StandardScaler lebih tepat daripada MinMaxScaler?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Kapan </a:t>
            </a:r>
            <a:r>
              <a:rPr sz="2200" b="1">
                <a:solidFill>
                  <a:srgbClr val="102545"/>
                </a:solidFill>
              </a:rPr>
              <a:t>KNNImputer</a:t>
            </a:r>
            <a:r>
              <a:rPr sz="2200">
                <a:solidFill>
                  <a:srgbClr val="1A1F2B"/>
                </a:solidFill>
              </a:rPr>
              <a:t> unggul, kapan justru tidak cocok?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Beri contoh </a:t>
            </a:r>
            <a:r>
              <a:rPr sz="2200" b="1">
                <a:solidFill>
                  <a:srgbClr val="102545"/>
                </a:solidFill>
              </a:rPr>
              <a:t>data leakage</a:t>
            </a:r>
            <a:r>
              <a:rPr sz="2200">
                <a:solidFill>
                  <a:srgbClr val="1A1F2B"/>
                </a:solidFill>
              </a:rPr>
              <a:t> pada skenario scaling - dan cara mencegahnya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Mengapa </a:t>
            </a:r>
            <a:r>
              <a:rPr sz="2200" b="1">
                <a:solidFill>
                  <a:srgbClr val="102545"/>
                </a:solidFill>
              </a:rPr>
              <a:t>F1</a:t>
            </a:r>
            <a:r>
              <a:rPr sz="2200">
                <a:solidFill>
                  <a:srgbClr val="1A1F2B"/>
                </a:solidFill>
              </a:rPr>
              <a:t> sering lebih informatif daripada accuracy?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Tugas 1 - tenggat Minggu 27 Sep, 23.55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Materi P1 + P2 = </a:t>
            </a:r>
            <a:r>
              <a:rPr sz="2200" b="1">
                <a:solidFill>
                  <a:srgbClr val="102545"/>
                </a:solidFill>
              </a:rPr>
              <a:t>bahan langsungnya</a:t>
            </a:r>
            <a:r>
              <a:rPr sz="2200">
                <a:solidFill>
                  <a:srgbClr val="1A1F2B"/>
                </a:solidFill>
              </a:rPr>
              <a:t> - tidak ada materi baru yang diperlukan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Panduan langkah &amp; rubrik 100 poin: </a:t>
            </a:r>
            <a:r>
              <a:rPr sz="2200" b="1">
                <a:solidFill>
                  <a:srgbClr val="102545"/>
                </a:solidFill>
              </a:rPr>
              <a:t>Modul Mandiri Pertemuan 1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Syarat wajib: </a:t>
            </a:r>
            <a:r>
              <a:rPr sz="2200" b="1">
                <a:solidFill>
                  <a:srgbClr val="102545"/>
                </a:solidFill>
              </a:rPr>
              <a:t>reproducible</a:t>
            </a:r>
            <a:r>
              <a:rPr sz="2200">
                <a:solidFill>
                  <a:srgbClr val="1A1F2B"/>
                </a:solidFill>
              </a:rPr>
              <a:t> · bebas </a:t>
            </a:r>
            <a:r>
              <a:rPr sz="2200" b="1">
                <a:solidFill>
                  <a:srgbClr val="102545"/>
                </a:solidFill>
              </a:rPr>
              <a:t>leakage</a:t>
            </a:r>
            <a:r>
              <a:rPr sz="2200">
                <a:solidFill>
                  <a:srgbClr val="1A1F2B"/>
                </a:solidFill>
              </a:rPr>
              <a:t> · </a:t>
            </a:r>
            <a:r>
              <a:rPr sz="2200" b="1">
                <a:solidFill>
                  <a:srgbClr val="102545"/>
                </a:solidFill>
              </a:rPr>
              <a:t>disclosure AI</a:t>
            </a:r>
            <a:r>
              <a:rPr sz="2200">
                <a:solidFill>
                  <a:srgbClr val="1A1F2B"/>
                </a:solidFill>
              </a:rPr>
              <a:t> jujur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Yang sudah mengumpulkan lebih awal: feedback tercatat di eBelajar - cek komentar di submission Anda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Exit-ticket - sebelum keluar ruangan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Buka </a:t>
            </a:r>
            <a:r>
              <a:rPr sz="2200" b="1">
                <a:solidFill>
                  <a:srgbClr val="102545"/>
                </a:solidFill>
              </a:rPr>
              <a:t>forum Pertemuan 2</a:t>
            </a:r>
            <a:r>
              <a:rPr sz="2200">
                <a:solidFill>
                  <a:srgbClr val="1A1F2B"/>
                </a:solidFill>
              </a:rPr>
              <a:t> di eBelajar, posting jawaban Anda: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Kombinasi NA &amp; skala </a:t>
            </a:r>
            <a:r>
              <a:rPr sz="1900" b="1">
                <a:solidFill>
                  <a:srgbClr val="102545"/>
                </a:solidFill>
              </a:rPr>
              <a:t>terbaik</a:t>
            </a:r>
            <a:r>
              <a:rPr sz="1900">
                <a:solidFill>
                  <a:srgbClr val="5A6372"/>
                </a:solidFill>
              </a:rPr>
              <a:t> Anda, dan </a:t>
            </a:r>
            <a:r>
              <a:rPr sz="1900" b="1">
                <a:solidFill>
                  <a:srgbClr val="102545"/>
                </a:solidFill>
              </a:rPr>
              <a:t>mengapa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Satu hal yang masih </a:t>
            </a:r>
            <a:r>
              <a:rPr sz="1900" b="1">
                <a:solidFill>
                  <a:srgbClr val="102545"/>
                </a:solidFill>
              </a:rPr>
              <a:t>mengganjal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Rencana eksperimen susulan minggu depan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Posting dinilai &amp; dijawab minggu ini - lihat slide laporan di atas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Pertemuan 3: encoding &amp; feature thinking</a:t>
            </a:r>
            <a:r>
              <a:rPr sz="2200">
                <a:solidFill>
                  <a:srgbClr val="1A1F2B"/>
                </a:solidFill>
              </a:rPr>
              <a:t> - bawa pertanyaan Cabin Anda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Tautan cepat - klik langsung dari slide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Salindia ini tersimpan di Google Drive; semua tautan aktif saat dibuka di PowerPoint atau Google Slides.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7899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2"/>
              </a:rPr>
              <a:t>Kursus Pembelajaran Mesin A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3"/>
              </a:rPr>
              <a:t>Materi P2 - Normalization vs Standardization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4"/>
              </a:rPr>
              <a:t>Forum Pertemuan 2 (exit-ticket)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5"/>
              </a:rPr>
              <a:t>Tugas 1 - Praktek Preprocessing Data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6"/>
              </a:rPr>
              <a:t>Modul Mandiri P1 (panduan + rubrik Tugas 1)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7"/>
              </a:rPr>
              <a:t>Folder Drive Pertemuan 2 (modul, LKS, slide, video)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8"/>
              </a:rPr>
              <a:t>Modul Mandiri P2 (PDF)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9"/>
              </a:rPr>
              <a:t>LKS Titanic - NA &amp; Scaling (Colab)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10"/>
              </a:rPr>
              <a:t>Video: Rahasia Data Berantakan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11"/>
              </a:rPr>
              <a:t>Video: Dokter Data - Imputasi &amp; Scaling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12"/>
              </a:rPr>
              <a:t>Bahan Pertemuan 1 di Google Drive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13"/>
              </a:rPr>
              <a:t>Forum Diskusi Umum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